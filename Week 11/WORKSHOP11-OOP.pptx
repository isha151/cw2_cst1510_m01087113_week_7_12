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9" r:id="rId4"/>
    <p:sldId id="283" r:id="rId5"/>
    <p:sldId id="304" r:id="rId6"/>
    <p:sldId id="312" r:id="rId7"/>
    <p:sldId id="286" r:id="rId8"/>
    <p:sldId id="287" r:id="rId9"/>
    <p:sldId id="288" r:id="rId10"/>
    <p:sldId id="289" r:id="rId11"/>
    <p:sldId id="290" r:id="rId12"/>
    <p:sldId id="291" r:id="rId13"/>
    <p:sldId id="292" r:id="rId14"/>
    <p:sldId id="293" r:id="rId15"/>
    <p:sldId id="294" r:id="rId16"/>
    <p:sldId id="314" r:id="rId17"/>
    <p:sldId id="327" r:id="rId18"/>
    <p:sldId id="328" r:id="rId19"/>
    <p:sldId id="329" r:id="rId20"/>
    <p:sldId id="331" r:id="rId21"/>
    <p:sldId id="306" r:id="rId22"/>
    <p:sldId id="335" r:id="rId23"/>
    <p:sldId id="337" r:id="rId24"/>
    <p:sldId id="318" r:id="rId25"/>
    <p:sldId id="313" r:id="rId26"/>
    <p:sldId id="268" r:id="rId27"/>
    <p:sldId id="269" r:id="rId28"/>
    <p:sldId id="270" r:id="rId29"/>
    <p:sldId id="271" r:id="rId30"/>
    <p:sldId id="272" r:id="rId31"/>
    <p:sldId id="273" r:id="rId32"/>
    <p:sldId id="28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6F4"/>
    <a:srgbClr val="EDEDED"/>
    <a:srgbClr val="F5F5F5"/>
    <a:srgbClr val="0055FF"/>
    <a:srgbClr val="008281"/>
    <a:srgbClr val="C300B8"/>
    <a:srgbClr val="9E4F90"/>
    <a:srgbClr val="0C00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83710"/>
  </p:normalViewPr>
  <p:slideViewPr>
    <p:cSldViewPr snapToGrid="0" snapToObjects="1">
      <p:cViewPr varScale="1">
        <p:scale>
          <a:sx n="88" d="100"/>
          <a:sy n="88" d="100"/>
        </p:scale>
        <p:origin x="3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19.927"/>
    </inkml:context>
    <inkml:brush xml:id="br0">
      <inkml:brushProperty name="width" value="0.05" units="cm"/>
      <inkml:brushProperty name="height" value="0.05" units="cm"/>
      <inkml:brushProperty name="color" value="#E71224"/>
    </inkml:brush>
  </inkml:definitions>
  <inkml:trace contextRef="#ctx0" brushRef="#br0">197 696 24575,'0'60'0,"0"0"0,-7-2 0,-1 3 0,2 27 0,1 6-2714,-3 0 1,-1 1 2713,1-28 0,-1 1 0,2 0 0,5 0 0,1-1 0,0-1-85,-7 23 0,0 6 85,4-9 0,2 11 0,0 2 0,0-8 0,-2-2 0,0-6 0,1 7-447,0-12 0,1 6 1,-1 3-1,1-4 1,0-7 446,-2 7 0,1-7 0,1-5 0,2 11 0,0-4-421,-4 0 1,1-4 420,2-21 0,0-2 847,-2 6 1,-1-1-848,-1 38 0,3-15 1204,-3-23-1204,0-9 4035,4 11-4035,-8-26 1334,8 19-1334,-3-25 403,-1 0-403,4-1 0,-3-5 0,0-1 0,3 0 0,-4-4 0,5 3 0,0-8 0,0 8 0,0-3 0,0 4 0,0 6 0,0 1 0,0 6 0,0 0 0,0 0 0,0 0 0,0 6 0,0-5 0,0 12 0,0-12 0,0 6 0,0-7 0,0 6 0,0 2 0,5 0 0,2 11 0,4-9 0,1 19 0,1-6 0,-1 8 0,1 7 0,-4-20 0,1 1 0,4 36 0,-5-32 0,1-1 0,9 18 0,-4 7 0,9-7 0,-9 1 0,9-2 0,-9-1 0,7-13 0,-7 12 0,6-21 0,-7 6 0,2-8 0,0-6 0,-3 4 0,2-10 0,-4 4 0,0-6 0,0 0 0,-1 0 0,1 0 0,-1-1 0,1-4 0,4 17 0,-4-14 0,5 16 0,-6-14 0,1 6 0,5-4 0,1 4 0,-1-6 0,4 0 0,-4-6 0,5 4 0,13 6 0,-10-7 0,16 6 0,-18-10 0,8-3 0,-2 4 0,3-4 0,1-1 0,0 0 0,6 1 0,2-5 0,6 5 0,1-4 0,6 6 0,2 0 0,34 10-585,-11-5 585,-29-12 0,1 1 0,40 16 0,-29-17 0,8 7 0,-23-6 0,2 2 0,13 10 0,11 2-467,-26-11 0,2 1 467,7 1 0,3 1 0,3 6 0,0-1 0,0-4 0,1-2 0,4 4 0,0 0 0,-2-3 0,-3-2 0,-8-3 0,0 0 0,6 3 0,-2-1 0,29 8 0,-36-10 0,2-2 0,-3-5 0,0-2 514,34 10-514,6-7 0,-16 0 0,5 1 0,-14-7 0,6-1 0,1-6 0,-7 0 0,7 0 960,-9 0-960,1 0 45,-1 0-45,-7 0 0,6 0 0,-13 0 0,5 5 0,1-4 0,-7 4 0,14-5 0,-13 0 0,13 0 0,2 0 0,18 0 0,-13 0 0,18 0 0,-21 0 0,16 0 0,8 0-323,-38-3 1,0-1 322,43-3 0,-40 3 0,0-1 0,38-7 0,-43 11 0,2 0 0,4-5 0,1-1 0,0 6 0,1 0 0,3-2 0,2 0 0,-3-1 0,4 1 0,30-1 0,2-1 0,-26-2 0,0-1-709,26 0 0,-2 1 709,-30-1 0,-3 0 0,2 1 0,-1-1-456,34-6 456,-41 10 0,-1 0 0,30-8 0,9 10 0,-2-4 0,-10 6 0,-7 0 0,-2 0 0,-9 0 583,1 0-583,-8 0 1428,6-6-1428,-13 5 508,12-5-508,-12 6 0,13-5 0,-13 3 0,5-3 0,1 5 0,-7 0 0,14 0 0,-6-6 0,1 5 0,4-10 0,-4 9 0,6-9 0,-6 10 0,32-10 0,-26 4 0,29 0 0,-12-5 0,-4 10 0,14-4 0,-8 0 0,-8 4 0,-19-1 0,0 0 0,10 3 0,-11 0 0,0 0 0,13 0 0,14 0 0,-7 0 0,-3 0 0,-15 0 0,-1 0 0,-8 0 0,-7 0 0,-1 0 0,5 0 0,22 0 0,-17 0 0,5 0-624,8 0 0,4 0 624,7 0 0,2 0-853,5 0 1,0 0 852,-4 0 0,0 0 0,-3 0 0,3 0 0,14 0 0,3 0-1310,-3 0 0,4 0 1310,-19 0 0,4 0 0,-1 0 0,0 1 0,-1-1 0,0-1 0,-3 0 0,-1-2 0,0-1-372,-3-1 0,-1 0 0,-5-2 372,7-1 0,-4-1 0,5-7 0,-4 1 585,19 0-585,-35 4 0,0 1 0,30-4 1399,-17 7-1399,-17 1 2771,-9 6-2771,-6 0 1502,0 0-1502,-6 0 432,4 0-432,-3 0 0,4 0 0,8 0 0,-6-4 0,5-2 0,-6 0 0,6-4 0,2 4 0,0-10 0,5 3 0,-6-8 0,28-2 0,-16 4 0,16-3 0,-21 10 0,0-4 0,-6 3 0,-2-3 0,1 5 0,-6 0 0,5-4 0,1 2 0,-6-7 0,12 2 0,-5 1 0,-1-4 0,6 4 0,-5-6 0,6 0 0,-6 1 0,5-1 0,-4-6 0,8-2 0,-6-5 0,5-1 0,-5-5 0,2-3 0,-8 0 0,1-3 0,16-29-410,-13 20 0,-1-1 410,9-25 0,-21 40 0,0 1 0,0 0 0,0 0 0,2-6 0,1 1 0,4 2 0,1 1 0,-6-4 0,0 0 0,6 0 0,1 1 0,-4 3 0,0-1 0,5-8 0,0 1 0,-5 8 0,0-1 0,2-7 0,-2-1 0,16-25 0,-24 33 0,-1 0 0,16-36 0,1-2 0,-6-6 0,-1 0 0,-13 6 0,-1-7-355,-6 10 355,-7-1 0,-1-18 0,-6 29 0,0-26 0,0 31 0,0-16 0,-11 9 0,-11-16 0,-4 29 0,-20-21 0,4 13 0,3 14 0,-6-17 0,15 21 0,-8-13 0,14 17 0,0 0 0,-4-16 0,3 8 0,2 1 0,7-7 0,-16-29 0,11 15 0,4 24 0,-1-1 0,-9-20 0,9 23 0,1-1 0,-17-36 0,7 20 0,4 15 0,-2 1 0,-7-3 0,-1 0 0,0-1 0,-8-6 0,-13-17 0,0 0 0,13 23 0,-10-10 0,0 0 0,10 10 0,-20-10 0,10 5 0,6 7 0,4 7 0,-2-5 0,5 4 805,-5-6-805,6 0 370,-6 0-370,-2 0 0,-5 0 0,-10-16 0,15 19 0,-19-12 0,12 16 0,-11 3 0,-2 1 0,3 3 0,-9 9 0,7-4 0,-15 4 0,6 1 0,-7 5-226,30 7 1,1 1 225,-21-1 0,-26-7 0,31 8 0,-16 0-45,9 0 45,-6 0 0,13 0 0,-5 0 0,8 1 0,0-1 0,-1 1 450,0-1-450,1 1 46,0-1-46,-1 1 0,1-1 0,-29-5 0,14 10 0,-16-9 0,15 16 0,5-5 0,-25 0 0,28 4 0,-25-5 0,38 7 0,-14 0 0,16 0 0,8-5 0,14 0 0,13-1 0,0 2 0,-31 4 0,-25-14 0,25 4 0,-2-2-546,-7-3 0,0-2 546,5-4 0,-3-1-1499,-30-5 0,-8-1 1499,30 4 0,0-1 0,-1 0 0,-2 2 0,0 1 0,-3-1 0,-9-5 0,-4-2 0,3 2 0,13 6 0,2 1 0,-3-1-962,-15-4 0,-3-2 0,1 2 962,5 2 0,0 1 0,2 1 0,2-1 0,1 0 0,1 2-651,5 4 0,0 2 0,1 0 651,2 0 0,1 0 0,2 0-323,-24-3 0,2 2 323,-6 2 0,4 0 0,33 3 0,0 0 0,-39 2 0,5 1 1233,16-5-1233,-18 0 0,0 1 0,25 3 0,-8-3 0,1 1 2220,10 10-2220,-4-7 0,1 1 0,10 6 0,5-3 0,-1 0 0,-13 4 0,-32 0 0,28 0 0,-24 0 0,28 0 0,-13 0 0,-2 0 0,9 0 0,-7 6 0,6-4 0,-7 4 0,7-6 0,-6 0 2427,15 0-2427,-7 0 1996,1 0-1996,5 0 1179,2 0-1179,2 0 520,13 0-520,-5 0 0,13 0 0,2 0 0,11 0 0,3 4 0,4 1 0,1 5 0,4-1 0,2-3 0,4 1 0,4-2 0,-3 4 0,-1-4 0,-1 3 0,-4-7 0,6 3 0,-1-4 0,-5 0 0,5 0 0,-66 0 0,-10 0-1213,10 9 0,-7 4 1213,-4 1 0,-1 2 0,-6 10 0,-2 2 0,29-12 0,-2-2 0,2 2 0,-28 10 0,1-1 0,5-6 0,2-1 0,3 2 0,-3 2 0,17-7 0,-4 0 0,0 1-1023,-1 0 0,0 0 0,-2 1 1023,-10 0 0,-2 0 0,0 0 0,6 0 0,1 0 0,2-3 0,10-3 0,1-2 0,1 0-539,-35 5 0,6-1 539,34-5 0,1-1 0,-35 2 0,6-1 0,17 0-341,-8 0 0,0-1 341,2-5 0,29 2 0,-1-1 0,-39-3 1699,18 0-1699,1 0 3057,16 0-3057,1 0 1393,8 0-1393,0 0 998,6 0-998,2 0 108,6 0-108,0 0 0,-6 0 0,4 0 0,2 0 0,1-5 0,-1 4 0,-2-4 0,-11 5 0,12 0 0,-12 0 0,5 0 0,1 0 0,-6 0 0,5 0 0,0 0 0,-4 0 0,10 0 0,2 0 0,7 0 0,0 0 0,4 0 0,-4 0 0,0-5 0,4 4 0,-4-3 0,6 4 0,4 0 0,-3 0 0,8 0 0,-3 0 0,8 3 0,2 2 0,3 3 0,0 0 0,0 0 0,0 0 0,0 1 0,3-4 0,2-2 0,3-3 0,1 0 0,-1-4 0,-3 3 0,-1-2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28.470"/>
    </inkml:context>
    <inkml:brush xml:id="br0">
      <inkml:brushProperty name="width" value="0.05" units="cm"/>
      <inkml:brushProperty name="height" value="0.05" units="cm"/>
      <inkml:brushProperty name="color" value="#E71224"/>
    </inkml:brush>
  </inkml:definitions>
  <inkml:trace contextRef="#ctx0" brushRef="#br0">0 125 24575,'25'0'0,"11"0"0,28 0 0,8 0 0,9 0 0,-8 6 0,-3 1 0,19 7-898,-2-1 898,-37-8 0,1-1 0,39 2 221,-25-6-221,-3 0 0,-16 0 0,-6 0 0,-8 0 0,-1 0 677,-10 0-677,3 0 0,-4 0 0,-1 4 0,1-3 0,-1 4 0,-4-5 0,7 0 0,-7 0 0,4 0 0,-6 0 0,1 0 0,-4 0 0,8 0 0,-4 0 0,6 0 0,-1 0 0,0 0 0,1 0 0,-1 0 0,1 0 0,4 0 0,-3 0 0,4 0 0,-6 0 0,-4 0 0,3 0 0,-3 0 0,4 0 0,1 0 0,-6 0 0,4-5 0,-3 4 0,13-7 0,2 7 0,0-8 0,-2 8 0,-8-3 0,-6 4 0,4 0 0,-3 0 0,4 0 0,1 0 0,-1 0 0,-4 0 0,3 0 0,-4 0 0,6 0 0,-6 0 0,5 0 0,-5 0 0,1 0 0,3 0 0,-3 0 0,4 0 0,0 0 0,1 0 0,5 0 0,-5 0 0,5 0 0,-5 0 0,-1 0 0,6 0 0,-4 0 0,-1 0 0,-2 0 0,-3 0 0,4 0 0,-4 0 0,3 0 0,-8 0 0,3 0 0,-4 0 0,0 0 0,3 0 0,21 0 0,17 0 0,22 0 0,9 0 0,-27-1 0,2 2-419,3 2 0,-1 1 419,-3 0 0,-1-1 0,6 1 0,-3 1 0,26 7-256,9-10 256,-11 4 0,-10-6 0,-16 0 0,-8 0 0,-2 0 0,-12 0 827,0 0-827,-3 0 267,-3 0-267,-1 0 0,4 0 0,-3 0 0,5 0 0,-6 0 0,4 0 0,-9 0 0,10-5 0,-11 4 0,5-4 0,-5 1 0,5 3 0,-5-8 0,5 8 0,-6-7 0,6 7 0,-4-8 0,4 8 0,-6-8 0,1 8 0,-1-3 0,0 4 0,1-4 0,-1 3 0,1-4 0,-1 5 0,6 0 0,-5 0 0,11 0 0,9 0 0,-4 0 0,16 0 0,-19 0 0,6 0 0,-1 0 0,-5 0 0,6 0 0,-7 0 0,-6 0 0,13 0 0,-21 0 0,33 0 0,-5 0 0,27 0 0,17 0-1184,1 0 1184,-26 0 0,3 0 0,1 0 0,2 0 0,10 0 0,-2 0 0,-13 0 0,-3 0 0,2 0 0,-2 0-511,31 0 511,-42-2 0,-2-2 0,31-3 0,-17-5 0,-18 0 0,-13 2 0,-8 4 1153,-10 1-1153,-2 2 542,-4 2-542,0-3 0,-1 4 0,5 0 0,1 0 0,5 0 0,-4 0 0,3 0 0,-4-5 0,6 4 0,5-3 0,-5 4 0,5 0 0,-5 0 0,5 0 0,-5 0 0,11 0 0,-5 0 0,0 0 0,5 0 0,-5 0 0,6 0 0,0 0 0,0 0 0,-1 0 0,1 0 0,-5 0 0,3 0 0,-9-4 0,9 3 0,-3-4 0,8 5 0,-3 0 0,-3 0 0,2 0 0,-10 0 0,9 0 0,-4 0 0,6 0 0,0 0 0,0 0 0,0 0 0,0 0 0,0 0 0,6 0 0,-5 0 0,0 0 0,-2 0 0,-5 0 0,0 0 0,4-4 0,-9 2 0,4-2 0,-5-1 0,-1 4 0,0-7 0,-4 7 0,3-8 0,-3 8 0,10-3 0,-5-1 0,5 4 0,-5-3 0,-1 4 0,6 0 0,-4 0 0,4 0 0,-6 0 0,0 0 0,1 0 0,-1 0 0,15 0 0,-6 0 0,7 0 0,-5 0 0,-3 0 0,5 0 0,-1 0 0,1 0 0,0 0 0,-6 0 0,-1 0 0,0 0 0,-4 0 0,4 0 0,-10 0 0,3 0 0,-4 0 0,6 0 0,-6 0 0,5 0 0,-10 0 0,10 0 0,-9 0 0,3 0 0,4 0 0,-6 0 0,7 0 0,-10 0 0,6 0 0,-4 0 0,3 0 0,-4 0 0,0 0 0,-1 0 0,1 4 0,0-3 0,0 3 0,-1-4 0,1 4 0,0-3 0,0 2 0,-1-3 0,-3 0 0,-2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32.960"/>
    </inkml:context>
    <inkml:brush xml:id="br0">
      <inkml:brushProperty name="width" value="0.05" units="cm"/>
      <inkml:brushProperty name="height" value="0.05" units="cm"/>
      <inkml:brushProperty name="color" value="#E71224"/>
    </inkml:brush>
  </inkml:definitions>
  <inkml:trace contextRef="#ctx0" brushRef="#br0">1 193 24575,'49'0'0,"6"0"0,34 0-779,-33 0 0,1 0 779,39 0 0,-36 0 0,-1 0 0,-7 0 0,-2 0 0,44 0 278,5 0-278,-33 0 0,3 0 312,-28 0-312,5 0 0,-14 0 0,-1 0 787,1 0-787,0 0 181,0 0-181,0-5 0,0 4 0,-6-4 0,4 5 0,-9 0 0,4-4 0,-10 3 0,3-3 0,-8 4 0,3 0 0,-4 0 0,0 0 0,4 0 0,-3 0 0,8 0 0,-8 0 0,8 0 0,-3 0 0,4 0 0,1 0 0,-1 0 0,1 0 0,-6 0 0,4 0 0,-8 0 0,8 0 0,-8 0 0,9 0 0,-9 0 0,8-5 0,-4 4 0,6-3 0,-1 4 0,6-5 0,1 4 0,1-8 0,3 8 0,-4-3 0,1-1 0,3 4 0,-9-7 0,9 7 0,-9-4 0,4 5 0,-6 0 0,1 0 0,-1-4 0,0 3 0,1-3 0,-1 4 0,0 0 0,1 0 0,-1 0 0,4-4 0,-7 3 0,1-3 0,-8 4 0,10 0 0,24 0 0,16 0 0,22 0 0,-27 0 0,1 0-240,-1 0 0,-1 0 240,0 0 0,1 0 0,0 0 0,-2 0 0,23 0-64,6 0 64,-17 0 0,-11 0 0,-19 0 0,3 0 0,-16 0 479,4 0-479,-6 0 65,6 0-65,-4 0 0,9 0 0,-9 0 0,9 0 0,-9 0 0,4 0 0,-6 0 0,-4 0 0,3 0 0,-3 0 0,-1 0 0,4 0 0,-8 0 0,9 0 0,-5 0 0,11 0 0,-4 0 0,9 0 0,-9 0 0,4 0 0,-6 0 0,1 0 0,-1 0 0,0 0 0,1 0 0,-1 0 0,1 0 0,-1 0 0,0 0 0,6 0 0,-4 0 0,9 0 0,-3 0 0,-1 0 0,-1 0 0,0 0 0,-4 0 0,4 0 0,-1 0 0,-3 0 0,10 0 0,-11 0 0,25 4 0,-15 2 0,16 0 0,-8 4 0,-4-9 0,4 9 0,-12-4 0,5 0 0,-5 3 0,0-8 0,-1 8 0,0-8 0,-4 3 0,9-4 0,3 0 0,4 0 0,24 0 0,30 0-949,-29 0 1,5 0 948,17 0 0,5 0-877,-24 0 1,3 0 0,0 0 876,3 0 0,1 0 0,1 0 0,4 0 0,1 0 0,-4 0 0,13 0 0,-2 0-738,12 0 1,-4 0 737,-28 0 0,-1 0 0,10 0 0,-1 0-213,-14 0 1,-3 0 212,35 0 1435,-28 0-1435,-16 0 2552,-10 0-2552,-10 0 1837,-3 0-1837,-4 0 602,-1 0-602,1 0 0,-1 0 0,6 0 0,-4 0 0,9 0 0,-9 0 0,9 0 0,-9 0 0,4 0 0,0 0 0,-4 0 0,3 0 0,-4 0 0,5 0 0,1 0 0,0 0 0,5 0 0,-5 0 0,6 0 0,0 0 0,-6 0 0,5-5 0,-11 4 0,5-3 0,0 4 0,-4 0 0,4 0 0,0 0 0,-5 0 0,11 0 0,-5-5 0,6 4 0,-6-8 0,5 3 0,-5-4 0,6-1 0,0 0 0,-1 1 0,1-1 0,0 5 0,0-3 0,-6 3 0,5 1 0,-11-4 0,5 8 0,-6-8 0,1 8 0,-1-3 0,1 4 0,-6-4 0,4 3 0,-8-3 0,4 4 0,-1 0 0,-3 0 0,4 0 0,-6 0 0,1-4 0,0 4 0,0-4 0,-1 4 0,1 0 0,0-4 0,-1-1 0,-3-4 0,-1 5 0,-4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36.416"/>
    </inkml:context>
    <inkml:brush xml:id="br0">
      <inkml:brushProperty name="width" value="0.05" units="cm"/>
      <inkml:brushProperty name="height" value="0.05" units="cm"/>
      <inkml:brushProperty name="color" value="#E71224"/>
    </inkml:brush>
  </inkml:definitions>
  <inkml:trace contextRef="#ctx0" brushRef="#br0">1 103 24575,'38'0'0,"9"0"0,8 0 0,16 0 0,-14 0 0,12 0 0,-14 0 0,24 0 0,-12 0 0,13 0 0,-18 0 0,-7 0 0,-8 0 0,-2 0 0,-5 0 0,6 0 0,8 0 0,-6 0 0,12 0 0,-12 0 0,13 0 0,-19 0 0,3 0 0,-19-5 0,-1 4 0,-5-3 0,-6 4 0,0 0 0,-6 0 0,6 0 0,1 0 0,4 0 0,6 0 0,1 0 0,12 0 0,-4 0 0,4 0 0,-6 0 0,0 0 0,0 0 0,-6-4 0,4 3 0,-9-4 0,4 5 0,0 0 0,1 0 0,6 0 0,6 0 0,-4 0 0,11 0 0,2 0 0,1 0 0,33-5 0,-28 3 0,21-3 0,-34 5 0,-2 0 0,-10 0 0,54 0 0,10 0-922,-16 0 0,6 0 922,-8 0 0,1 0 0,5-1 0,-2 2 0,-9 2 0,-2 1-317,-4 0 1,-3 0 316,34 4-7,-15 4 7,-23-11 0,21 5 0,-18 0 0,21 0 0,-25 6 0,-8 0 1781,-3-1-1781,-4 1 695,14 0-695,-6-6 8,29 6-8,-24-10 0,32 4 0,-27-6 0,12 0 0,-7 0 0,-8 0 0,-2 0 0,-13 0 0,-7 0 0,-8 0 0,-11 0 0,0 0 0,-6 0 0,8 0 0,35 0 0,36-7-892,-21 2 0,6 0 892,2-2 0,1-2 0,4 1 0,0-1 0,-7 1 0,2 0 0,23-1 0,4 0-1496,-5 0 0,4 0 1496,-19 0 0,2-1 0,-4 1 0,5 3 0,-5-1-390,7-5 0,-6 1 390,13 2 0,-41 6 0,-2-2 0,24-6 0,-13 9 1423,-26-3-1423,-4 5 3115,-16-4-3115,-2 3 1018,-4-3-1018,-1 4 0,17 0 0,12 0 0,18 0 0,0 6 0,23 1 0,-18 6 0,27 0 0,-6-6 0,-6 5 0,4-11 0,-16 5 0,-14-6 0,-4 0 0,-13 0 0,-6 0 0,-5 0 0,-3 0 0,-8 0 0,8 0 0,-8 0 0,8 0 0,-3 0 0,4 0 0,0 0 0,1 0 0,-1 0 0,0 0 0,1 0 0,-6 0 0,4 0 0,-8 0 0,4 0 0,-5 0 0,-1 0 0,1 0 0,-5 0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43.975"/>
    </inkml:context>
    <inkml:brush xml:id="br0">
      <inkml:brushProperty name="width" value="0.05" units="cm"/>
      <inkml:brushProperty name="height" value="0.05" units="cm"/>
      <inkml:brushProperty name="color" value="#E71224"/>
    </inkml:brush>
  </inkml:definitions>
  <inkml:trace contextRef="#ctx0" brushRef="#br0">1 126 24575,'12'0'0,"11"0"0,-1-5 0,6 4 0,-9-7 0,6 2 0,-4-4 0,4 4 0,-6-2 0,0 7 0,1-4 0,-1 1 0,0 3 0,-4-3 0,3 4 0,-3-5 0,4 4 0,1-3 0,-1 4 0,0-4 0,1 3 0,8-8 0,-7 8 0,7-3 0,-9-1 0,1 4 0,-1-3 0,-4 0 0,-2 3 0,1-3 0,-4 4 0,3-4 0,-4 3 0,4-3 0,-3 4 0,4 0 0,-1 0 0,2 0 0,-1 0 0,5 0 0,-9 0 0,8-4 0,-4 3 0,1-3 0,-2 4 0,1 0 0,-4 0 0,3 0 0,-4 0 0,0 0 0,0 0 0,-1 0 0,1 0 0,0 0 0,0 0 0,-1 0 0,1 0 0,4 0 0,-4 0 0,4 0 0,0 0 0,-3 0 0,4 0 0,-1 0 0,-3 0 0,8 0 0,-3 0 0,0 0 0,3 4 0,-8-3 0,8 3 0,-3 1 0,-1-4 0,4 3 0,-3 0 0,4-3 0,1 4 0,-6-1 0,4-3 0,-3 3 0,4 0 0,-4-3 0,3 3 0,-3-4 0,-1 4 0,5-3 0,-9 3 0,8-4 0,-8 0 0,3 0 0,1 4 0,-5-3 0,10 4 0,-9-5 0,8 4 0,-4-3 0,6 3 0,-6-4 0,5 5 0,-5-4 0,6 3 0,-1-4 0,-4 0 0,3 0 0,-4 0 0,6 0 0,-1 0 0,0 4 0,1-3 0,-1 4 0,-4-5 0,3 0 0,-3 0 0,4 0 0,0 0 0,-4 0 0,3 4 0,-8-3 0,8 3 0,-3-4 0,0 0 0,3 0 0,-8 4 0,3-3 0,-4 3 0,4-4 0,-3 0 0,4 0 0,-6 4 0,1-3 0,0 3 0,0-4 0,-1 0 0,1 0 0,-4 0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48.335"/>
    </inkml:context>
    <inkml:brush xml:id="br0">
      <inkml:brushProperty name="width" value="0.05" units="cm"/>
      <inkml:brushProperty name="height" value="0.05" units="cm"/>
      <inkml:brushProperty name="color" value="#E71224"/>
    </inkml:brush>
  </inkml:definitions>
  <inkml:trace contextRef="#ctx0" brushRef="#br0">1 256 24575,'17'0'0,"1"0"0,-3 0 0,3 0 0,-4 0 0,1 0 0,-2 0 0,-4 0 0,5 0 0,-4 0 0,3 0 0,-4 0 0,-1 0 0,1 0 0,0 0 0,4 0 0,-3 0 0,4 0 0,-1 0 0,-3 0 0,8 0 0,-9 0 0,4 0 0,-4 0 0,-1 0 0,1 0 0,0 0 0,0 0 0,-1 0 0,1 0 0,0 0 0,0 0 0,-1 0 0,1 0 0,0 0 0,-1 0 0,1 0 0,0 0 0,-1 0 0,1 0 0,-1 0 0,1 0 0,-1 0 0,0 0 0,1 0 0,-1 4 0,0-3 0,0 3 0,1-4 0,-1 0 0,-3 4 0,3-3 0,-4 2 0,5-3 0,-1 4 0,1-3 0,-1 3 0,1-4 0,-1 0 0,1 0 0,0 0 0,0 0 0,-1 0 0,6 4 0,1-3 0,9 3 0,-3 1 0,4-4 0,0 3 0,-4-4 0,9 5 0,-9-4 0,9 8 0,-3-7 0,5 2 0,-6-4 0,4 5 0,-3-4 0,5 9 0,-6-9 0,4 4 0,-9-5 0,4 0 0,-6 0 0,1 0 0,-1 4 0,-4-3 0,-2 3 0,-4-4 0,0 0 0,-1 0 0,1 0 0,0 0 0,-1 0 0,1 0 0,3 0 0,7 0 0,13 0 0,1 0 0,0 0 0,4 0 0,-3 0 0,6 0 0,-2 0 0,-6 0 0,-6-4 0,-1 3 0,-6-8 0,1 8 0,-1-7 0,0 6 0,1-6 0,-1 7 0,0-4 0,-4 2 0,3 2 0,-3-3 0,4 4 0,-4 0 0,3-5 0,-3 4 0,4-3 0,0 0 0,1 3 0,8-8 0,-7 8 0,7-3 0,-13 0 0,3 3 0,-8-3 0,8 4 0,-3-4 0,-1 3 0,5-8 0,-9 8 0,8-3 0,-4-1 0,6 4 0,-6-3 0,5 0 0,-5 3 0,6-8 0,-1 4 0,0-5 0,6 0 0,-4 4 0,4-3 0,0 4 0,4-5 0,4-1 0,-4 6 0,-4-4 0,-6 8 0,0-8 0,1 8 0,-1-7 0,0 6 0,1-6 0,-1 7 0,6-8 0,-4 8 0,9-9 0,-3 4 0,4 0 0,1-3 0,0 3 0,27-10 0,-20 9 0,26-9 0,-32 15 0,12-9 0,-12 8 0,0-3 0,6 5 0,-16 0 0,10 0 0,-13 0 0,-1 0 0,0 0 0,1 0 0,5 0 0,-5 0 0,11 0 0,1 0 0,2 0 0,4 0 0,0 0 0,2 0 0,0 0 0,4 0 0,-4 0 0,7 0 0,-8 0 0,6 0 0,-5 0 0,6 0 0,-6 0 0,5 0 0,-12 0 0,12 0 0,-12 0 0,5-5 0,-6 4 0,-5-3 0,3 4 0,-9 0 0,9 0 0,-9 0 0,4 0 0,-10 0 0,3 0 0,-4 0 0,1 0 0,3 0 0,-3 0 0,10 0 0,-5 0 0,5 0 0,0 0 0,2 0 0,4 0 0,-4 0 0,3 0 0,-9 0 0,9 0 0,-9 0 0,4 0 0,-6 0 0,-4 0 0,3 0 0,-3 0 0,-1 0 0,5 0 0,-9 0 0,8 4 0,-4 1 0,1 1 0,3 2 0,5-2 0,-1 3 0,6 1 0,-3-5 0,-4 4 0,9-3 0,-9-1 0,4 4 0,-6-8 0,6 4 0,-4-1 0,9 2 0,-9-1 0,9 5 0,-9-9 0,10 8 0,-5-8 0,0 8 0,5-8 0,-11 4 0,5-5 0,-5 4 0,-1-3 0,-4 3 0,3-4 0,-8 0 0,3 0 0,-4 0 0,-4 0 0,-2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51.395"/>
    </inkml:context>
    <inkml:brush xml:id="br0">
      <inkml:brushProperty name="width" value="0.05" units="cm"/>
      <inkml:brushProperty name="height" value="0.05" units="cm"/>
      <inkml:brushProperty name="color" value="#E71224"/>
    </inkml:brush>
  </inkml:definitions>
  <inkml:trace contextRef="#ctx0" brushRef="#br0">0 0 24575,'37'0'0,"13"0"0,14 0 0,7 0 0,8 0 0,-4 0-833,-17 0 1,3 0 832,-4 0 0,3 0 0,24 0 0,2 0-699,-9 0 1,-1 0 698,11 0 0,-4 0 0,-31 0 0,-2 0-258,19 0 1,-3 0 257,7 0 0,-15 0 0,3 0 0,31 0 0,-16 0 0,10 0 0,-29 0 0,6 0 1109,26 0-1109,-6 0 0,12 0 0,-12 0 0,-20 0 1862,-1 0-1862,1 0 606,-1 0-606,-7 0 0,6 0 0,-13 0 0,6 0 0,-8 0 0,7 6 0,-5-5 0,13 5 0,3 0 0,-7-5 0,12 5 0,-6-6 0,1 0 0,15 0 0,-15 0 0,0 0 0,-11 0 0,-13 0 0,-2 0 0,-12 0 0,-1 0 0,-10 0 0,-2 0 0,-4 0 0,0 0 0,-4 0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CF31F3-97AC-D046-ADFC-84B44AB66AC2}" type="datetimeFigureOut">
              <a:rPr lang="en-US" smtClean="0"/>
              <a:t>11/30/25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B069AD-3A78-E44B-86E6-5B3A1340C5BC}" type="slidenum">
              <a:rPr lang="en-US" smtClean="0"/>
              <a:t>‹#›</a:t>
            </a:fld>
            <a:endParaRPr lang="en-US"/>
          </a:p>
        </p:txBody>
      </p:sp>
    </p:spTree>
    <p:extLst>
      <p:ext uri="{BB962C8B-B14F-4D97-AF65-F5344CB8AC3E}">
        <p14:creationId xmlns:p14="http://schemas.microsoft.com/office/powerpoint/2010/main" val="49613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3E506-F52A-4D4A-9FEC-9ADCDC83F61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EE950AC-D6EB-A441-9805-6F588DB977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121C7D5-6353-D04B-961C-25E8358B1E68}"/>
              </a:ext>
            </a:extLst>
          </p:cNvPr>
          <p:cNvSpPr>
            <a:spLocks noGrp="1"/>
          </p:cNvSpPr>
          <p:nvPr>
            <p:ph type="dt" sz="half" idx="10"/>
          </p:nvPr>
        </p:nvSpPr>
        <p:spPr/>
        <p:txBody>
          <a:bodyPr/>
          <a:lstStyle/>
          <a:p>
            <a:fld id="{F7701A15-1AA8-A543-8A69-3B4BF3360F78}" type="datetimeFigureOut">
              <a:rPr lang="en-US" smtClean="0"/>
              <a:t>11/30/25</a:t>
            </a:fld>
            <a:endParaRPr lang="en-US"/>
          </a:p>
        </p:txBody>
      </p:sp>
      <p:sp>
        <p:nvSpPr>
          <p:cNvPr id="5" name="Footer Placeholder 4">
            <a:extLst>
              <a:ext uri="{FF2B5EF4-FFF2-40B4-BE49-F238E27FC236}">
                <a16:creationId xmlns:a16="http://schemas.microsoft.com/office/drawing/2014/main" id="{6EABB016-28DE-0D45-8B67-424243DE1F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D5D71-1325-2742-AB55-8BA2A0BA192C}"/>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671204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EB294-36D1-8B4F-9310-1D31D155F8A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B604676-9ECA-324A-AA8B-859AE68CDBB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B598B67-9D8A-3C49-9E7C-DBF9DDCBC522}"/>
              </a:ext>
            </a:extLst>
          </p:cNvPr>
          <p:cNvSpPr>
            <a:spLocks noGrp="1"/>
          </p:cNvSpPr>
          <p:nvPr>
            <p:ph type="dt" sz="half" idx="10"/>
          </p:nvPr>
        </p:nvSpPr>
        <p:spPr/>
        <p:txBody>
          <a:bodyPr/>
          <a:lstStyle/>
          <a:p>
            <a:fld id="{F7701A15-1AA8-A543-8A69-3B4BF3360F78}" type="datetimeFigureOut">
              <a:rPr lang="en-US" smtClean="0"/>
              <a:t>11/30/25</a:t>
            </a:fld>
            <a:endParaRPr lang="en-US"/>
          </a:p>
        </p:txBody>
      </p:sp>
      <p:sp>
        <p:nvSpPr>
          <p:cNvPr id="5" name="Footer Placeholder 4">
            <a:extLst>
              <a:ext uri="{FF2B5EF4-FFF2-40B4-BE49-F238E27FC236}">
                <a16:creationId xmlns:a16="http://schemas.microsoft.com/office/drawing/2014/main" id="{50F9313E-E34A-E749-BBFE-8918D02889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675EED-06B8-4147-A537-EFF5C1B42A32}"/>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3309122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06EDC-7EBC-7444-9F59-3D38AD4BE71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80CD582-8B07-5547-8ECB-DFAEAD6A0E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053B6CB-028D-2949-85F6-694ECB6129E4}"/>
              </a:ext>
            </a:extLst>
          </p:cNvPr>
          <p:cNvSpPr>
            <a:spLocks noGrp="1"/>
          </p:cNvSpPr>
          <p:nvPr>
            <p:ph type="dt" sz="half" idx="10"/>
          </p:nvPr>
        </p:nvSpPr>
        <p:spPr/>
        <p:txBody>
          <a:bodyPr/>
          <a:lstStyle/>
          <a:p>
            <a:fld id="{F7701A15-1AA8-A543-8A69-3B4BF3360F78}" type="datetimeFigureOut">
              <a:rPr lang="en-US" smtClean="0"/>
              <a:t>11/30/25</a:t>
            </a:fld>
            <a:endParaRPr lang="en-US"/>
          </a:p>
        </p:txBody>
      </p:sp>
      <p:sp>
        <p:nvSpPr>
          <p:cNvPr id="5" name="Footer Placeholder 4">
            <a:extLst>
              <a:ext uri="{FF2B5EF4-FFF2-40B4-BE49-F238E27FC236}">
                <a16:creationId xmlns:a16="http://schemas.microsoft.com/office/drawing/2014/main" id="{079E3027-2636-8842-8552-F2EA3ACBB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3326CE-1029-A245-BE00-EDF0C739BD72}"/>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696915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7C3CF-9BF6-DA40-A1E5-0D337851A5D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5998EC2-7B33-9A4F-AEA4-EBB479AF1C9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527A0B4-FB1C-7D47-AEE3-5D2664E1E45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2166CE6-F6DA-6647-B9FE-F2F737AB76E6}"/>
              </a:ext>
            </a:extLst>
          </p:cNvPr>
          <p:cNvSpPr>
            <a:spLocks noGrp="1"/>
          </p:cNvSpPr>
          <p:nvPr>
            <p:ph type="dt" sz="half" idx="10"/>
          </p:nvPr>
        </p:nvSpPr>
        <p:spPr/>
        <p:txBody>
          <a:bodyPr/>
          <a:lstStyle/>
          <a:p>
            <a:fld id="{F7701A15-1AA8-A543-8A69-3B4BF3360F78}" type="datetimeFigureOut">
              <a:rPr lang="en-US" smtClean="0"/>
              <a:t>11/30/25</a:t>
            </a:fld>
            <a:endParaRPr lang="en-US"/>
          </a:p>
        </p:txBody>
      </p:sp>
      <p:sp>
        <p:nvSpPr>
          <p:cNvPr id="6" name="Footer Placeholder 5">
            <a:extLst>
              <a:ext uri="{FF2B5EF4-FFF2-40B4-BE49-F238E27FC236}">
                <a16:creationId xmlns:a16="http://schemas.microsoft.com/office/drawing/2014/main" id="{FD5AF648-3F55-F844-B604-AAC77C08BD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A4C683-C2EF-794D-AE46-3C9809F905E6}"/>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360690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D941C-14F3-BF4E-B201-9DCE6D2FA77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C31141F-0DEA-BE44-9E35-75D997B780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79F366A-8C3A-B845-900F-2FE3EDC155E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F3A9F1-16E5-C54D-AB65-85ED1CB974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0E0B85E-0C2E-4249-B1CD-DE6B357544F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AFDAD24-E049-9345-9ECE-D22EAD061702}"/>
              </a:ext>
            </a:extLst>
          </p:cNvPr>
          <p:cNvSpPr>
            <a:spLocks noGrp="1"/>
          </p:cNvSpPr>
          <p:nvPr>
            <p:ph type="dt" sz="half" idx="10"/>
          </p:nvPr>
        </p:nvSpPr>
        <p:spPr/>
        <p:txBody>
          <a:bodyPr/>
          <a:lstStyle/>
          <a:p>
            <a:fld id="{F7701A15-1AA8-A543-8A69-3B4BF3360F78}" type="datetimeFigureOut">
              <a:rPr lang="en-US" smtClean="0"/>
              <a:t>11/30/25</a:t>
            </a:fld>
            <a:endParaRPr lang="en-US"/>
          </a:p>
        </p:txBody>
      </p:sp>
      <p:sp>
        <p:nvSpPr>
          <p:cNvPr id="8" name="Footer Placeholder 7">
            <a:extLst>
              <a:ext uri="{FF2B5EF4-FFF2-40B4-BE49-F238E27FC236}">
                <a16:creationId xmlns:a16="http://schemas.microsoft.com/office/drawing/2014/main" id="{B4E1D5BF-87B8-E944-BB7F-ADE9CA4D03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867366-438A-0948-9A3D-D95735A51642}"/>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1782864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3A943-738C-674B-85D3-9D43BCAFF01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5F97D44-1F39-BD4C-9EFC-F383FA9B2A15}"/>
              </a:ext>
            </a:extLst>
          </p:cNvPr>
          <p:cNvSpPr>
            <a:spLocks noGrp="1"/>
          </p:cNvSpPr>
          <p:nvPr>
            <p:ph type="dt" sz="half" idx="10"/>
          </p:nvPr>
        </p:nvSpPr>
        <p:spPr/>
        <p:txBody>
          <a:bodyPr/>
          <a:lstStyle/>
          <a:p>
            <a:fld id="{F7701A15-1AA8-A543-8A69-3B4BF3360F78}" type="datetimeFigureOut">
              <a:rPr lang="en-US" smtClean="0"/>
              <a:t>11/30/25</a:t>
            </a:fld>
            <a:endParaRPr lang="en-US"/>
          </a:p>
        </p:txBody>
      </p:sp>
      <p:sp>
        <p:nvSpPr>
          <p:cNvPr id="4" name="Footer Placeholder 3">
            <a:extLst>
              <a:ext uri="{FF2B5EF4-FFF2-40B4-BE49-F238E27FC236}">
                <a16:creationId xmlns:a16="http://schemas.microsoft.com/office/drawing/2014/main" id="{ABB6D099-37B6-F04C-A9EA-15F1653FAD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5CF10A-3B49-CA4B-A7D5-23BE1BB337B5}"/>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379027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49F785-7F95-474B-82E7-237F5886CC41}"/>
              </a:ext>
            </a:extLst>
          </p:cNvPr>
          <p:cNvSpPr>
            <a:spLocks noGrp="1"/>
          </p:cNvSpPr>
          <p:nvPr>
            <p:ph type="dt" sz="half" idx="10"/>
          </p:nvPr>
        </p:nvSpPr>
        <p:spPr/>
        <p:txBody>
          <a:bodyPr/>
          <a:lstStyle/>
          <a:p>
            <a:fld id="{F7701A15-1AA8-A543-8A69-3B4BF3360F78}" type="datetimeFigureOut">
              <a:rPr lang="en-US" smtClean="0"/>
              <a:t>11/30/25</a:t>
            </a:fld>
            <a:endParaRPr lang="en-US"/>
          </a:p>
        </p:txBody>
      </p:sp>
      <p:sp>
        <p:nvSpPr>
          <p:cNvPr id="3" name="Footer Placeholder 2">
            <a:extLst>
              <a:ext uri="{FF2B5EF4-FFF2-40B4-BE49-F238E27FC236}">
                <a16:creationId xmlns:a16="http://schemas.microsoft.com/office/drawing/2014/main" id="{184CE0B8-4D51-D04D-BE0A-028CC5D839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0808-F602-F140-A3C8-617D8DBB2EFB}"/>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4163530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18133-29AE-EF40-B355-525DC1C9821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FD2FB6D-2479-D041-832D-C501424134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BDB98B4-0F77-364B-B4B1-3DC55F6ED4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C4B109B-C7F4-4248-8096-D4A32D007CE4}"/>
              </a:ext>
            </a:extLst>
          </p:cNvPr>
          <p:cNvSpPr>
            <a:spLocks noGrp="1"/>
          </p:cNvSpPr>
          <p:nvPr>
            <p:ph type="dt" sz="half" idx="10"/>
          </p:nvPr>
        </p:nvSpPr>
        <p:spPr/>
        <p:txBody>
          <a:bodyPr/>
          <a:lstStyle/>
          <a:p>
            <a:fld id="{F7701A15-1AA8-A543-8A69-3B4BF3360F78}" type="datetimeFigureOut">
              <a:rPr lang="en-US" smtClean="0"/>
              <a:t>11/30/25</a:t>
            </a:fld>
            <a:endParaRPr lang="en-US"/>
          </a:p>
        </p:txBody>
      </p:sp>
      <p:sp>
        <p:nvSpPr>
          <p:cNvPr id="6" name="Footer Placeholder 5">
            <a:extLst>
              <a:ext uri="{FF2B5EF4-FFF2-40B4-BE49-F238E27FC236}">
                <a16:creationId xmlns:a16="http://schemas.microsoft.com/office/drawing/2014/main" id="{5CB8D3E3-2F4C-8E43-BDC0-5BBFEDECEB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E7CA23-EF62-774E-AFD7-61E300A04426}"/>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2449439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95BD-7E09-B14F-BC48-0E450B481BE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1FB91EE-3F93-D444-A18B-DC65D5D95A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19F5D7-8820-9B42-A87C-E70A08991B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215B382-2ED4-F94A-A2D0-DA70AE9A9D50}"/>
              </a:ext>
            </a:extLst>
          </p:cNvPr>
          <p:cNvSpPr>
            <a:spLocks noGrp="1"/>
          </p:cNvSpPr>
          <p:nvPr>
            <p:ph type="dt" sz="half" idx="10"/>
          </p:nvPr>
        </p:nvSpPr>
        <p:spPr/>
        <p:txBody>
          <a:bodyPr/>
          <a:lstStyle/>
          <a:p>
            <a:fld id="{F7701A15-1AA8-A543-8A69-3B4BF3360F78}" type="datetimeFigureOut">
              <a:rPr lang="en-US" smtClean="0"/>
              <a:t>11/30/25</a:t>
            </a:fld>
            <a:endParaRPr lang="en-US"/>
          </a:p>
        </p:txBody>
      </p:sp>
      <p:sp>
        <p:nvSpPr>
          <p:cNvPr id="6" name="Footer Placeholder 5">
            <a:extLst>
              <a:ext uri="{FF2B5EF4-FFF2-40B4-BE49-F238E27FC236}">
                <a16:creationId xmlns:a16="http://schemas.microsoft.com/office/drawing/2014/main" id="{6BEEECE4-AC58-8D42-A323-5D6ED552C3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AE7BEB-E58E-5748-AD06-15167F756AC4}"/>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1544305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B3809-EFA5-9E4C-95ED-D71D0A4F962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7C30F6F-F25A-8747-9D94-205E28BFA0F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8C084C8-DF64-3544-AB8B-A06C67D04F61}"/>
              </a:ext>
            </a:extLst>
          </p:cNvPr>
          <p:cNvSpPr>
            <a:spLocks noGrp="1"/>
          </p:cNvSpPr>
          <p:nvPr>
            <p:ph type="dt" sz="half" idx="10"/>
          </p:nvPr>
        </p:nvSpPr>
        <p:spPr/>
        <p:txBody>
          <a:bodyPr/>
          <a:lstStyle/>
          <a:p>
            <a:fld id="{F7701A15-1AA8-A543-8A69-3B4BF3360F78}" type="datetimeFigureOut">
              <a:rPr lang="en-US" smtClean="0"/>
              <a:t>11/30/25</a:t>
            </a:fld>
            <a:endParaRPr lang="en-US"/>
          </a:p>
        </p:txBody>
      </p:sp>
      <p:sp>
        <p:nvSpPr>
          <p:cNvPr id="5" name="Footer Placeholder 4">
            <a:extLst>
              <a:ext uri="{FF2B5EF4-FFF2-40B4-BE49-F238E27FC236}">
                <a16:creationId xmlns:a16="http://schemas.microsoft.com/office/drawing/2014/main" id="{715619A9-963E-D643-B64F-BAFAEAFB6F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761C22-8DC0-C64C-9F30-C903BB17AAB3}"/>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732874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FE6F2C-E17A-9F4E-A978-1E54BB8D199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B367755-F81D-6E43-887D-F49DE5744CC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7EC40EA-D0B1-7943-B385-3CC3E94D91B9}"/>
              </a:ext>
            </a:extLst>
          </p:cNvPr>
          <p:cNvSpPr>
            <a:spLocks noGrp="1"/>
          </p:cNvSpPr>
          <p:nvPr>
            <p:ph type="dt" sz="half" idx="10"/>
          </p:nvPr>
        </p:nvSpPr>
        <p:spPr/>
        <p:txBody>
          <a:bodyPr/>
          <a:lstStyle/>
          <a:p>
            <a:fld id="{F7701A15-1AA8-A543-8A69-3B4BF3360F78}" type="datetimeFigureOut">
              <a:rPr lang="en-US" smtClean="0"/>
              <a:t>11/30/25</a:t>
            </a:fld>
            <a:endParaRPr lang="en-US"/>
          </a:p>
        </p:txBody>
      </p:sp>
      <p:sp>
        <p:nvSpPr>
          <p:cNvPr id="5" name="Footer Placeholder 4">
            <a:extLst>
              <a:ext uri="{FF2B5EF4-FFF2-40B4-BE49-F238E27FC236}">
                <a16:creationId xmlns:a16="http://schemas.microsoft.com/office/drawing/2014/main" id="{FA4C204A-0E6F-304A-BD81-2C0216ACD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7B2BE-5E29-254C-BBF5-69C1BFF0F730}"/>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207673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3872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34019B-77AD-E74C-BC63-E6CFDCF21E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A5AA913-D6B1-0141-841E-333B2776A3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C8B1AAD-A171-1F41-A99C-E4C9B4871A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701A15-1AA8-A543-8A69-3B4BF3360F78}" type="datetimeFigureOut">
              <a:rPr lang="en-US" smtClean="0"/>
              <a:t>11/30/25</a:t>
            </a:fld>
            <a:endParaRPr lang="en-US"/>
          </a:p>
        </p:txBody>
      </p:sp>
      <p:sp>
        <p:nvSpPr>
          <p:cNvPr id="5" name="Footer Placeholder 4">
            <a:extLst>
              <a:ext uri="{FF2B5EF4-FFF2-40B4-BE49-F238E27FC236}">
                <a16:creationId xmlns:a16="http://schemas.microsoft.com/office/drawing/2014/main" id="{83C40490-CBB1-614F-9ABF-848A9BE765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B2A72C8-5754-9F42-B498-7B3A9EB990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07986A-6522-AA4A-BC27-239CAAFA8BE0}" type="slidenum">
              <a:rPr lang="en-US" smtClean="0"/>
              <a:t>‹#›</a:t>
            </a:fld>
            <a:endParaRPr lang="en-US"/>
          </a:p>
        </p:txBody>
      </p:sp>
    </p:spTree>
    <p:extLst>
      <p:ext uri="{BB962C8B-B14F-4D97-AF65-F5344CB8AC3E}">
        <p14:creationId xmlns:p14="http://schemas.microsoft.com/office/powerpoint/2010/main" val="222868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image" Target="../media/image15.tiff"/><Relationship Id="rId1" Type="http://schemas.openxmlformats.org/officeDocument/2006/relationships/slideLayout" Target="../slideLayouts/slideLayout2.xml"/><Relationship Id="rId6" Type="http://schemas.openxmlformats.org/officeDocument/2006/relationships/image" Target="../media/image19.tiff"/><Relationship Id="rId5" Type="http://schemas.openxmlformats.org/officeDocument/2006/relationships/image" Target="../media/image18.tiff"/><Relationship Id="rId4" Type="http://schemas.openxmlformats.org/officeDocument/2006/relationships/image" Target="../media/image17.tiff"/></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svg"/><Relationship Id="rId10" Type="http://schemas.openxmlformats.org/officeDocument/2006/relationships/image" Target="../media/image17.tiff"/><Relationship Id="rId4" Type="http://schemas.openxmlformats.org/officeDocument/2006/relationships/image" Target="../media/image26.png"/><Relationship Id="rId9" Type="http://schemas.openxmlformats.org/officeDocument/2006/relationships/image" Target="../media/image31.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customXml" Target="../ink/ink2.xml"/><Relationship Id="rId7" Type="http://schemas.openxmlformats.org/officeDocument/2006/relationships/customXml" Target="../ink/ink6.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5.xml"/><Relationship Id="rId5" Type="http://schemas.openxmlformats.org/officeDocument/2006/relationships/customXml" Target="../ink/ink4.xml"/><Relationship Id="rId4" Type="http://schemas.openxmlformats.org/officeDocument/2006/relationships/customXml" Target="../ink/ink3.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952500" y="1414948"/>
            <a:ext cx="554126" cy="193771"/>
          </a:xfrm>
          <a:prstGeom prst="rect">
            <a:avLst/>
          </a:prstGeom>
          <a:noFill/>
          <a:ln/>
        </p:spPr>
        <p:txBody>
          <a:bodyPr wrap="none" lIns="0" tIns="0" rIns="0" bIns="0" rtlCol="0" anchor="t">
            <a:spAutoFit/>
          </a:bodyPr>
          <a:lstStyle/>
          <a:p>
            <a:pPr>
              <a:lnSpc>
                <a:spcPts val="1600"/>
              </a:lnSpc>
            </a:pPr>
            <a:r>
              <a:rPr lang="en-US" sz="1180" b="1" kern="0" spc="3" dirty="0">
                <a:solidFill>
                  <a:srgbClr val="0066CC"/>
                </a:solidFill>
              </a:rPr>
              <a:t>Week 11</a:t>
            </a:r>
            <a:endParaRPr lang="en-US" sz="1180" dirty="0"/>
          </a:p>
        </p:txBody>
      </p:sp>
      <p:sp>
        <p:nvSpPr>
          <p:cNvPr id="4" name="Text 1"/>
          <p:cNvSpPr/>
          <p:nvPr/>
        </p:nvSpPr>
        <p:spPr>
          <a:xfrm>
            <a:off x="952501" y="1838809"/>
            <a:ext cx="8572500" cy="1273682"/>
          </a:xfrm>
          <a:prstGeom prst="rect">
            <a:avLst/>
          </a:prstGeom>
          <a:noFill/>
          <a:ln/>
        </p:spPr>
        <p:txBody>
          <a:bodyPr wrap="square" lIns="0" tIns="0" rIns="0" bIns="0" rtlCol="0" anchor="t">
            <a:spAutoFit/>
          </a:bodyPr>
          <a:lstStyle/>
          <a:p>
            <a:pPr>
              <a:lnSpc>
                <a:spcPts val="5067"/>
              </a:lnSpc>
            </a:pPr>
            <a:r>
              <a:rPr lang="en-US" sz="3816" b="1" dirty="0">
                <a:solidFill>
                  <a:srgbClr val="1A1A2E"/>
                </a:solidFill>
              </a:rPr>
              <a:t>Object-Oriented Programming &amp; Project Refactoring</a:t>
            </a:r>
            <a:endParaRPr lang="en-US" sz="3816" dirty="0"/>
          </a:p>
        </p:txBody>
      </p:sp>
      <p:sp>
        <p:nvSpPr>
          <p:cNvPr id="5" name="Text 2"/>
          <p:cNvSpPr/>
          <p:nvPr/>
        </p:nvSpPr>
        <p:spPr>
          <a:xfrm>
            <a:off x="952500" y="3404704"/>
            <a:ext cx="7620000" cy="316946"/>
          </a:xfrm>
          <a:prstGeom prst="rect">
            <a:avLst/>
          </a:prstGeom>
          <a:noFill/>
          <a:ln/>
        </p:spPr>
        <p:txBody>
          <a:bodyPr wrap="square" lIns="0" tIns="0" rIns="0" bIns="0" rtlCol="0" anchor="t">
            <a:spAutoFit/>
          </a:bodyPr>
          <a:lstStyle/>
          <a:p>
            <a:pPr>
              <a:lnSpc>
                <a:spcPts val="2667"/>
              </a:lnSpc>
            </a:pPr>
            <a:r>
              <a:rPr lang="en-US" sz="1692" dirty="0">
                <a:solidFill>
                  <a:srgbClr val="333333"/>
                </a:solidFill>
              </a:rPr>
              <a:t>Software Architecture</a:t>
            </a:r>
            <a:endParaRPr lang="en-US" sz="1692" dirty="0"/>
          </a:p>
        </p:txBody>
      </p:sp>
      <p:sp>
        <p:nvSpPr>
          <p:cNvPr id="6" name="Shape 3"/>
          <p:cNvSpPr/>
          <p:nvPr/>
        </p:nvSpPr>
        <p:spPr>
          <a:xfrm>
            <a:off x="952500" y="5052529"/>
            <a:ext cx="381000" cy="381000"/>
          </a:xfrm>
          <a:prstGeom prst="rect">
            <a:avLst/>
          </a:prstGeom>
          <a:solidFill>
            <a:srgbClr val="E8EEF5"/>
          </a:solidFill>
          <a:ln/>
        </p:spPr>
        <p:txBody>
          <a:bodyPr/>
          <a:lstStyle/>
          <a:p>
            <a:endParaRPr lang="en-US" sz="2400"/>
          </a:p>
        </p:txBody>
      </p:sp>
      <p:pic>
        <p:nvPicPr>
          <p:cNvPr id="7" name="Image 1" descr="preencoded.png"/>
          <p:cNvPicPr>
            <a:picLocks noChangeAspect="1"/>
          </p:cNvPicPr>
          <p:nvPr/>
        </p:nvPicPr>
        <p:blipFill>
          <a:blip r:embed="rId4"/>
          <a:stretch>
            <a:fillRect/>
          </a:stretch>
        </p:blipFill>
        <p:spPr>
          <a:xfrm>
            <a:off x="1035844" y="5157304"/>
            <a:ext cx="214312" cy="171451"/>
          </a:xfrm>
          <a:prstGeom prst="rect">
            <a:avLst/>
          </a:prstGeom>
        </p:spPr>
      </p:pic>
      <p:sp>
        <p:nvSpPr>
          <p:cNvPr id="8" name="Text 4"/>
          <p:cNvSpPr/>
          <p:nvPr/>
        </p:nvSpPr>
        <p:spPr>
          <a:xfrm>
            <a:off x="1447801" y="5043005"/>
            <a:ext cx="300531" cy="133819"/>
          </a:xfrm>
          <a:prstGeom prst="rect">
            <a:avLst/>
          </a:prstGeom>
          <a:noFill/>
          <a:ln/>
        </p:spPr>
        <p:txBody>
          <a:bodyPr wrap="none" lIns="0" tIns="0" rIns="0" bIns="0" rtlCol="0" anchor="t">
            <a:spAutoFit/>
          </a:bodyPr>
          <a:lstStyle/>
          <a:p>
            <a:pPr>
              <a:lnSpc>
                <a:spcPts val="1067"/>
              </a:lnSpc>
            </a:pPr>
            <a:r>
              <a:rPr lang="en-US" sz="828" kern="0" spc="1" dirty="0">
                <a:solidFill>
                  <a:srgbClr val="666666"/>
                </a:solidFill>
              </a:rPr>
              <a:t>Course</a:t>
            </a:r>
            <a:endParaRPr lang="en-US" sz="828" dirty="0"/>
          </a:p>
        </p:txBody>
      </p:sp>
      <p:sp>
        <p:nvSpPr>
          <p:cNvPr id="9" name="Text 5"/>
          <p:cNvSpPr/>
          <p:nvPr/>
        </p:nvSpPr>
        <p:spPr>
          <a:xfrm>
            <a:off x="1447800" y="5235886"/>
            <a:ext cx="469680" cy="179665"/>
          </a:xfrm>
          <a:prstGeom prst="rect">
            <a:avLst/>
          </a:prstGeom>
          <a:noFill/>
          <a:ln/>
        </p:spPr>
        <p:txBody>
          <a:bodyPr wrap="none" lIns="0" tIns="0" rIns="0" bIns="0" rtlCol="0" anchor="t">
            <a:spAutoFit/>
          </a:bodyPr>
          <a:lstStyle/>
          <a:p>
            <a:pPr>
              <a:lnSpc>
                <a:spcPts val="1467"/>
              </a:lnSpc>
            </a:pPr>
            <a:r>
              <a:rPr lang="en-US" sz="1045" b="1" dirty="0">
                <a:solidFill>
                  <a:srgbClr val="1A1A2E"/>
                </a:solidFill>
              </a:rPr>
              <a:t>CST1510</a:t>
            </a:r>
            <a:endParaRPr lang="en-US" sz="1045" dirty="0"/>
          </a:p>
        </p:txBody>
      </p:sp>
      <p:sp>
        <p:nvSpPr>
          <p:cNvPr id="10" name="Shape 6"/>
          <p:cNvSpPr/>
          <p:nvPr/>
        </p:nvSpPr>
        <p:spPr>
          <a:xfrm>
            <a:off x="2444985" y="5052529"/>
            <a:ext cx="381000" cy="381000"/>
          </a:xfrm>
          <a:prstGeom prst="rect">
            <a:avLst/>
          </a:prstGeom>
          <a:solidFill>
            <a:srgbClr val="E8EEF5"/>
          </a:solidFill>
          <a:ln/>
        </p:spPr>
        <p:txBody>
          <a:bodyPr/>
          <a:lstStyle/>
          <a:p>
            <a:endParaRPr lang="en-US" sz="2400"/>
          </a:p>
        </p:txBody>
      </p:sp>
      <p:pic>
        <p:nvPicPr>
          <p:cNvPr id="11" name="Image 2" descr="preencoded.png"/>
          <p:cNvPicPr>
            <a:picLocks noChangeAspect="1"/>
          </p:cNvPicPr>
          <p:nvPr/>
        </p:nvPicPr>
        <p:blipFill>
          <a:blip r:embed="rId5"/>
          <a:stretch>
            <a:fillRect/>
          </a:stretch>
        </p:blipFill>
        <p:spPr>
          <a:xfrm>
            <a:off x="2528329" y="5157304"/>
            <a:ext cx="214312" cy="171451"/>
          </a:xfrm>
          <a:prstGeom prst="rect">
            <a:avLst/>
          </a:prstGeom>
        </p:spPr>
      </p:pic>
      <p:sp>
        <p:nvSpPr>
          <p:cNvPr id="12" name="Text 7"/>
          <p:cNvSpPr/>
          <p:nvPr/>
        </p:nvSpPr>
        <p:spPr>
          <a:xfrm>
            <a:off x="2940286" y="5043005"/>
            <a:ext cx="233077" cy="133819"/>
          </a:xfrm>
          <a:prstGeom prst="rect">
            <a:avLst/>
          </a:prstGeom>
          <a:noFill/>
          <a:ln/>
        </p:spPr>
        <p:txBody>
          <a:bodyPr wrap="none" lIns="0" tIns="0" rIns="0" bIns="0" rtlCol="0" anchor="t">
            <a:spAutoFit/>
          </a:bodyPr>
          <a:lstStyle/>
          <a:p>
            <a:pPr>
              <a:lnSpc>
                <a:spcPts val="1067"/>
              </a:lnSpc>
            </a:pPr>
            <a:r>
              <a:rPr lang="en-US" sz="828" kern="0" spc="1" dirty="0">
                <a:solidFill>
                  <a:srgbClr val="666666"/>
                </a:solidFill>
              </a:rPr>
              <a:t>Topic</a:t>
            </a:r>
            <a:endParaRPr lang="en-US" sz="828" dirty="0"/>
          </a:p>
        </p:txBody>
      </p:sp>
      <p:sp>
        <p:nvSpPr>
          <p:cNvPr id="13" name="Text 8"/>
          <p:cNvSpPr/>
          <p:nvPr/>
        </p:nvSpPr>
        <p:spPr>
          <a:xfrm>
            <a:off x="2940286" y="5235886"/>
            <a:ext cx="1051570" cy="179665"/>
          </a:xfrm>
          <a:prstGeom prst="rect">
            <a:avLst/>
          </a:prstGeom>
          <a:noFill/>
          <a:ln/>
        </p:spPr>
        <p:txBody>
          <a:bodyPr wrap="none" lIns="0" tIns="0" rIns="0" bIns="0" rtlCol="0" anchor="t">
            <a:spAutoFit/>
          </a:bodyPr>
          <a:lstStyle/>
          <a:p>
            <a:pPr>
              <a:lnSpc>
                <a:spcPts val="1467"/>
              </a:lnSpc>
            </a:pPr>
            <a:r>
              <a:rPr lang="en-US" sz="1045" b="1" dirty="0">
                <a:solidFill>
                  <a:srgbClr val="1A1A2E"/>
                </a:solidFill>
              </a:rPr>
              <a:t>OOP &amp; Refactoring</a:t>
            </a:r>
            <a:endParaRPr lang="en-US" sz="1045" dirty="0"/>
          </a:p>
        </p:txBody>
      </p:sp>
      <p:sp>
        <p:nvSpPr>
          <p:cNvPr id="14" name="Shape 9"/>
          <p:cNvSpPr/>
          <p:nvPr/>
        </p:nvSpPr>
        <p:spPr>
          <a:xfrm>
            <a:off x="4717740" y="5052529"/>
            <a:ext cx="381000" cy="381000"/>
          </a:xfrm>
          <a:prstGeom prst="rect">
            <a:avLst/>
          </a:prstGeom>
          <a:solidFill>
            <a:srgbClr val="E8EEF5"/>
          </a:solidFill>
          <a:ln/>
        </p:spPr>
        <p:txBody>
          <a:bodyPr/>
          <a:lstStyle/>
          <a:p>
            <a:endParaRPr lang="en-US" sz="2400"/>
          </a:p>
        </p:txBody>
      </p:sp>
      <p:pic>
        <p:nvPicPr>
          <p:cNvPr id="15" name="Image 3" descr="preencoded.png"/>
          <p:cNvPicPr>
            <a:picLocks noChangeAspect="1"/>
          </p:cNvPicPr>
          <p:nvPr/>
        </p:nvPicPr>
        <p:blipFill>
          <a:blip r:embed="rId6"/>
          <a:stretch>
            <a:fillRect/>
          </a:stretch>
        </p:blipFill>
        <p:spPr>
          <a:xfrm>
            <a:off x="4833231" y="5157304"/>
            <a:ext cx="150019" cy="171451"/>
          </a:xfrm>
          <a:prstGeom prst="rect">
            <a:avLst/>
          </a:prstGeom>
        </p:spPr>
      </p:pic>
      <p:sp>
        <p:nvSpPr>
          <p:cNvPr id="16" name="Text 10"/>
          <p:cNvSpPr/>
          <p:nvPr/>
        </p:nvSpPr>
        <p:spPr>
          <a:xfrm>
            <a:off x="5213041" y="5043005"/>
            <a:ext cx="248979" cy="133819"/>
          </a:xfrm>
          <a:prstGeom prst="rect">
            <a:avLst/>
          </a:prstGeom>
          <a:noFill/>
          <a:ln/>
        </p:spPr>
        <p:txBody>
          <a:bodyPr wrap="none" lIns="0" tIns="0" rIns="0" bIns="0" rtlCol="0" anchor="t">
            <a:spAutoFit/>
          </a:bodyPr>
          <a:lstStyle/>
          <a:p>
            <a:pPr>
              <a:lnSpc>
                <a:spcPts val="1067"/>
              </a:lnSpc>
            </a:pPr>
            <a:r>
              <a:rPr lang="en-US" sz="828" kern="0" spc="1" dirty="0">
                <a:solidFill>
                  <a:srgbClr val="666666"/>
                </a:solidFill>
              </a:rPr>
              <a:t>Week</a:t>
            </a:r>
            <a:endParaRPr lang="en-US" sz="828" dirty="0"/>
          </a:p>
        </p:txBody>
      </p:sp>
      <p:sp>
        <p:nvSpPr>
          <p:cNvPr id="17" name="Text 11"/>
          <p:cNvSpPr/>
          <p:nvPr/>
        </p:nvSpPr>
        <p:spPr>
          <a:xfrm>
            <a:off x="5213040" y="5235886"/>
            <a:ext cx="444032" cy="179665"/>
          </a:xfrm>
          <a:prstGeom prst="rect">
            <a:avLst/>
          </a:prstGeom>
          <a:noFill/>
          <a:ln/>
        </p:spPr>
        <p:txBody>
          <a:bodyPr wrap="none" lIns="0" tIns="0" rIns="0" bIns="0" rtlCol="0" anchor="t">
            <a:spAutoFit/>
          </a:bodyPr>
          <a:lstStyle/>
          <a:p>
            <a:pPr>
              <a:lnSpc>
                <a:spcPts val="1467"/>
              </a:lnSpc>
            </a:pPr>
            <a:r>
              <a:rPr lang="en-US" sz="1045" b="1" dirty="0">
                <a:solidFill>
                  <a:srgbClr val="1A1A2E"/>
                </a:solidFill>
              </a:rPr>
              <a:t>11 of 11</a:t>
            </a:r>
            <a:endParaRPr lang="en-US" sz="104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4" name="Text 1"/>
          <p:cNvSpPr/>
          <p:nvPr/>
        </p:nvSpPr>
        <p:spPr>
          <a:xfrm>
            <a:off x="952501" y="1057275"/>
            <a:ext cx="3277051" cy="370358"/>
          </a:xfrm>
          <a:prstGeom prst="rect">
            <a:avLst/>
          </a:prstGeom>
          <a:noFill/>
          <a:ln/>
        </p:spPr>
        <p:txBody>
          <a:bodyPr wrap="none" lIns="0" tIns="0" rIns="0" bIns="0" rtlCol="0" anchor="t">
            <a:spAutoFit/>
          </a:bodyPr>
          <a:lstStyle/>
          <a:p>
            <a:pPr>
              <a:lnSpc>
                <a:spcPts val="3067"/>
              </a:lnSpc>
            </a:pPr>
            <a:r>
              <a:rPr lang="en-US" sz="2133" b="1" dirty="0">
                <a:solidFill>
                  <a:srgbClr val="1A1A2E"/>
                </a:solidFill>
              </a:rPr>
              <a:t>Week 11 Learning Objectives</a:t>
            </a:r>
            <a:endParaRPr lang="en-US" sz="2133" dirty="0"/>
          </a:p>
        </p:txBody>
      </p:sp>
      <p:sp>
        <p:nvSpPr>
          <p:cNvPr id="5" name="Shape 2"/>
          <p:cNvSpPr/>
          <p:nvPr/>
        </p:nvSpPr>
        <p:spPr>
          <a:xfrm>
            <a:off x="952500" y="2024993"/>
            <a:ext cx="476251" cy="476251"/>
          </a:xfrm>
          <a:prstGeom prst="rect">
            <a:avLst/>
          </a:prstGeom>
          <a:solidFill>
            <a:srgbClr val="E8EEF5"/>
          </a:solidFill>
          <a:ln/>
        </p:spPr>
        <p:txBody>
          <a:bodyPr/>
          <a:lstStyle/>
          <a:p>
            <a:endParaRPr lang="en-US" sz="1600"/>
          </a:p>
        </p:txBody>
      </p:sp>
      <p:sp>
        <p:nvSpPr>
          <p:cNvPr id="6" name="Text 3"/>
          <p:cNvSpPr/>
          <p:nvPr/>
        </p:nvSpPr>
        <p:spPr>
          <a:xfrm>
            <a:off x="952500" y="2141290"/>
            <a:ext cx="476251" cy="243656"/>
          </a:xfrm>
          <a:prstGeom prst="rect">
            <a:avLst/>
          </a:prstGeom>
          <a:noFill/>
          <a:ln/>
        </p:spPr>
        <p:txBody>
          <a:bodyPr wrap="square" lIns="0" tIns="0" rIns="0" bIns="0" rtlCol="0" anchor="ctr">
            <a:spAutoFit/>
          </a:bodyPr>
          <a:lstStyle/>
          <a:p>
            <a:pPr algn="ctr">
              <a:lnSpc>
                <a:spcPts val="1867"/>
              </a:lnSpc>
            </a:pPr>
            <a:r>
              <a:rPr lang="en-US" sz="1600" b="1" dirty="0">
                <a:solidFill>
                  <a:srgbClr val="0066CC"/>
                </a:solidFill>
              </a:rPr>
              <a:t>1</a:t>
            </a:r>
            <a:endParaRPr lang="en-US" sz="1600" dirty="0"/>
          </a:p>
        </p:txBody>
      </p:sp>
      <p:sp>
        <p:nvSpPr>
          <p:cNvPr id="7" name="Text 4"/>
          <p:cNvSpPr/>
          <p:nvPr/>
        </p:nvSpPr>
        <p:spPr>
          <a:xfrm>
            <a:off x="1657351" y="2101194"/>
            <a:ext cx="9582151" cy="525465"/>
          </a:xfrm>
          <a:prstGeom prst="rect">
            <a:avLst/>
          </a:prstGeom>
          <a:noFill/>
          <a:ln/>
        </p:spPr>
        <p:txBody>
          <a:bodyPr wrap="square" lIns="0" tIns="0" rIns="0" bIns="0" rtlCol="0" anchor="t">
            <a:spAutoFit/>
          </a:bodyPr>
          <a:lstStyle/>
          <a:p>
            <a:pPr>
              <a:lnSpc>
                <a:spcPts val="2133"/>
              </a:lnSpc>
            </a:pPr>
            <a:r>
              <a:rPr lang="en-US" sz="1600" dirty="0">
                <a:solidFill>
                  <a:srgbClr val="333333"/>
                </a:solidFill>
              </a:rPr>
              <a:t>Understand the </a:t>
            </a:r>
            <a:r>
              <a:rPr lang="en-US" sz="1600" dirty="0"/>
              <a:t>core</a:t>
            </a:r>
            <a:r>
              <a:rPr lang="en-US" sz="1600" dirty="0">
                <a:solidFill>
                  <a:srgbClr val="333333"/>
                </a:solidFill>
              </a:rPr>
              <a:t> principles of Object-Oriented Programming (OOP) in Python, including encapsulation, abstraction, inheritance, and polymorphism</a:t>
            </a:r>
            <a:endParaRPr lang="en-US" sz="1600" dirty="0"/>
          </a:p>
        </p:txBody>
      </p:sp>
      <p:sp>
        <p:nvSpPr>
          <p:cNvPr id="8" name="Shape 5"/>
          <p:cNvSpPr/>
          <p:nvPr/>
        </p:nvSpPr>
        <p:spPr>
          <a:xfrm>
            <a:off x="952500" y="2954573"/>
            <a:ext cx="476251" cy="476251"/>
          </a:xfrm>
          <a:prstGeom prst="rect">
            <a:avLst/>
          </a:prstGeom>
          <a:solidFill>
            <a:srgbClr val="E8EEF5"/>
          </a:solidFill>
          <a:ln/>
        </p:spPr>
        <p:txBody>
          <a:bodyPr/>
          <a:lstStyle/>
          <a:p>
            <a:endParaRPr lang="en-US" sz="1600"/>
          </a:p>
        </p:txBody>
      </p:sp>
      <p:sp>
        <p:nvSpPr>
          <p:cNvPr id="9" name="Text 6"/>
          <p:cNvSpPr/>
          <p:nvPr/>
        </p:nvSpPr>
        <p:spPr>
          <a:xfrm>
            <a:off x="952500" y="3070870"/>
            <a:ext cx="476251" cy="243656"/>
          </a:xfrm>
          <a:prstGeom prst="rect">
            <a:avLst/>
          </a:prstGeom>
          <a:noFill/>
          <a:ln/>
        </p:spPr>
        <p:txBody>
          <a:bodyPr wrap="square" lIns="0" tIns="0" rIns="0" bIns="0" rtlCol="0" anchor="ctr">
            <a:spAutoFit/>
          </a:bodyPr>
          <a:lstStyle/>
          <a:p>
            <a:pPr algn="ctr">
              <a:lnSpc>
                <a:spcPts val="1867"/>
              </a:lnSpc>
            </a:pPr>
            <a:r>
              <a:rPr lang="en-US" sz="1600" b="1" dirty="0">
                <a:solidFill>
                  <a:srgbClr val="0066CC"/>
                </a:solidFill>
              </a:rPr>
              <a:t>2</a:t>
            </a:r>
            <a:endParaRPr lang="en-US" sz="1600" dirty="0"/>
          </a:p>
        </p:txBody>
      </p:sp>
      <p:sp>
        <p:nvSpPr>
          <p:cNvPr id="10" name="Text 7"/>
          <p:cNvSpPr/>
          <p:nvPr/>
        </p:nvSpPr>
        <p:spPr>
          <a:xfrm>
            <a:off x="1657351" y="3030774"/>
            <a:ext cx="9582151" cy="525465"/>
          </a:xfrm>
          <a:prstGeom prst="rect">
            <a:avLst/>
          </a:prstGeom>
          <a:noFill/>
          <a:ln/>
        </p:spPr>
        <p:txBody>
          <a:bodyPr wrap="square" lIns="0" tIns="0" rIns="0" bIns="0" rtlCol="0" anchor="t">
            <a:spAutoFit/>
          </a:bodyPr>
          <a:lstStyle/>
          <a:p>
            <a:pPr>
              <a:lnSpc>
                <a:spcPts val="2133"/>
              </a:lnSpc>
            </a:pPr>
            <a:r>
              <a:rPr lang="en-US" sz="1600" dirty="0">
                <a:solidFill>
                  <a:srgbClr val="333333"/>
                </a:solidFill>
              </a:rPr>
              <a:t>Identify objects and classes within the Multi-Domain Intelligence Platform project, distinguishing between entity classes and service classes</a:t>
            </a:r>
            <a:endParaRPr lang="en-US" sz="1600" dirty="0"/>
          </a:p>
        </p:txBody>
      </p:sp>
      <p:sp>
        <p:nvSpPr>
          <p:cNvPr id="11" name="Shape 8"/>
          <p:cNvSpPr/>
          <p:nvPr/>
        </p:nvSpPr>
        <p:spPr>
          <a:xfrm>
            <a:off x="952500" y="3884153"/>
            <a:ext cx="476251" cy="476251"/>
          </a:xfrm>
          <a:prstGeom prst="rect">
            <a:avLst/>
          </a:prstGeom>
          <a:solidFill>
            <a:srgbClr val="E8EEF5"/>
          </a:solidFill>
          <a:ln/>
        </p:spPr>
        <p:txBody>
          <a:bodyPr/>
          <a:lstStyle/>
          <a:p>
            <a:endParaRPr lang="en-US" sz="1600"/>
          </a:p>
        </p:txBody>
      </p:sp>
      <p:sp>
        <p:nvSpPr>
          <p:cNvPr id="12" name="Text 9"/>
          <p:cNvSpPr/>
          <p:nvPr/>
        </p:nvSpPr>
        <p:spPr>
          <a:xfrm>
            <a:off x="952500" y="4000450"/>
            <a:ext cx="476251" cy="243656"/>
          </a:xfrm>
          <a:prstGeom prst="rect">
            <a:avLst/>
          </a:prstGeom>
          <a:noFill/>
          <a:ln/>
        </p:spPr>
        <p:txBody>
          <a:bodyPr wrap="square" lIns="0" tIns="0" rIns="0" bIns="0" rtlCol="0" anchor="ctr">
            <a:spAutoFit/>
          </a:bodyPr>
          <a:lstStyle/>
          <a:p>
            <a:pPr algn="ctr">
              <a:lnSpc>
                <a:spcPts val="1867"/>
              </a:lnSpc>
            </a:pPr>
            <a:r>
              <a:rPr lang="en-US" sz="1600" b="1" dirty="0">
                <a:solidFill>
                  <a:srgbClr val="0066CC"/>
                </a:solidFill>
              </a:rPr>
              <a:t>3</a:t>
            </a:r>
            <a:endParaRPr lang="en-US" sz="1600" dirty="0"/>
          </a:p>
        </p:txBody>
      </p:sp>
      <p:sp>
        <p:nvSpPr>
          <p:cNvPr id="13" name="Text 10"/>
          <p:cNvSpPr/>
          <p:nvPr/>
        </p:nvSpPr>
        <p:spPr>
          <a:xfrm>
            <a:off x="1657351" y="3960353"/>
            <a:ext cx="9806980" cy="256160"/>
          </a:xfrm>
          <a:prstGeom prst="rect">
            <a:avLst/>
          </a:prstGeom>
          <a:noFill/>
          <a:ln/>
        </p:spPr>
        <p:txBody>
          <a:bodyPr wrap="none" lIns="0" tIns="0" rIns="0" bIns="0" rtlCol="0" anchor="t">
            <a:spAutoFit/>
          </a:bodyPr>
          <a:lstStyle/>
          <a:p>
            <a:pPr>
              <a:lnSpc>
                <a:spcPts val="2133"/>
              </a:lnSpc>
            </a:pPr>
            <a:r>
              <a:rPr lang="en-US" sz="1600" dirty="0">
                <a:solidFill>
                  <a:srgbClr val="333333"/>
                </a:solidFill>
              </a:rPr>
              <a:t>Create UML class diagrams to visualize the software architecture, showing class attributes, methods, and relationships</a:t>
            </a:r>
            <a:endParaRPr lang="en-US" sz="1600" dirty="0"/>
          </a:p>
        </p:txBody>
      </p:sp>
      <p:sp>
        <p:nvSpPr>
          <p:cNvPr id="14" name="Shape 11"/>
          <p:cNvSpPr/>
          <p:nvPr/>
        </p:nvSpPr>
        <p:spPr>
          <a:xfrm>
            <a:off x="952500" y="4665204"/>
            <a:ext cx="476251" cy="476251"/>
          </a:xfrm>
          <a:prstGeom prst="rect">
            <a:avLst/>
          </a:prstGeom>
          <a:solidFill>
            <a:srgbClr val="E8EEF5"/>
          </a:solidFill>
          <a:ln/>
        </p:spPr>
        <p:txBody>
          <a:bodyPr/>
          <a:lstStyle/>
          <a:p>
            <a:endParaRPr lang="en-US" sz="1600"/>
          </a:p>
        </p:txBody>
      </p:sp>
      <p:sp>
        <p:nvSpPr>
          <p:cNvPr id="15" name="Text 12"/>
          <p:cNvSpPr/>
          <p:nvPr/>
        </p:nvSpPr>
        <p:spPr>
          <a:xfrm>
            <a:off x="952500" y="4781501"/>
            <a:ext cx="476251" cy="243656"/>
          </a:xfrm>
          <a:prstGeom prst="rect">
            <a:avLst/>
          </a:prstGeom>
          <a:noFill/>
          <a:ln/>
        </p:spPr>
        <p:txBody>
          <a:bodyPr wrap="square" lIns="0" tIns="0" rIns="0" bIns="0" rtlCol="0" anchor="ctr">
            <a:spAutoFit/>
          </a:bodyPr>
          <a:lstStyle/>
          <a:p>
            <a:pPr algn="ctr">
              <a:lnSpc>
                <a:spcPts val="1867"/>
              </a:lnSpc>
            </a:pPr>
            <a:r>
              <a:rPr lang="en-US" sz="1600" b="1" dirty="0">
                <a:solidFill>
                  <a:srgbClr val="0066CC"/>
                </a:solidFill>
              </a:rPr>
              <a:t>4</a:t>
            </a:r>
            <a:endParaRPr lang="en-US" sz="1600" dirty="0"/>
          </a:p>
        </p:txBody>
      </p:sp>
      <p:sp>
        <p:nvSpPr>
          <p:cNvPr id="16" name="Text 13"/>
          <p:cNvSpPr/>
          <p:nvPr/>
        </p:nvSpPr>
        <p:spPr>
          <a:xfrm>
            <a:off x="1657351" y="4741405"/>
            <a:ext cx="9582151" cy="525465"/>
          </a:xfrm>
          <a:prstGeom prst="rect">
            <a:avLst/>
          </a:prstGeom>
          <a:noFill/>
          <a:ln/>
        </p:spPr>
        <p:txBody>
          <a:bodyPr wrap="square" lIns="0" tIns="0" rIns="0" bIns="0" rtlCol="0" anchor="t">
            <a:spAutoFit/>
          </a:bodyPr>
          <a:lstStyle/>
          <a:p>
            <a:pPr>
              <a:lnSpc>
                <a:spcPts val="2133"/>
              </a:lnSpc>
            </a:pPr>
            <a:r>
              <a:rPr lang="en-US" sz="1600" dirty="0">
                <a:solidFill>
                  <a:srgbClr val="333333"/>
                </a:solidFill>
              </a:rPr>
              <a:t>Refactor procedural code from previous implementation into clean, maintainable object-oriented structure following best practices</a:t>
            </a:r>
            <a:endParaRPr lang="en-US" sz="1600" dirty="0"/>
          </a:p>
        </p:txBody>
      </p:sp>
      <p:sp>
        <p:nvSpPr>
          <p:cNvPr id="17" name="Shape 14"/>
          <p:cNvSpPr/>
          <p:nvPr/>
        </p:nvSpPr>
        <p:spPr>
          <a:xfrm>
            <a:off x="952500" y="5594784"/>
            <a:ext cx="476251" cy="476251"/>
          </a:xfrm>
          <a:prstGeom prst="rect">
            <a:avLst/>
          </a:prstGeom>
          <a:solidFill>
            <a:srgbClr val="E8EEF5"/>
          </a:solidFill>
          <a:ln/>
        </p:spPr>
        <p:txBody>
          <a:bodyPr/>
          <a:lstStyle/>
          <a:p>
            <a:endParaRPr lang="en-US" sz="1600"/>
          </a:p>
        </p:txBody>
      </p:sp>
      <p:sp>
        <p:nvSpPr>
          <p:cNvPr id="18" name="Text 15"/>
          <p:cNvSpPr/>
          <p:nvPr/>
        </p:nvSpPr>
        <p:spPr>
          <a:xfrm>
            <a:off x="952500" y="5711081"/>
            <a:ext cx="476251" cy="243656"/>
          </a:xfrm>
          <a:prstGeom prst="rect">
            <a:avLst/>
          </a:prstGeom>
          <a:noFill/>
          <a:ln/>
        </p:spPr>
        <p:txBody>
          <a:bodyPr wrap="square" lIns="0" tIns="0" rIns="0" bIns="0" rtlCol="0" anchor="ctr">
            <a:spAutoFit/>
          </a:bodyPr>
          <a:lstStyle/>
          <a:p>
            <a:pPr algn="ctr">
              <a:lnSpc>
                <a:spcPts val="1867"/>
              </a:lnSpc>
            </a:pPr>
            <a:r>
              <a:rPr lang="en-US" sz="1600" b="1" dirty="0">
                <a:solidFill>
                  <a:srgbClr val="0066CC"/>
                </a:solidFill>
              </a:rPr>
              <a:t>5</a:t>
            </a:r>
            <a:endParaRPr lang="en-US" sz="1600" dirty="0"/>
          </a:p>
        </p:txBody>
      </p:sp>
      <p:sp>
        <p:nvSpPr>
          <p:cNvPr id="19" name="Text 16"/>
          <p:cNvSpPr/>
          <p:nvPr/>
        </p:nvSpPr>
        <p:spPr>
          <a:xfrm>
            <a:off x="1657351" y="5670985"/>
            <a:ext cx="9582151" cy="525465"/>
          </a:xfrm>
          <a:prstGeom prst="rect">
            <a:avLst/>
          </a:prstGeom>
          <a:noFill/>
          <a:ln/>
        </p:spPr>
        <p:txBody>
          <a:bodyPr wrap="square" lIns="0" tIns="0" rIns="0" bIns="0" rtlCol="0" anchor="t">
            <a:spAutoFit/>
          </a:bodyPr>
          <a:lstStyle/>
          <a:p>
            <a:pPr>
              <a:lnSpc>
                <a:spcPts val="2133"/>
              </a:lnSpc>
            </a:pPr>
            <a:r>
              <a:rPr lang="en-US" sz="1600" dirty="0">
                <a:solidFill>
                  <a:srgbClr val="333333"/>
                </a:solidFill>
              </a:rPr>
              <a:t>Prepare the final project for submission with comprehensive documentation, including README, code comments, and technical report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906555"/>
          </a:xfrm>
          <a:prstGeom prst="rect">
            <a:avLst/>
          </a:prstGeom>
        </p:spPr>
      </p:pic>
      <p:sp>
        <p:nvSpPr>
          <p:cNvPr id="4" name="Text 1"/>
          <p:cNvSpPr/>
          <p:nvPr/>
        </p:nvSpPr>
        <p:spPr>
          <a:xfrm>
            <a:off x="952500" y="1057275"/>
            <a:ext cx="4486356" cy="370486"/>
          </a:xfrm>
          <a:prstGeom prst="rect">
            <a:avLst/>
          </a:prstGeom>
          <a:noFill/>
          <a:ln/>
        </p:spPr>
        <p:txBody>
          <a:bodyPr wrap="none" lIns="0" tIns="0" rIns="0" bIns="0" rtlCol="0" anchor="t">
            <a:spAutoFit/>
          </a:bodyPr>
          <a:lstStyle/>
          <a:p>
            <a:pPr>
              <a:lnSpc>
                <a:spcPts val="3067"/>
              </a:lnSpc>
            </a:pPr>
            <a:r>
              <a:rPr lang="en-US" sz="2136" b="1" dirty="0">
                <a:solidFill>
                  <a:srgbClr val="1A1A2E"/>
                </a:solidFill>
              </a:rPr>
              <a:t>What is Object-Oriented Programming?</a:t>
            </a:r>
            <a:endParaRPr lang="en-US" sz="2136" dirty="0"/>
          </a:p>
        </p:txBody>
      </p:sp>
      <p:sp>
        <p:nvSpPr>
          <p:cNvPr id="5" name="Shape 2"/>
          <p:cNvSpPr/>
          <p:nvPr/>
        </p:nvSpPr>
        <p:spPr>
          <a:xfrm>
            <a:off x="952500" y="1758294"/>
            <a:ext cx="10287000" cy="952500"/>
          </a:xfrm>
          <a:prstGeom prst="rect">
            <a:avLst/>
          </a:prstGeom>
          <a:solidFill>
            <a:srgbClr val="E8EEF5"/>
          </a:solidFill>
          <a:ln/>
        </p:spPr>
        <p:txBody>
          <a:bodyPr/>
          <a:lstStyle/>
          <a:p>
            <a:endParaRPr lang="en-US" sz="2400"/>
          </a:p>
        </p:txBody>
      </p:sp>
      <p:sp>
        <p:nvSpPr>
          <p:cNvPr id="6" name="Text 3"/>
          <p:cNvSpPr/>
          <p:nvPr/>
        </p:nvSpPr>
        <p:spPr>
          <a:xfrm>
            <a:off x="1257300" y="1986893"/>
            <a:ext cx="9677400" cy="558679"/>
          </a:xfrm>
          <a:prstGeom prst="rect">
            <a:avLst/>
          </a:prstGeom>
          <a:noFill/>
          <a:ln/>
        </p:spPr>
        <p:txBody>
          <a:bodyPr wrap="square" lIns="0" tIns="0" rIns="0" bIns="0" rtlCol="0" anchor="t">
            <a:spAutoFit/>
          </a:bodyPr>
          <a:lstStyle/>
          <a:p>
            <a:pPr>
              <a:lnSpc>
                <a:spcPts val="2267"/>
              </a:lnSpc>
            </a:pPr>
            <a:r>
              <a:rPr lang="en-US" sz="1256" dirty="0">
                <a:solidFill>
                  <a:srgbClr val="1A1A2E"/>
                </a:solidFill>
              </a:rPr>
              <a:t>Object-Oriented Programming (OOP) is a programming paradigm that organizes software design around </a:t>
            </a:r>
            <a:r>
              <a:rPr lang="en-US" sz="1180" b="1" dirty="0">
                <a:solidFill>
                  <a:srgbClr val="1A1A2E"/>
                </a:solidFill>
              </a:rPr>
              <a:t>objects</a:t>
            </a:r>
            <a:r>
              <a:rPr lang="en-US" sz="1256" dirty="0">
                <a:solidFill>
                  <a:srgbClr val="1A1A2E"/>
                </a:solidFill>
              </a:rPr>
              <a:t> (data and behavior bundled together) rather than functions and logic. It models real-world entities and their interactions.</a:t>
            </a:r>
            <a:endParaRPr lang="en-US" sz="1256" dirty="0"/>
          </a:p>
        </p:txBody>
      </p:sp>
      <p:sp>
        <p:nvSpPr>
          <p:cNvPr id="7" name="Shape 4"/>
          <p:cNvSpPr/>
          <p:nvPr/>
        </p:nvSpPr>
        <p:spPr>
          <a:xfrm>
            <a:off x="952500" y="3091793"/>
            <a:ext cx="4953000" cy="1905000"/>
          </a:xfrm>
          <a:prstGeom prst="rect">
            <a:avLst/>
          </a:prstGeom>
          <a:solidFill>
            <a:srgbClr val="FFFFFF"/>
          </a:solidFill>
          <a:ln/>
        </p:spPr>
        <p:txBody>
          <a:bodyPr/>
          <a:lstStyle/>
          <a:p>
            <a:endParaRPr lang="en-US" sz="2400"/>
          </a:p>
        </p:txBody>
      </p:sp>
      <p:sp>
        <p:nvSpPr>
          <p:cNvPr id="8" name="Text 5"/>
          <p:cNvSpPr/>
          <p:nvPr/>
        </p:nvSpPr>
        <p:spPr>
          <a:xfrm>
            <a:off x="1219201" y="3320394"/>
            <a:ext cx="1577355"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Procedural Programming</a:t>
            </a:r>
            <a:endParaRPr lang="en-US" sz="1180" dirty="0"/>
          </a:p>
        </p:txBody>
      </p:sp>
      <p:sp>
        <p:nvSpPr>
          <p:cNvPr id="9" name="Text 6"/>
          <p:cNvSpPr/>
          <p:nvPr/>
        </p:nvSpPr>
        <p:spPr>
          <a:xfrm>
            <a:off x="1219200" y="3706155"/>
            <a:ext cx="4419600" cy="461601"/>
          </a:xfrm>
          <a:prstGeom prst="rect">
            <a:avLst/>
          </a:prstGeom>
          <a:noFill/>
          <a:ln/>
        </p:spPr>
        <p:txBody>
          <a:bodyPr wrap="square" lIns="0" tIns="0" rIns="0" bIns="0" rtlCol="0" anchor="t">
            <a:spAutoFit/>
          </a:bodyPr>
          <a:lstStyle/>
          <a:p>
            <a:pPr>
              <a:lnSpc>
                <a:spcPts val="1867"/>
              </a:lnSpc>
            </a:pPr>
            <a:r>
              <a:rPr lang="en-US" sz="1040" dirty="0">
                <a:solidFill>
                  <a:srgbClr val="333333"/>
                </a:solidFill>
              </a:rPr>
              <a:t>Code is organized as a sequence of functions that operate on data. Data and behavior are separate.</a:t>
            </a:r>
            <a:endParaRPr lang="en-US" sz="1040" dirty="0"/>
          </a:p>
        </p:txBody>
      </p:sp>
      <p:sp>
        <p:nvSpPr>
          <p:cNvPr id="10" name="Text 7"/>
          <p:cNvSpPr/>
          <p:nvPr/>
        </p:nvSpPr>
        <p:spPr>
          <a:xfrm>
            <a:off x="1219200" y="4315755"/>
            <a:ext cx="4419600" cy="391839"/>
          </a:xfrm>
          <a:prstGeom prst="rect">
            <a:avLst/>
          </a:prstGeom>
          <a:noFill/>
          <a:ln/>
        </p:spPr>
        <p:txBody>
          <a:bodyPr wrap="square" lIns="0" tIns="0" rIns="0" bIns="0" rtlCol="0" anchor="t">
            <a:spAutoFit/>
          </a:bodyPr>
          <a:lstStyle/>
          <a:p>
            <a:pPr>
              <a:lnSpc>
                <a:spcPts val="1600"/>
              </a:lnSpc>
            </a:pPr>
            <a:r>
              <a:rPr lang="en-US" sz="969" i="1" dirty="0">
                <a:solidFill>
                  <a:srgbClr val="666666"/>
                </a:solidFill>
              </a:rPr>
              <a:t>Example: Functions like register_user(), login_user(), get_incidents() that manipulate data stored in variables or files.</a:t>
            </a:r>
            <a:endParaRPr lang="en-US" sz="969" dirty="0"/>
          </a:p>
        </p:txBody>
      </p:sp>
      <p:sp>
        <p:nvSpPr>
          <p:cNvPr id="11" name="Shape 8"/>
          <p:cNvSpPr/>
          <p:nvPr/>
        </p:nvSpPr>
        <p:spPr>
          <a:xfrm>
            <a:off x="6286500" y="3091793"/>
            <a:ext cx="4953000" cy="1905000"/>
          </a:xfrm>
          <a:prstGeom prst="rect">
            <a:avLst/>
          </a:prstGeom>
          <a:solidFill>
            <a:srgbClr val="FFFFFF"/>
          </a:solidFill>
          <a:ln/>
        </p:spPr>
        <p:txBody>
          <a:bodyPr/>
          <a:lstStyle/>
          <a:p>
            <a:endParaRPr lang="en-US" sz="2400"/>
          </a:p>
        </p:txBody>
      </p:sp>
      <p:sp>
        <p:nvSpPr>
          <p:cNvPr id="12" name="Text 9"/>
          <p:cNvSpPr/>
          <p:nvPr/>
        </p:nvSpPr>
        <p:spPr>
          <a:xfrm>
            <a:off x="6553200" y="3320394"/>
            <a:ext cx="1917192"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Object-Oriented Programming</a:t>
            </a:r>
            <a:endParaRPr lang="en-US" sz="1180" dirty="0"/>
          </a:p>
        </p:txBody>
      </p:sp>
      <p:sp>
        <p:nvSpPr>
          <p:cNvPr id="13" name="Text 10"/>
          <p:cNvSpPr/>
          <p:nvPr/>
        </p:nvSpPr>
        <p:spPr>
          <a:xfrm>
            <a:off x="6553200" y="3706155"/>
            <a:ext cx="4419600" cy="461601"/>
          </a:xfrm>
          <a:prstGeom prst="rect">
            <a:avLst/>
          </a:prstGeom>
          <a:noFill/>
          <a:ln/>
        </p:spPr>
        <p:txBody>
          <a:bodyPr wrap="square" lIns="0" tIns="0" rIns="0" bIns="0" rtlCol="0" anchor="t">
            <a:spAutoFit/>
          </a:bodyPr>
          <a:lstStyle/>
          <a:p>
            <a:pPr>
              <a:lnSpc>
                <a:spcPts val="1867"/>
              </a:lnSpc>
            </a:pPr>
            <a:r>
              <a:rPr lang="en-US" sz="1040" dirty="0">
                <a:solidFill>
                  <a:srgbClr val="333333"/>
                </a:solidFill>
              </a:rPr>
              <a:t>Code is organized around objects that combine data (attributes) and behavior (methods) into cohesive units.</a:t>
            </a:r>
            <a:endParaRPr lang="en-US" sz="1040" dirty="0"/>
          </a:p>
        </p:txBody>
      </p:sp>
      <p:sp>
        <p:nvSpPr>
          <p:cNvPr id="14" name="Text 11"/>
          <p:cNvSpPr/>
          <p:nvPr/>
        </p:nvSpPr>
        <p:spPr>
          <a:xfrm>
            <a:off x="6553200" y="4315755"/>
            <a:ext cx="4419600" cy="391839"/>
          </a:xfrm>
          <a:prstGeom prst="rect">
            <a:avLst/>
          </a:prstGeom>
          <a:noFill/>
          <a:ln/>
        </p:spPr>
        <p:txBody>
          <a:bodyPr wrap="square" lIns="0" tIns="0" rIns="0" bIns="0" rtlCol="0" anchor="t">
            <a:spAutoFit/>
          </a:bodyPr>
          <a:lstStyle/>
          <a:p>
            <a:pPr>
              <a:lnSpc>
                <a:spcPts val="1600"/>
              </a:lnSpc>
            </a:pPr>
            <a:r>
              <a:rPr lang="en-US" sz="969" i="1" dirty="0">
                <a:solidFill>
                  <a:srgbClr val="666666"/>
                </a:solidFill>
              </a:rPr>
              <a:t>Example: A User object with attributes (username, password_hash) and methods (verify_password(), get_role()).</a:t>
            </a:r>
            <a:endParaRPr lang="en-US" sz="969" dirty="0"/>
          </a:p>
        </p:txBody>
      </p:sp>
      <p:sp>
        <p:nvSpPr>
          <p:cNvPr id="15" name="Text 12"/>
          <p:cNvSpPr/>
          <p:nvPr/>
        </p:nvSpPr>
        <p:spPr>
          <a:xfrm>
            <a:off x="952500" y="5377794"/>
            <a:ext cx="952184"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Why Use OOP?</a:t>
            </a:r>
            <a:endParaRPr lang="en-US" sz="1180" dirty="0"/>
          </a:p>
        </p:txBody>
      </p:sp>
      <p:sp>
        <p:nvSpPr>
          <p:cNvPr id="16" name="Shape 13"/>
          <p:cNvSpPr/>
          <p:nvPr/>
        </p:nvSpPr>
        <p:spPr>
          <a:xfrm>
            <a:off x="952500" y="5801655"/>
            <a:ext cx="304800" cy="304800"/>
          </a:xfrm>
          <a:prstGeom prst="rect">
            <a:avLst/>
          </a:prstGeom>
          <a:solidFill>
            <a:srgbClr val="E8EEF5"/>
          </a:solidFill>
          <a:ln/>
        </p:spPr>
        <p:txBody>
          <a:bodyPr/>
          <a:lstStyle/>
          <a:p>
            <a:endParaRPr lang="en-US" sz="2400"/>
          </a:p>
        </p:txBody>
      </p:sp>
      <p:pic>
        <p:nvPicPr>
          <p:cNvPr id="17" name="Image 1" descr="preencoded.png"/>
          <p:cNvPicPr>
            <a:picLocks noChangeAspect="1"/>
          </p:cNvPicPr>
          <p:nvPr/>
        </p:nvPicPr>
        <p:blipFill>
          <a:blip r:embed="rId4"/>
          <a:stretch>
            <a:fillRect/>
          </a:stretch>
        </p:blipFill>
        <p:spPr>
          <a:xfrm>
            <a:off x="1038226" y="5887381"/>
            <a:ext cx="133351" cy="133351"/>
          </a:xfrm>
          <a:prstGeom prst="rect">
            <a:avLst/>
          </a:prstGeom>
        </p:spPr>
      </p:pic>
      <p:sp>
        <p:nvSpPr>
          <p:cNvPr id="18" name="Text 14"/>
          <p:cNvSpPr/>
          <p:nvPr/>
        </p:nvSpPr>
        <p:spPr>
          <a:xfrm>
            <a:off x="1371601" y="5801655"/>
            <a:ext cx="2857500" cy="437663"/>
          </a:xfrm>
          <a:prstGeom prst="rect">
            <a:avLst/>
          </a:prstGeom>
          <a:noFill/>
          <a:ln/>
        </p:spPr>
        <p:txBody>
          <a:bodyPr wrap="square" lIns="0" tIns="45381" rIns="0" bIns="0" rtlCol="0" anchor="t">
            <a:spAutoFit/>
          </a:bodyPr>
          <a:lstStyle/>
          <a:p>
            <a:pPr>
              <a:lnSpc>
                <a:spcPts val="1600"/>
              </a:lnSpc>
            </a:pPr>
            <a:r>
              <a:rPr lang="en-US" sz="911" b="1" dirty="0">
                <a:solidFill>
                  <a:srgbClr val="333333"/>
                </a:solidFill>
              </a:rPr>
              <a:t>Better Organization:</a:t>
            </a:r>
            <a:r>
              <a:rPr lang="en-US" sz="969" dirty="0">
                <a:solidFill>
                  <a:srgbClr val="333333"/>
                </a:solidFill>
              </a:rPr>
              <a:t> Related data and behavior grouped together</a:t>
            </a:r>
            <a:endParaRPr lang="en-US" sz="911" dirty="0"/>
          </a:p>
        </p:txBody>
      </p:sp>
      <p:sp>
        <p:nvSpPr>
          <p:cNvPr id="19" name="Shape 15"/>
          <p:cNvSpPr/>
          <p:nvPr/>
        </p:nvSpPr>
        <p:spPr>
          <a:xfrm>
            <a:off x="4457700" y="5801655"/>
            <a:ext cx="304800" cy="304800"/>
          </a:xfrm>
          <a:prstGeom prst="rect">
            <a:avLst/>
          </a:prstGeom>
          <a:solidFill>
            <a:srgbClr val="E8EEF5"/>
          </a:solidFill>
          <a:ln/>
        </p:spPr>
        <p:txBody>
          <a:bodyPr/>
          <a:lstStyle/>
          <a:p>
            <a:endParaRPr lang="en-US" sz="2400"/>
          </a:p>
        </p:txBody>
      </p:sp>
      <p:pic>
        <p:nvPicPr>
          <p:cNvPr id="20" name="Image 2" descr="preencoded.png"/>
          <p:cNvPicPr>
            <a:picLocks noChangeAspect="1"/>
          </p:cNvPicPr>
          <p:nvPr/>
        </p:nvPicPr>
        <p:blipFill>
          <a:blip r:embed="rId5"/>
          <a:stretch>
            <a:fillRect/>
          </a:stretch>
        </p:blipFill>
        <p:spPr>
          <a:xfrm>
            <a:off x="4543426" y="5887381"/>
            <a:ext cx="133351" cy="133351"/>
          </a:xfrm>
          <a:prstGeom prst="rect">
            <a:avLst/>
          </a:prstGeom>
        </p:spPr>
      </p:pic>
      <p:sp>
        <p:nvSpPr>
          <p:cNvPr id="21" name="Text 16"/>
          <p:cNvSpPr/>
          <p:nvPr/>
        </p:nvSpPr>
        <p:spPr>
          <a:xfrm>
            <a:off x="4876801" y="5801655"/>
            <a:ext cx="2857500" cy="232478"/>
          </a:xfrm>
          <a:prstGeom prst="rect">
            <a:avLst/>
          </a:prstGeom>
          <a:noFill/>
          <a:ln/>
        </p:spPr>
        <p:txBody>
          <a:bodyPr wrap="square" lIns="0" tIns="45381" rIns="0" bIns="0" rtlCol="0" anchor="t">
            <a:spAutoFit/>
          </a:bodyPr>
          <a:lstStyle/>
          <a:p>
            <a:pPr>
              <a:lnSpc>
                <a:spcPts val="1600"/>
              </a:lnSpc>
            </a:pPr>
            <a:r>
              <a:rPr lang="en-US" sz="911" b="1" dirty="0">
                <a:solidFill>
                  <a:srgbClr val="333333"/>
                </a:solidFill>
              </a:rPr>
              <a:t>Code Reusability:</a:t>
            </a:r>
            <a:r>
              <a:rPr lang="en-US" sz="969" dirty="0">
                <a:solidFill>
                  <a:srgbClr val="333333"/>
                </a:solidFill>
              </a:rPr>
              <a:t> Classes can be reused across projects</a:t>
            </a:r>
            <a:endParaRPr lang="en-US" sz="911" dirty="0"/>
          </a:p>
        </p:txBody>
      </p:sp>
      <p:sp>
        <p:nvSpPr>
          <p:cNvPr id="22" name="Shape 17"/>
          <p:cNvSpPr/>
          <p:nvPr/>
        </p:nvSpPr>
        <p:spPr>
          <a:xfrm>
            <a:off x="7962900" y="5801655"/>
            <a:ext cx="304800" cy="304800"/>
          </a:xfrm>
          <a:prstGeom prst="rect">
            <a:avLst/>
          </a:prstGeom>
          <a:solidFill>
            <a:srgbClr val="E8EEF5"/>
          </a:solidFill>
          <a:ln/>
        </p:spPr>
        <p:txBody>
          <a:bodyPr/>
          <a:lstStyle/>
          <a:p>
            <a:endParaRPr lang="en-US" sz="2400"/>
          </a:p>
        </p:txBody>
      </p:sp>
      <p:pic>
        <p:nvPicPr>
          <p:cNvPr id="23" name="Image 3" descr="preencoded.png"/>
          <p:cNvPicPr>
            <a:picLocks noChangeAspect="1"/>
          </p:cNvPicPr>
          <p:nvPr/>
        </p:nvPicPr>
        <p:blipFill>
          <a:blip r:embed="rId6"/>
          <a:stretch>
            <a:fillRect/>
          </a:stretch>
        </p:blipFill>
        <p:spPr>
          <a:xfrm>
            <a:off x="8048626" y="5887381"/>
            <a:ext cx="133351" cy="133351"/>
          </a:xfrm>
          <a:prstGeom prst="rect">
            <a:avLst/>
          </a:prstGeom>
        </p:spPr>
      </p:pic>
      <p:sp>
        <p:nvSpPr>
          <p:cNvPr id="24" name="Text 18"/>
          <p:cNvSpPr/>
          <p:nvPr/>
        </p:nvSpPr>
        <p:spPr>
          <a:xfrm>
            <a:off x="8382001" y="5801655"/>
            <a:ext cx="2857500" cy="232478"/>
          </a:xfrm>
          <a:prstGeom prst="rect">
            <a:avLst/>
          </a:prstGeom>
          <a:noFill/>
          <a:ln/>
        </p:spPr>
        <p:txBody>
          <a:bodyPr wrap="square" lIns="0" tIns="45381" rIns="0" bIns="0" rtlCol="0" anchor="t">
            <a:spAutoFit/>
          </a:bodyPr>
          <a:lstStyle/>
          <a:p>
            <a:pPr>
              <a:lnSpc>
                <a:spcPts val="1600"/>
              </a:lnSpc>
            </a:pPr>
            <a:r>
              <a:rPr lang="en-US" sz="911" b="1" dirty="0">
                <a:solidFill>
                  <a:srgbClr val="333333"/>
                </a:solidFill>
              </a:rPr>
              <a:t>Easier Maintenance:</a:t>
            </a:r>
            <a:r>
              <a:rPr lang="en-US" sz="969" dirty="0">
                <a:solidFill>
                  <a:srgbClr val="333333"/>
                </a:solidFill>
              </a:rPr>
              <a:t> Changes localized to specific classes</a:t>
            </a:r>
            <a:endParaRPr lang="en-US" sz="911" dirty="0"/>
          </a:p>
        </p:txBody>
      </p:sp>
      <p:sp>
        <p:nvSpPr>
          <p:cNvPr id="25" name="Shape 19"/>
          <p:cNvSpPr/>
          <p:nvPr/>
        </p:nvSpPr>
        <p:spPr>
          <a:xfrm>
            <a:off x="952500" y="6468405"/>
            <a:ext cx="304800" cy="304800"/>
          </a:xfrm>
          <a:prstGeom prst="rect">
            <a:avLst/>
          </a:prstGeom>
          <a:solidFill>
            <a:srgbClr val="E8EEF5"/>
          </a:solidFill>
          <a:ln/>
        </p:spPr>
        <p:txBody>
          <a:bodyPr/>
          <a:lstStyle/>
          <a:p>
            <a:endParaRPr lang="en-US" sz="2400"/>
          </a:p>
        </p:txBody>
      </p:sp>
      <p:pic>
        <p:nvPicPr>
          <p:cNvPr id="26" name="Image 4" descr="preencoded.png"/>
          <p:cNvPicPr>
            <a:picLocks noChangeAspect="1"/>
          </p:cNvPicPr>
          <p:nvPr/>
        </p:nvPicPr>
        <p:blipFill>
          <a:blip r:embed="rId7"/>
          <a:stretch>
            <a:fillRect/>
          </a:stretch>
        </p:blipFill>
        <p:spPr>
          <a:xfrm>
            <a:off x="1038226" y="6554131"/>
            <a:ext cx="133351" cy="133351"/>
          </a:xfrm>
          <a:prstGeom prst="rect">
            <a:avLst/>
          </a:prstGeom>
        </p:spPr>
      </p:pic>
      <p:sp>
        <p:nvSpPr>
          <p:cNvPr id="27" name="Text 20"/>
          <p:cNvSpPr/>
          <p:nvPr/>
        </p:nvSpPr>
        <p:spPr>
          <a:xfrm>
            <a:off x="1371601" y="6468406"/>
            <a:ext cx="2857500" cy="437663"/>
          </a:xfrm>
          <a:prstGeom prst="rect">
            <a:avLst/>
          </a:prstGeom>
          <a:noFill/>
          <a:ln/>
        </p:spPr>
        <p:txBody>
          <a:bodyPr wrap="square" lIns="0" tIns="45381" rIns="0" bIns="0" rtlCol="0" anchor="t">
            <a:spAutoFit/>
          </a:bodyPr>
          <a:lstStyle/>
          <a:p>
            <a:pPr>
              <a:lnSpc>
                <a:spcPts val="1600"/>
              </a:lnSpc>
            </a:pPr>
            <a:r>
              <a:rPr lang="en-US" sz="911" b="1" dirty="0">
                <a:solidFill>
                  <a:srgbClr val="333333"/>
                </a:solidFill>
              </a:rPr>
              <a:t>Encapsulation:</a:t>
            </a:r>
            <a:r>
              <a:rPr lang="en-US" sz="969" dirty="0">
                <a:solidFill>
                  <a:srgbClr val="333333"/>
                </a:solidFill>
              </a:rPr>
              <a:t> Hide internal details, expose only necessary interfaces</a:t>
            </a:r>
            <a:endParaRPr lang="en-US" sz="911" dirty="0"/>
          </a:p>
        </p:txBody>
      </p:sp>
      <p:sp>
        <p:nvSpPr>
          <p:cNvPr id="28" name="Shape 21"/>
          <p:cNvSpPr/>
          <p:nvPr/>
        </p:nvSpPr>
        <p:spPr>
          <a:xfrm>
            <a:off x="4457700" y="6468405"/>
            <a:ext cx="304800" cy="304800"/>
          </a:xfrm>
          <a:prstGeom prst="rect">
            <a:avLst/>
          </a:prstGeom>
          <a:solidFill>
            <a:srgbClr val="E8EEF5"/>
          </a:solidFill>
          <a:ln/>
        </p:spPr>
        <p:txBody>
          <a:bodyPr/>
          <a:lstStyle/>
          <a:p>
            <a:endParaRPr lang="en-US" sz="2400"/>
          </a:p>
        </p:txBody>
      </p:sp>
      <p:pic>
        <p:nvPicPr>
          <p:cNvPr id="29" name="Image 5" descr="preencoded.png"/>
          <p:cNvPicPr>
            <a:picLocks noChangeAspect="1"/>
          </p:cNvPicPr>
          <p:nvPr/>
        </p:nvPicPr>
        <p:blipFill>
          <a:blip r:embed="rId8"/>
          <a:stretch>
            <a:fillRect/>
          </a:stretch>
        </p:blipFill>
        <p:spPr>
          <a:xfrm>
            <a:off x="4535091" y="6554131"/>
            <a:ext cx="150019" cy="133351"/>
          </a:xfrm>
          <a:prstGeom prst="rect">
            <a:avLst/>
          </a:prstGeom>
        </p:spPr>
      </p:pic>
      <p:sp>
        <p:nvSpPr>
          <p:cNvPr id="30" name="Text 22"/>
          <p:cNvSpPr/>
          <p:nvPr/>
        </p:nvSpPr>
        <p:spPr>
          <a:xfrm>
            <a:off x="4876801" y="6468406"/>
            <a:ext cx="2857500" cy="437663"/>
          </a:xfrm>
          <a:prstGeom prst="rect">
            <a:avLst/>
          </a:prstGeom>
          <a:noFill/>
          <a:ln/>
        </p:spPr>
        <p:txBody>
          <a:bodyPr wrap="square" lIns="0" tIns="45381" rIns="0" bIns="0" rtlCol="0" anchor="t">
            <a:spAutoFit/>
          </a:bodyPr>
          <a:lstStyle/>
          <a:p>
            <a:pPr>
              <a:lnSpc>
                <a:spcPts val="1600"/>
              </a:lnSpc>
            </a:pPr>
            <a:r>
              <a:rPr lang="en-US" sz="911" b="1" dirty="0">
                <a:solidFill>
                  <a:srgbClr val="333333"/>
                </a:solidFill>
              </a:rPr>
              <a:t>Real-World Modeling:</a:t>
            </a:r>
            <a:r>
              <a:rPr lang="en-US" sz="969" dirty="0">
                <a:solidFill>
                  <a:srgbClr val="333333"/>
                </a:solidFill>
              </a:rPr>
              <a:t> Objects represent actual entities (users, incidents, tickets)</a:t>
            </a:r>
            <a:endParaRPr lang="en-US" sz="911" dirty="0"/>
          </a:p>
        </p:txBody>
      </p:sp>
      <p:sp>
        <p:nvSpPr>
          <p:cNvPr id="31" name="Shape 23"/>
          <p:cNvSpPr/>
          <p:nvPr/>
        </p:nvSpPr>
        <p:spPr>
          <a:xfrm>
            <a:off x="7962900" y="6468405"/>
            <a:ext cx="304800" cy="304800"/>
          </a:xfrm>
          <a:prstGeom prst="rect">
            <a:avLst/>
          </a:prstGeom>
          <a:solidFill>
            <a:srgbClr val="E8EEF5"/>
          </a:solidFill>
          <a:ln/>
        </p:spPr>
        <p:txBody>
          <a:bodyPr/>
          <a:lstStyle/>
          <a:p>
            <a:endParaRPr lang="en-US" sz="2400"/>
          </a:p>
        </p:txBody>
      </p:sp>
      <p:pic>
        <p:nvPicPr>
          <p:cNvPr id="32" name="Image 6" descr="preencoded.png"/>
          <p:cNvPicPr>
            <a:picLocks noChangeAspect="1"/>
          </p:cNvPicPr>
          <p:nvPr/>
        </p:nvPicPr>
        <p:blipFill>
          <a:blip r:embed="rId9"/>
          <a:stretch>
            <a:fillRect/>
          </a:stretch>
        </p:blipFill>
        <p:spPr>
          <a:xfrm>
            <a:off x="8056961" y="6554131"/>
            <a:ext cx="116681" cy="133351"/>
          </a:xfrm>
          <a:prstGeom prst="rect">
            <a:avLst/>
          </a:prstGeom>
        </p:spPr>
      </p:pic>
      <p:sp>
        <p:nvSpPr>
          <p:cNvPr id="33" name="Text 24"/>
          <p:cNvSpPr/>
          <p:nvPr/>
        </p:nvSpPr>
        <p:spPr>
          <a:xfrm>
            <a:off x="8382001" y="6468406"/>
            <a:ext cx="2857500" cy="437663"/>
          </a:xfrm>
          <a:prstGeom prst="rect">
            <a:avLst/>
          </a:prstGeom>
          <a:noFill/>
          <a:ln/>
        </p:spPr>
        <p:txBody>
          <a:bodyPr wrap="square" lIns="0" tIns="45381" rIns="0" bIns="0" rtlCol="0" anchor="t">
            <a:spAutoFit/>
          </a:bodyPr>
          <a:lstStyle/>
          <a:p>
            <a:pPr>
              <a:lnSpc>
                <a:spcPts val="1600"/>
              </a:lnSpc>
            </a:pPr>
            <a:r>
              <a:rPr lang="en-US" sz="911" b="1" dirty="0">
                <a:solidFill>
                  <a:srgbClr val="333333"/>
                </a:solidFill>
              </a:rPr>
              <a:t>Scalability:</a:t>
            </a:r>
            <a:r>
              <a:rPr lang="en-US" sz="969" dirty="0">
                <a:solidFill>
                  <a:srgbClr val="333333"/>
                </a:solidFill>
              </a:rPr>
              <a:t> Easy to add new features without breaking existing code</a:t>
            </a:r>
            <a:endParaRPr lang="en-US" sz="91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 0" descr="preencoded.png">
            <a:extLst>
              <a:ext uri="{FF2B5EF4-FFF2-40B4-BE49-F238E27FC236}">
                <a16:creationId xmlns:a16="http://schemas.microsoft.com/office/drawing/2014/main" id="{66D55DAB-10FC-DC27-428E-8D8585B63332}"/>
              </a:ext>
            </a:extLst>
          </p:cNvPr>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762000" y="762001"/>
            <a:ext cx="3948838" cy="523541"/>
          </a:xfrm>
          <a:prstGeom prst="rect">
            <a:avLst/>
          </a:prstGeom>
          <a:noFill/>
          <a:ln/>
        </p:spPr>
        <p:txBody>
          <a:bodyPr wrap="none" lIns="0" tIns="0" rIns="0" bIns="0" rtlCol="0" anchor="t">
            <a:spAutoFit/>
          </a:bodyPr>
          <a:lstStyle/>
          <a:p>
            <a:pPr>
              <a:lnSpc>
                <a:spcPts val="4267"/>
              </a:lnSpc>
            </a:pPr>
            <a:r>
              <a:rPr lang="en-US" sz="3248" b="1" kern="0" spc="-1" dirty="0">
                <a:solidFill>
                  <a:srgbClr val="000000"/>
                </a:solidFill>
              </a:rPr>
              <a:t>Core OOP Terminology</a:t>
            </a:r>
            <a:endParaRPr lang="en-US" sz="3248" dirty="0"/>
          </a:p>
        </p:txBody>
      </p:sp>
      <p:sp>
        <p:nvSpPr>
          <p:cNvPr id="4" name="Text 1"/>
          <p:cNvSpPr/>
          <p:nvPr/>
        </p:nvSpPr>
        <p:spPr>
          <a:xfrm>
            <a:off x="762001" y="2221707"/>
            <a:ext cx="751809" cy="351250"/>
          </a:xfrm>
          <a:prstGeom prst="rect">
            <a:avLst/>
          </a:prstGeom>
          <a:noFill/>
          <a:ln/>
        </p:spPr>
        <p:txBody>
          <a:bodyPr wrap="none" lIns="0" tIns="0" rIns="0" bIns="0" rtlCol="0" anchor="t">
            <a:spAutoFit/>
          </a:bodyPr>
          <a:lstStyle/>
          <a:p>
            <a:pPr>
              <a:lnSpc>
                <a:spcPts val="2933"/>
              </a:lnSpc>
            </a:pPr>
            <a:r>
              <a:rPr lang="en-US" sz="2136" b="1" dirty="0">
                <a:solidFill>
                  <a:srgbClr val="000000"/>
                </a:solidFill>
              </a:rPr>
              <a:t>Object</a:t>
            </a:r>
            <a:endParaRPr lang="en-US" sz="2136" dirty="0"/>
          </a:p>
        </p:txBody>
      </p:sp>
      <p:sp>
        <p:nvSpPr>
          <p:cNvPr id="5" name="Text 2"/>
          <p:cNvSpPr/>
          <p:nvPr/>
        </p:nvSpPr>
        <p:spPr>
          <a:xfrm>
            <a:off x="762001" y="2781300"/>
            <a:ext cx="3301975" cy="563488"/>
          </a:xfrm>
          <a:prstGeom prst="rect">
            <a:avLst/>
          </a:prstGeom>
          <a:noFill/>
          <a:ln/>
        </p:spPr>
        <p:txBody>
          <a:bodyPr wrap="square" lIns="0" tIns="0" rIns="0" bIns="0" rtlCol="0" anchor="t">
            <a:spAutoFit/>
          </a:bodyPr>
          <a:lstStyle/>
          <a:p>
            <a:pPr>
              <a:lnSpc>
                <a:spcPts val="2267"/>
              </a:lnSpc>
            </a:pPr>
            <a:r>
              <a:rPr lang="en-US" sz="1400" dirty="0">
                <a:solidFill>
                  <a:srgbClr val="555555"/>
                </a:solidFill>
              </a:rPr>
              <a:t>A thing or entity in your program (e.g., a user, a security incident).</a:t>
            </a:r>
            <a:endParaRPr lang="en-US" sz="1400" dirty="0"/>
          </a:p>
        </p:txBody>
      </p:sp>
      <p:sp>
        <p:nvSpPr>
          <p:cNvPr id="6" name="Text 3"/>
          <p:cNvSpPr/>
          <p:nvPr/>
        </p:nvSpPr>
        <p:spPr>
          <a:xfrm>
            <a:off x="4444975" y="2221707"/>
            <a:ext cx="564257" cy="351250"/>
          </a:xfrm>
          <a:prstGeom prst="rect">
            <a:avLst/>
          </a:prstGeom>
          <a:noFill/>
          <a:ln/>
        </p:spPr>
        <p:txBody>
          <a:bodyPr wrap="none" lIns="0" tIns="0" rIns="0" bIns="0" rtlCol="0" anchor="t">
            <a:spAutoFit/>
          </a:bodyPr>
          <a:lstStyle/>
          <a:p>
            <a:pPr>
              <a:lnSpc>
                <a:spcPts val="2933"/>
              </a:lnSpc>
            </a:pPr>
            <a:r>
              <a:rPr lang="en-US" sz="2136" b="1" dirty="0">
                <a:solidFill>
                  <a:srgbClr val="000000"/>
                </a:solidFill>
              </a:rPr>
              <a:t>Class</a:t>
            </a:r>
            <a:endParaRPr lang="en-US" sz="2136" dirty="0"/>
          </a:p>
        </p:txBody>
      </p:sp>
      <p:sp>
        <p:nvSpPr>
          <p:cNvPr id="7" name="Text 4"/>
          <p:cNvSpPr/>
          <p:nvPr/>
        </p:nvSpPr>
        <p:spPr>
          <a:xfrm>
            <a:off x="4444975" y="2781300"/>
            <a:ext cx="3302012" cy="268535"/>
          </a:xfrm>
          <a:prstGeom prst="rect">
            <a:avLst/>
          </a:prstGeom>
          <a:noFill/>
          <a:ln/>
        </p:spPr>
        <p:txBody>
          <a:bodyPr wrap="square" lIns="0" tIns="0" rIns="0" bIns="0" rtlCol="0" anchor="t">
            <a:spAutoFit/>
          </a:bodyPr>
          <a:lstStyle/>
          <a:p>
            <a:pPr>
              <a:lnSpc>
                <a:spcPts val="2267"/>
              </a:lnSpc>
            </a:pPr>
            <a:r>
              <a:rPr lang="en-US" sz="1400" dirty="0">
                <a:solidFill>
                  <a:srgbClr val="555555"/>
                </a:solidFill>
              </a:rPr>
              <a:t>A </a:t>
            </a:r>
            <a:r>
              <a:rPr lang="en-US" sz="1316" b="1" dirty="0">
                <a:solidFill>
                  <a:srgbClr val="0062C4"/>
                </a:solidFill>
              </a:rPr>
              <a:t>blueprint</a:t>
            </a:r>
            <a:r>
              <a:rPr lang="en-US" sz="1400" dirty="0">
                <a:solidFill>
                  <a:srgbClr val="555555"/>
                </a:solidFill>
              </a:rPr>
              <a:t> or template for creating objects.</a:t>
            </a:r>
            <a:endParaRPr lang="en-US" sz="1400" dirty="0"/>
          </a:p>
        </p:txBody>
      </p:sp>
      <p:sp>
        <p:nvSpPr>
          <p:cNvPr id="8" name="Text 5"/>
          <p:cNvSpPr/>
          <p:nvPr/>
        </p:nvSpPr>
        <p:spPr>
          <a:xfrm>
            <a:off x="8127988" y="2221707"/>
            <a:ext cx="954428" cy="351250"/>
          </a:xfrm>
          <a:prstGeom prst="rect">
            <a:avLst/>
          </a:prstGeom>
          <a:noFill/>
          <a:ln/>
        </p:spPr>
        <p:txBody>
          <a:bodyPr wrap="none" lIns="0" tIns="0" rIns="0" bIns="0" rtlCol="0" anchor="t">
            <a:spAutoFit/>
          </a:bodyPr>
          <a:lstStyle/>
          <a:p>
            <a:pPr>
              <a:lnSpc>
                <a:spcPts val="2933"/>
              </a:lnSpc>
            </a:pPr>
            <a:r>
              <a:rPr lang="en-US" sz="2136" b="1" dirty="0">
                <a:solidFill>
                  <a:srgbClr val="000000"/>
                </a:solidFill>
              </a:rPr>
              <a:t>Instance</a:t>
            </a:r>
            <a:endParaRPr lang="en-US" sz="2136" dirty="0"/>
          </a:p>
        </p:txBody>
      </p:sp>
      <p:sp>
        <p:nvSpPr>
          <p:cNvPr id="9" name="Text 6"/>
          <p:cNvSpPr/>
          <p:nvPr/>
        </p:nvSpPr>
        <p:spPr>
          <a:xfrm>
            <a:off x="8127989" y="2781300"/>
            <a:ext cx="3301975" cy="268535"/>
          </a:xfrm>
          <a:prstGeom prst="rect">
            <a:avLst/>
          </a:prstGeom>
          <a:noFill/>
          <a:ln/>
        </p:spPr>
        <p:txBody>
          <a:bodyPr wrap="square" lIns="0" tIns="0" rIns="0" bIns="0" rtlCol="0" anchor="t">
            <a:spAutoFit/>
          </a:bodyPr>
          <a:lstStyle/>
          <a:p>
            <a:pPr>
              <a:lnSpc>
                <a:spcPts val="2267"/>
              </a:lnSpc>
            </a:pPr>
            <a:r>
              <a:rPr lang="en-US" sz="1400" dirty="0">
                <a:solidFill>
                  <a:srgbClr val="555555"/>
                </a:solidFill>
              </a:rPr>
              <a:t>A specific object created from a class.</a:t>
            </a:r>
            <a:endParaRPr lang="en-US" sz="1400" dirty="0"/>
          </a:p>
        </p:txBody>
      </p:sp>
      <p:sp>
        <p:nvSpPr>
          <p:cNvPr id="10" name="Text 7"/>
          <p:cNvSpPr/>
          <p:nvPr/>
        </p:nvSpPr>
        <p:spPr>
          <a:xfrm>
            <a:off x="762001" y="4000500"/>
            <a:ext cx="1142429" cy="351250"/>
          </a:xfrm>
          <a:prstGeom prst="rect">
            <a:avLst/>
          </a:prstGeom>
          <a:noFill/>
          <a:ln/>
        </p:spPr>
        <p:txBody>
          <a:bodyPr wrap="none" lIns="0" tIns="0" rIns="0" bIns="0" rtlCol="0" anchor="t">
            <a:spAutoFit/>
          </a:bodyPr>
          <a:lstStyle/>
          <a:p>
            <a:pPr>
              <a:lnSpc>
                <a:spcPts val="2933"/>
              </a:lnSpc>
            </a:pPr>
            <a:r>
              <a:rPr lang="en-US" sz="2136" b="1" dirty="0">
                <a:solidFill>
                  <a:srgbClr val="000000"/>
                </a:solidFill>
              </a:rPr>
              <a:t>Attributes</a:t>
            </a:r>
            <a:endParaRPr lang="en-US" sz="2136" dirty="0"/>
          </a:p>
        </p:txBody>
      </p:sp>
      <p:sp>
        <p:nvSpPr>
          <p:cNvPr id="11" name="Text 8"/>
          <p:cNvSpPr/>
          <p:nvPr/>
        </p:nvSpPr>
        <p:spPr>
          <a:xfrm>
            <a:off x="762001" y="4560094"/>
            <a:ext cx="5143463" cy="268535"/>
          </a:xfrm>
          <a:prstGeom prst="rect">
            <a:avLst/>
          </a:prstGeom>
          <a:noFill/>
          <a:ln/>
        </p:spPr>
        <p:txBody>
          <a:bodyPr wrap="square" lIns="0" tIns="0" rIns="0" bIns="0" rtlCol="0" anchor="t">
            <a:spAutoFit/>
          </a:bodyPr>
          <a:lstStyle/>
          <a:p>
            <a:pPr>
              <a:lnSpc>
                <a:spcPts val="2267"/>
              </a:lnSpc>
            </a:pPr>
            <a:r>
              <a:rPr lang="en-US" sz="1400" dirty="0">
                <a:solidFill>
                  <a:srgbClr val="555555"/>
                </a:solidFill>
              </a:rPr>
              <a:t>Data that belongs to an object (like variables). Describes </a:t>
            </a:r>
            <a:r>
              <a:rPr lang="en-US" sz="1400" i="1" dirty="0">
                <a:solidFill>
                  <a:srgbClr val="555555"/>
                </a:solidFill>
              </a:rPr>
              <a:t>what it is</a:t>
            </a:r>
            <a:r>
              <a:rPr lang="en-US" sz="1400" dirty="0">
                <a:solidFill>
                  <a:srgbClr val="555555"/>
                </a:solidFill>
              </a:rPr>
              <a:t>.</a:t>
            </a:r>
            <a:endParaRPr lang="en-US" sz="1400" dirty="0"/>
          </a:p>
        </p:txBody>
      </p:sp>
      <p:sp>
        <p:nvSpPr>
          <p:cNvPr id="12" name="Text 9"/>
          <p:cNvSpPr/>
          <p:nvPr/>
        </p:nvSpPr>
        <p:spPr>
          <a:xfrm>
            <a:off x="6286463" y="4000500"/>
            <a:ext cx="1020857" cy="351250"/>
          </a:xfrm>
          <a:prstGeom prst="rect">
            <a:avLst/>
          </a:prstGeom>
          <a:noFill/>
          <a:ln/>
        </p:spPr>
        <p:txBody>
          <a:bodyPr wrap="none" lIns="0" tIns="0" rIns="0" bIns="0" rtlCol="0" anchor="t">
            <a:spAutoFit/>
          </a:bodyPr>
          <a:lstStyle/>
          <a:p>
            <a:pPr>
              <a:lnSpc>
                <a:spcPts val="2933"/>
              </a:lnSpc>
            </a:pPr>
            <a:r>
              <a:rPr lang="en-US" sz="2136" b="1" dirty="0">
                <a:solidFill>
                  <a:srgbClr val="000000"/>
                </a:solidFill>
              </a:rPr>
              <a:t>Methods</a:t>
            </a:r>
            <a:endParaRPr lang="en-US" sz="2136" dirty="0"/>
          </a:p>
        </p:txBody>
      </p:sp>
      <p:sp>
        <p:nvSpPr>
          <p:cNvPr id="13" name="Text 10"/>
          <p:cNvSpPr/>
          <p:nvPr/>
        </p:nvSpPr>
        <p:spPr>
          <a:xfrm>
            <a:off x="6286463" y="4560094"/>
            <a:ext cx="5143500" cy="268535"/>
          </a:xfrm>
          <a:prstGeom prst="rect">
            <a:avLst/>
          </a:prstGeom>
          <a:noFill/>
          <a:ln/>
        </p:spPr>
        <p:txBody>
          <a:bodyPr wrap="square" lIns="0" tIns="0" rIns="0" bIns="0" rtlCol="0" anchor="t">
            <a:spAutoFit/>
          </a:bodyPr>
          <a:lstStyle/>
          <a:p>
            <a:pPr>
              <a:lnSpc>
                <a:spcPts val="2267"/>
              </a:lnSpc>
            </a:pPr>
            <a:r>
              <a:rPr lang="en-US" sz="1400" dirty="0">
                <a:solidFill>
                  <a:srgbClr val="555555"/>
                </a:solidFill>
              </a:rPr>
              <a:t>Functions that belong to an object. Describes </a:t>
            </a:r>
            <a:r>
              <a:rPr lang="en-US" sz="1400" i="1" dirty="0">
                <a:solidFill>
                  <a:srgbClr val="555555"/>
                </a:solidFill>
              </a:rPr>
              <a:t>what it can do</a:t>
            </a:r>
            <a:r>
              <a:rPr lang="en-US" sz="1400" dirty="0">
                <a:solidFill>
                  <a:srgbClr val="555555"/>
                </a:solidFill>
              </a:rPr>
              <a: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0" descr="preencoded.png">
            <a:extLst>
              <a:ext uri="{FF2B5EF4-FFF2-40B4-BE49-F238E27FC236}">
                <a16:creationId xmlns:a16="http://schemas.microsoft.com/office/drawing/2014/main" id="{9EBCE972-52F6-5F9B-755B-B8C9B20BC307}"/>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F7467F95-1BAC-C54C-81BA-F3FE4B601712}"/>
              </a:ext>
            </a:extLst>
          </p:cNvPr>
          <p:cNvSpPr>
            <a:spLocks noGrp="1"/>
          </p:cNvSpPr>
          <p:nvPr>
            <p:ph idx="1"/>
          </p:nvPr>
        </p:nvSpPr>
        <p:spPr>
          <a:xfrm>
            <a:off x="838200" y="1825625"/>
            <a:ext cx="4527884" cy="4351338"/>
          </a:xfrm>
        </p:spPr>
        <p:txBody>
          <a:bodyPr>
            <a:normAutofit/>
          </a:bodyPr>
          <a:lstStyle/>
          <a:p>
            <a:pPr marL="0" indent="0">
              <a:buNone/>
            </a:pPr>
            <a:endParaRPr lang="en-GB" dirty="0"/>
          </a:p>
          <a:p>
            <a:pPr marL="0" indent="0">
              <a:buNone/>
            </a:pPr>
            <a:endParaRPr lang="en-GB" dirty="0"/>
          </a:p>
          <a:p>
            <a:pPr marL="0" indent="0">
              <a:buNone/>
            </a:pPr>
            <a:endParaRPr lang="en-GB" dirty="0"/>
          </a:p>
          <a:p>
            <a:pPr marL="0" indent="0">
              <a:buNone/>
            </a:pPr>
            <a:endParaRPr lang="en-GB" dirty="0"/>
          </a:p>
          <a:p>
            <a:r>
              <a:rPr lang="en-US" sz="2000" b="1" dirty="0">
                <a:solidFill>
                  <a:srgbClr val="333333"/>
                </a:solidFill>
              </a:rPr>
              <a:t>Attributes (Data)</a:t>
            </a:r>
            <a:r>
              <a:rPr lang="en-US" sz="2000" dirty="0"/>
              <a:t>: </a:t>
            </a:r>
          </a:p>
          <a:p>
            <a:pPr lvl="1"/>
            <a:r>
              <a:rPr lang="en-US" sz="2000" dirty="0"/>
              <a:t>Name</a:t>
            </a:r>
          </a:p>
          <a:p>
            <a:pPr lvl="1"/>
            <a:r>
              <a:rPr lang="en-US" sz="2000" dirty="0"/>
              <a:t>Age </a:t>
            </a:r>
          </a:p>
          <a:p>
            <a:pPr lvl="1"/>
            <a:r>
              <a:rPr lang="en-US" sz="2000" dirty="0"/>
              <a:t>Address</a:t>
            </a:r>
          </a:p>
        </p:txBody>
      </p:sp>
      <p:pic>
        <p:nvPicPr>
          <p:cNvPr id="5" name="Graphic 4" descr="School boy">
            <a:extLst>
              <a:ext uri="{FF2B5EF4-FFF2-40B4-BE49-F238E27FC236}">
                <a16:creationId xmlns:a16="http://schemas.microsoft.com/office/drawing/2014/main" id="{97FAB5C8-28F0-BC44-9EA1-3A34537D5F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6685" y="3792571"/>
            <a:ext cx="1886262" cy="1886262"/>
          </a:xfrm>
          <a:prstGeom prst="rect">
            <a:avLst/>
          </a:prstGeom>
        </p:spPr>
      </p:pic>
      <p:sp>
        <p:nvSpPr>
          <p:cNvPr id="6" name="Content Placeholder 2">
            <a:extLst>
              <a:ext uri="{FF2B5EF4-FFF2-40B4-BE49-F238E27FC236}">
                <a16:creationId xmlns:a16="http://schemas.microsoft.com/office/drawing/2014/main" id="{F174367C-DDFB-7A45-A97C-77CF438E0596}"/>
              </a:ext>
            </a:extLst>
          </p:cNvPr>
          <p:cNvSpPr txBox="1">
            <a:spLocks/>
          </p:cNvSpPr>
          <p:nvPr/>
        </p:nvSpPr>
        <p:spPr>
          <a:xfrm>
            <a:off x="3516441" y="1825625"/>
            <a:ext cx="532650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a:p>
            <a:pPr marL="0" indent="0">
              <a:buFont typeface="Arial" panose="020B0604020202020204" pitchFamily="34" charset="0"/>
              <a:buNone/>
            </a:pPr>
            <a:endParaRPr lang="en-GB" dirty="0"/>
          </a:p>
          <a:p>
            <a:pPr marL="0" indent="0">
              <a:buFont typeface="Arial" panose="020B0604020202020204" pitchFamily="34" charset="0"/>
              <a:buNone/>
            </a:pPr>
            <a:endParaRPr lang="en-GB" dirty="0"/>
          </a:p>
          <a:p>
            <a:pPr marL="0" indent="0">
              <a:buFont typeface="Arial" panose="020B0604020202020204" pitchFamily="34" charset="0"/>
              <a:buNone/>
            </a:pPr>
            <a:endParaRPr lang="en-GB" dirty="0"/>
          </a:p>
          <a:p>
            <a:r>
              <a:rPr lang="en-US" sz="2000" b="1" dirty="0">
                <a:solidFill>
                  <a:srgbClr val="333333"/>
                </a:solidFill>
              </a:rPr>
              <a:t>Attributes (Data)</a:t>
            </a:r>
            <a:r>
              <a:rPr lang="en-US" sz="2000" dirty="0"/>
              <a:t>:</a:t>
            </a:r>
          </a:p>
          <a:p>
            <a:pPr lvl="1"/>
            <a:r>
              <a:rPr lang="en-US" sz="2000" dirty="0"/>
              <a:t>Walk: </a:t>
            </a:r>
          </a:p>
          <a:p>
            <a:pPr lvl="1"/>
            <a:r>
              <a:rPr lang="en-US" sz="2000" dirty="0"/>
              <a:t>Talk</a:t>
            </a:r>
          </a:p>
          <a:p>
            <a:pPr lvl="1"/>
            <a:r>
              <a:rPr lang="en-US" sz="2000" dirty="0"/>
              <a:t>Breath</a:t>
            </a:r>
          </a:p>
        </p:txBody>
      </p:sp>
      <p:sp>
        <p:nvSpPr>
          <p:cNvPr id="7" name="Content Placeholder 2">
            <a:extLst>
              <a:ext uri="{FF2B5EF4-FFF2-40B4-BE49-F238E27FC236}">
                <a16:creationId xmlns:a16="http://schemas.microsoft.com/office/drawing/2014/main" id="{A09B9AF3-9E63-6149-ABAB-0DDAE4B544B0}"/>
              </a:ext>
            </a:extLst>
          </p:cNvPr>
          <p:cNvSpPr txBox="1">
            <a:spLocks/>
          </p:cNvSpPr>
          <p:nvPr/>
        </p:nvSpPr>
        <p:spPr>
          <a:xfrm>
            <a:off x="677781" y="196056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dirty="0"/>
              <a:t>Programme is composed of lots of individual objects (bundles of data). Entities are usually defined as a </a:t>
            </a:r>
            <a:r>
              <a:rPr lang="en-GB" sz="2000" u="sng" dirty="0"/>
              <a:t>noun</a:t>
            </a:r>
            <a:r>
              <a:rPr lang="en-GB" sz="2000" dirty="0"/>
              <a:t> </a:t>
            </a:r>
          </a:p>
          <a:p>
            <a:pPr marL="0" indent="0">
              <a:buFont typeface="Arial" panose="020B0604020202020204" pitchFamily="34" charset="0"/>
              <a:buNone/>
            </a:pPr>
            <a:r>
              <a:rPr lang="en-GB" sz="2000" dirty="0"/>
              <a:t>Example of object could be a person  </a:t>
            </a:r>
          </a:p>
          <a:p>
            <a:pPr marL="0" indent="0">
              <a:buFont typeface="Arial" panose="020B0604020202020204" pitchFamily="34" charset="0"/>
              <a:buNone/>
            </a:pPr>
            <a:endParaRPr lang="en-GB" sz="2400" dirty="0"/>
          </a:p>
        </p:txBody>
      </p:sp>
      <p:sp>
        <p:nvSpPr>
          <p:cNvPr id="9" name="TextBox 8">
            <a:extLst>
              <a:ext uri="{FF2B5EF4-FFF2-40B4-BE49-F238E27FC236}">
                <a16:creationId xmlns:a16="http://schemas.microsoft.com/office/drawing/2014/main" id="{FE65AA66-D19B-EAC3-7FA1-FDD05AE4B041}"/>
              </a:ext>
            </a:extLst>
          </p:cNvPr>
          <p:cNvSpPr txBox="1"/>
          <p:nvPr/>
        </p:nvSpPr>
        <p:spPr>
          <a:xfrm>
            <a:off x="677781" y="857141"/>
            <a:ext cx="6096000" cy="614207"/>
          </a:xfrm>
          <a:prstGeom prst="rect">
            <a:avLst/>
          </a:prstGeom>
          <a:noFill/>
        </p:spPr>
        <p:txBody>
          <a:bodyPr wrap="square">
            <a:spAutoFit/>
          </a:bodyPr>
          <a:lstStyle/>
          <a:p>
            <a:pPr>
              <a:lnSpc>
                <a:spcPts val="4267"/>
              </a:lnSpc>
            </a:pPr>
            <a:r>
              <a:rPr lang="en-US" sz="3200" b="1" kern="0" spc="-1" dirty="0">
                <a:solidFill>
                  <a:srgbClr val="000000"/>
                </a:solidFill>
              </a:rPr>
              <a:t>Real-World Analogy: Person</a:t>
            </a:r>
            <a:endParaRPr lang="en-US" sz="3200" dirty="0"/>
          </a:p>
        </p:txBody>
      </p:sp>
    </p:spTree>
    <p:extLst>
      <p:ext uri="{BB962C8B-B14F-4D97-AF65-F5344CB8AC3E}">
        <p14:creationId xmlns:p14="http://schemas.microsoft.com/office/powerpoint/2010/main" val="1989764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04135-F059-C04B-84FE-FAA33AFADCAB}"/>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UML Class Diagram Structure</a:t>
            </a:r>
            <a:r>
              <a:rPr lang="en-US" dirty="0"/>
              <a:t> UML </a:t>
            </a:r>
          </a:p>
        </p:txBody>
      </p:sp>
      <p:sp>
        <p:nvSpPr>
          <p:cNvPr id="3" name="Content Placeholder 2">
            <a:extLst>
              <a:ext uri="{FF2B5EF4-FFF2-40B4-BE49-F238E27FC236}">
                <a16:creationId xmlns:a16="http://schemas.microsoft.com/office/drawing/2014/main" id="{7D9E5EE8-B69C-414A-8F4A-2F3610E50ACE}"/>
              </a:ext>
            </a:extLst>
          </p:cNvPr>
          <p:cNvSpPr>
            <a:spLocks noGrp="1"/>
          </p:cNvSpPr>
          <p:nvPr>
            <p:ph idx="1"/>
          </p:nvPr>
        </p:nvSpPr>
        <p:spPr/>
        <p:txBody>
          <a:bodyPr/>
          <a:lstStyle/>
          <a:p>
            <a:pPr marL="0" indent="0">
              <a:buNone/>
            </a:pPr>
            <a:r>
              <a:rPr lang="en-US" b="1" dirty="0">
                <a:solidFill>
                  <a:srgbClr val="0055FF"/>
                </a:solidFill>
              </a:rPr>
              <a:t>Blueprint of an object</a:t>
            </a:r>
          </a:p>
        </p:txBody>
      </p:sp>
      <p:sp>
        <p:nvSpPr>
          <p:cNvPr id="5" name="TextBox 4">
            <a:extLst>
              <a:ext uri="{FF2B5EF4-FFF2-40B4-BE49-F238E27FC236}">
                <a16:creationId xmlns:a16="http://schemas.microsoft.com/office/drawing/2014/main" id="{0404E069-BC1B-D546-8318-F71C0ED0A95A}"/>
              </a:ext>
            </a:extLst>
          </p:cNvPr>
          <p:cNvSpPr txBox="1"/>
          <p:nvPr/>
        </p:nvSpPr>
        <p:spPr>
          <a:xfrm>
            <a:off x="44295" y="2870147"/>
            <a:ext cx="2066848" cy="369332"/>
          </a:xfrm>
          <a:prstGeom prst="rect">
            <a:avLst/>
          </a:prstGeom>
          <a:noFill/>
        </p:spPr>
        <p:txBody>
          <a:bodyPr wrap="none" rtlCol="0">
            <a:spAutoFit/>
          </a:bodyPr>
          <a:lstStyle/>
          <a:p>
            <a:r>
              <a:rPr lang="en-US" b="1" dirty="0">
                <a:solidFill>
                  <a:srgbClr val="0070C0"/>
                </a:solidFill>
              </a:rPr>
              <a:t>Identity/class name</a:t>
            </a:r>
          </a:p>
        </p:txBody>
      </p:sp>
      <p:sp>
        <p:nvSpPr>
          <p:cNvPr id="6" name="TextBox 5">
            <a:extLst>
              <a:ext uri="{FF2B5EF4-FFF2-40B4-BE49-F238E27FC236}">
                <a16:creationId xmlns:a16="http://schemas.microsoft.com/office/drawing/2014/main" id="{2A7DB24B-D636-0445-8BFC-72802BFEC4FC}"/>
              </a:ext>
            </a:extLst>
          </p:cNvPr>
          <p:cNvSpPr txBox="1"/>
          <p:nvPr/>
        </p:nvSpPr>
        <p:spPr>
          <a:xfrm>
            <a:off x="77464" y="3417914"/>
            <a:ext cx="1707903" cy="369332"/>
          </a:xfrm>
          <a:prstGeom prst="rect">
            <a:avLst/>
          </a:prstGeom>
          <a:noFill/>
        </p:spPr>
        <p:txBody>
          <a:bodyPr wrap="none" rtlCol="0">
            <a:spAutoFit/>
          </a:bodyPr>
          <a:lstStyle/>
          <a:p>
            <a:r>
              <a:rPr lang="en-US" b="1" dirty="0">
                <a:solidFill>
                  <a:srgbClr val="0070C0"/>
                </a:solidFill>
              </a:rPr>
              <a:t>State/attributes</a:t>
            </a:r>
          </a:p>
        </p:txBody>
      </p:sp>
      <p:sp>
        <p:nvSpPr>
          <p:cNvPr id="7" name="TextBox 6">
            <a:extLst>
              <a:ext uri="{FF2B5EF4-FFF2-40B4-BE49-F238E27FC236}">
                <a16:creationId xmlns:a16="http://schemas.microsoft.com/office/drawing/2014/main" id="{5573EC04-8A63-2848-8EC2-0F205430F5B6}"/>
              </a:ext>
            </a:extLst>
          </p:cNvPr>
          <p:cNvSpPr txBox="1"/>
          <p:nvPr/>
        </p:nvSpPr>
        <p:spPr>
          <a:xfrm>
            <a:off x="44295" y="4161807"/>
            <a:ext cx="1976760" cy="369332"/>
          </a:xfrm>
          <a:prstGeom prst="rect">
            <a:avLst/>
          </a:prstGeom>
          <a:noFill/>
        </p:spPr>
        <p:txBody>
          <a:bodyPr wrap="none" rtlCol="0">
            <a:spAutoFit/>
          </a:bodyPr>
          <a:lstStyle/>
          <a:p>
            <a:r>
              <a:rPr lang="en-US" b="1" dirty="0">
                <a:solidFill>
                  <a:srgbClr val="0070C0"/>
                </a:solidFill>
              </a:rPr>
              <a:t>Behavior/methods</a:t>
            </a:r>
          </a:p>
        </p:txBody>
      </p:sp>
      <p:pic>
        <p:nvPicPr>
          <p:cNvPr id="8" name="Picture 7">
            <a:extLst>
              <a:ext uri="{FF2B5EF4-FFF2-40B4-BE49-F238E27FC236}">
                <a16:creationId xmlns:a16="http://schemas.microsoft.com/office/drawing/2014/main" id="{FB3CBE01-7567-7C41-A62B-6AACF1857321}"/>
              </a:ext>
            </a:extLst>
          </p:cNvPr>
          <p:cNvPicPr>
            <a:picLocks noChangeAspect="1"/>
          </p:cNvPicPr>
          <p:nvPr/>
        </p:nvPicPr>
        <p:blipFill>
          <a:blip r:embed="rId2"/>
          <a:stretch>
            <a:fillRect/>
          </a:stretch>
        </p:blipFill>
        <p:spPr>
          <a:xfrm>
            <a:off x="2172007" y="2713047"/>
            <a:ext cx="1908726" cy="2427941"/>
          </a:xfrm>
          <a:prstGeom prst="rect">
            <a:avLst/>
          </a:prstGeom>
        </p:spPr>
      </p:pic>
      <p:sp>
        <p:nvSpPr>
          <p:cNvPr id="11" name="Left Brace 10">
            <a:extLst>
              <a:ext uri="{FF2B5EF4-FFF2-40B4-BE49-F238E27FC236}">
                <a16:creationId xmlns:a16="http://schemas.microsoft.com/office/drawing/2014/main" id="{DA54BA20-A643-864D-A6A9-3F4EF3B7EB71}"/>
              </a:ext>
            </a:extLst>
          </p:cNvPr>
          <p:cNvSpPr/>
          <p:nvPr/>
        </p:nvSpPr>
        <p:spPr>
          <a:xfrm>
            <a:off x="2123124" y="3340603"/>
            <a:ext cx="54018" cy="4615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823773E3-8AC8-3240-A402-939DAF7BF893}"/>
              </a:ext>
            </a:extLst>
          </p:cNvPr>
          <p:cNvSpPr/>
          <p:nvPr/>
        </p:nvSpPr>
        <p:spPr>
          <a:xfrm>
            <a:off x="2160922" y="3892876"/>
            <a:ext cx="45719" cy="963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47B91C12-FCF0-7141-919D-1369AB0A7F3B}"/>
              </a:ext>
            </a:extLst>
          </p:cNvPr>
          <p:cNvSpPr txBox="1"/>
          <p:nvPr/>
        </p:nvSpPr>
        <p:spPr>
          <a:xfrm>
            <a:off x="7342198" y="2245789"/>
            <a:ext cx="1402948"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Examples: </a:t>
            </a:r>
          </a:p>
        </p:txBody>
      </p:sp>
      <p:pic>
        <p:nvPicPr>
          <p:cNvPr id="19" name="Picture 18">
            <a:extLst>
              <a:ext uri="{FF2B5EF4-FFF2-40B4-BE49-F238E27FC236}">
                <a16:creationId xmlns:a16="http://schemas.microsoft.com/office/drawing/2014/main" id="{E66A0658-89EA-CC42-864D-80D591EB73D0}"/>
              </a:ext>
            </a:extLst>
          </p:cNvPr>
          <p:cNvPicPr>
            <a:picLocks noChangeAspect="1"/>
          </p:cNvPicPr>
          <p:nvPr/>
        </p:nvPicPr>
        <p:blipFill>
          <a:blip r:embed="rId3"/>
          <a:stretch>
            <a:fillRect/>
          </a:stretch>
        </p:blipFill>
        <p:spPr>
          <a:xfrm>
            <a:off x="5650102" y="3003319"/>
            <a:ext cx="1525398" cy="1525398"/>
          </a:xfrm>
          <a:prstGeom prst="rect">
            <a:avLst/>
          </a:prstGeom>
        </p:spPr>
      </p:pic>
      <p:pic>
        <p:nvPicPr>
          <p:cNvPr id="23" name="Picture 22">
            <a:extLst>
              <a:ext uri="{FF2B5EF4-FFF2-40B4-BE49-F238E27FC236}">
                <a16:creationId xmlns:a16="http://schemas.microsoft.com/office/drawing/2014/main" id="{D8400C36-C0CB-FB48-9E7E-DF0A6D54C8A4}"/>
              </a:ext>
            </a:extLst>
          </p:cNvPr>
          <p:cNvPicPr>
            <a:picLocks noChangeAspect="1"/>
          </p:cNvPicPr>
          <p:nvPr/>
        </p:nvPicPr>
        <p:blipFill>
          <a:blip r:embed="rId4"/>
          <a:stretch>
            <a:fillRect/>
          </a:stretch>
        </p:blipFill>
        <p:spPr>
          <a:xfrm>
            <a:off x="6221138" y="5037873"/>
            <a:ext cx="1908724" cy="1526979"/>
          </a:xfrm>
          <a:prstGeom prst="rect">
            <a:avLst/>
          </a:prstGeom>
        </p:spPr>
      </p:pic>
      <p:pic>
        <p:nvPicPr>
          <p:cNvPr id="24" name="Picture 23">
            <a:extLst>
              <a:ext uri="{FF2B5EF4-FFF2-40B4-BE49-F238E27FC236}">
                <a16:creationId xmlns:a16="http://schemas.microsoft.com/office/drawing/2014/main" id="{C881ED02-7209-414C-B54A-A7EB2B6A9B36}"/>
              </a:ext>
            </a:extLst>
          </p:cNvPr>
          <p:cNvPicPr>
            <a:picLocks noChangeAspect="1"/>
          </p:cNvPicPr>
          <p:nvPr/>
        </p:nvPicPr>
        <p:blipFill>
          <a:blip r:embed="rId5"/>
          <a:stretch>
            <a:fillRect/>
          </a:stretch>
        </p:blipFill>
        <p:spPr>
          <a:xfrm>
            <a:off x="8467051" y="4978400"/>
            <a:ext cx="1908724" cy="1603328"/>
          </a:xfrm>
          <a:prstGeom prst="rect">
            <a:avLst/>
          </a:prstGeom>
        </p:spPr>
      </p:pic>
      <p:pic>
        <p:nvPicPr>
          <p:cNvPr id="25" name="Picture 24">
            <a:extLst>
              <a:ext uri="{FF2B5EF4-FFF2-40B4-BE49-F238E27FC236}">
                <a16:creationId xmlns:a16="http://schemas.microsoft.com/office/drawing/2014/main" id="{F74CEBE5-5744-294E-B03D-D6A6FEB4F258}"/>
              </a:ext>
            </a:extLst>
          </p:cNvPr>
          <p:cNvPicPr>
            <a:picLocks noChangeAspect="1"/>
          </p:cNvPicPr>
          <p:nvPr/>
        </p:nvPicPr>
        <p:blipFill>
          <a:blip r:embed="rId6"/>
          <a:stretch>
            <a:fillRect/>
          </a:stretch>
        </p:blipFill>
        <p:spPr>
          <a:xfrm>
            <a:off x="7959050" y="2999524"/>
            <a:ext cx="1326245" cy="1243355"/>
          </a:xfrm>
          <a:prstGeom prst="rect">
            <a:avLst/>
          </a:prstGeom>
        </p:spPr>
      </p:pic>
    </p:spTree>
    <p:extLst>
      <p:ext uri="{BB962C8B-B14F-4D97-AF65-F5344CB8AC3E}">
        <p14:creationId xmlns:p14="http://schemas.microsoft.com/office/powerpoint/2010/main" val="411629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70688"/>
            <a:ext cx="12192000" cy="6858000"/>
          </a:xfrm>
          <a:prstGeom prst="rect">
            <a:avLst/>
          </a:prstGeom>
        </p:spPr>
      </p:pic>
      <p:sp>
        <p:nvSpPr>
          <p:cNvPr id="3" name="Text 0"/>
          <p:cNvSpPr/>
          <p:nvPr/>
        </p:nvSpPr>
        <p:spPr>
          <a:xfrm>
            <a:off x="762000" y="679847"/>
            <a:ext cx="4254754" cy="523541"/>
          </a:xfrm>
          <a:prstGeom prst="rect">
            <a:avLst/>
          </a:prstGeom>
          <a:noFill/>
          <a:ln/>
        </p:spPr>
        <p:txBody>
          <a:bodyPr wrap="none" lIns="0" tIns="0" rIns="0" bIns="0" rtlCol="0" anchor="t">
            <a:spAutoFit/>
          </a:bodyPr>
          <a:lstStyle/>
          <a:p>
            <a:pPr>
              <a:lnSpc>
                <a:spcPts val="4267"/>
              </a:lnSpc>
            </a:pPr>
            <a:r>
              <a:rPr lang="en-US" sz="3248" b="1" kern="0" spc="-1" dirty="0">
                <a:solidFill>
                  <a:srgbClr val="000000"/>
                </a:solidFill>
              </a:rPr>
              <a:t>The __init__ Constructor Method</a:t>
            </a:r>
            <a:r>
              <a:rPr lang="en-US" sz="3248" b="1" u="sng" kern="0" spc="-1" dirty="0">
                <a:solidFill>
                  <a:srgbClr val="000000"/>
                </a:solidFill>
              </a:rPr>
              <a:t>Constructor</a:t>
            </a:r>
            <a:r>
              <a:rPr lang="en-US" sz="3248" b="1" kern="0" spc="-1" dirty="0">
                <a:solidFill>
                  <a:srgbClr val="000000"/>
                </a:solidFill>
              </a:rPr>
              <a:t> Method</a:t>
            </a:r>
            <a:endParaRPr lang="en-US" sz="3248" dirty="0"/>
          </a:p>
        </p:txBody>
      </p:sp>
      <p:sp>
        <p:nvSpPr>
          <p:cNvPr id="4" name="Text 1"/>
          <p:cNvSpPr/>
          <p:nvPr/>
        </p:nvSpPr>
        <p:spPr>
          <a:xfrm>
            <a:off x="762000" y="1396604"/>
            <a:ext cx="2425664" cy="355867"/>
          </a:xfrm>
          <a:prstGeom prst="rect">
            <a:avLst/>
          </a:prstGeom>
          <a:noFill/>
          <a:ln/>
        </p:spPr>
        <p:txBody>
          <a:bodyPr wrap="none" lIns="0" tIns="0" rIns="0" bIns="0" rtlCol="0" anchor="t">
            <a:spAutoFit/>
          </a:bodyPr>
          <a:lstStyle/>
          <a:p>
            <a:pPr>
              <a:lnSpc>
                <a:spcPts val="2933"/>
              </a:lnSpc>
            </a:pPr>
            <a:r>
              <a:rPr lang="en-US" sz="2272" dirty="0">
                <a:solidFill>
                  <a:srgbClr val="0055FF"/>
                </a:solidFill>
              </a:rPr>
              <a:t>def __init__(self, ...):</a:t>
            </a:r>
            <a:endParaRPr lang="en-US" sz="2272" dirty="0"/>
          </a:p>
        </p:txBody>
      </p:sp>
      <p:sp>
        <p:nvSpPr>
          <p:cNvPr id="5" name="Text 2"/>
          <p:cNvSpPr/>
          <p:nvPr/>
        </p:nvSpPr>
        <p:spPr>
          <a:xfrm>
            <a:off x="762000" y="2384822"/>
            <a:ext cx="902491" cy="255839"/>
          </a:xfrm>
          <a:prstGeom prst="rect">
            <a:avLst/>
          </a:prstGeom>
          <a:noFill/>
          <a:ln/>
        </p:spPr>
        <p:txBody>
          <a:bodyPr wrap="none" lIns="0" tIns="0" rIns="0" bIns="0" rtlCol="0" anchor="t">
            <a:spAutoFit/>
          </a:bodyPr>
          <a:lstStyle/>
          <a:p>
            <a:pPr>
              <a:lnSpc>
                <a:spcPts val="2133"/>
              </a:lnSpc>
            </a:pPr>
            <a:r>
              <a:rPr lang="en-US" sz="1591" b="1" dirty="0">
                <a:solidFill>
                  <a:srgbClr val="000000"/>
                </a:solidFill>
              </a:rPr>
              <a:t>What is it?</a:t>
            </a:r>
            <a:endParaRPr lang="en-US" sz="1591" dirty="0"/>
          </a:p>
        </p:txBody>
      </p:sp>
      <p:sp>
        <p:nvSpPr>
          <p:cNvPr id="6" name="Text 3"/>
          <p:cNvSpPr/>
          <p:nvPr/>
        </p:nvSpPr>
        <p:spPr>
          <a:xfrm>
            <a:off x="762000" y="2792017"/>
            <a:ext cx="4253515" cy="268535"/>
          </a:xfrm>
          <a:prstGeom prst="rect">
            <a:avLst/>
          </a:prstGeom>
          <a:noFill/>
          <a:ln/>
        </p:spPr>
        <p:txBody>
          <a:bodyPr wrap="none" lIns="396917" tIns="0" rIns="0" bIns="0" rtlCol="0" anchor="t">
            <a:spAutoFit/>
          </a:bodyPr>
          <a:lstStyle/>
          <a:p>
            <a:pPr>
              <a:lnSpc>
                <a:spcPts val="2267"/>
              </a:lnSpc>
            </a:pPr>
            <a:r>
              <a:rPr lang="en-US" sz="1400" dirty="0">
                <a:solidFill>
                  <a:srgbClr val="555555"/>
                </a:solidFill>
              </a:rPr>
              <a:t>A special method that initializes a new object's state.</a:t>
            </a:r>
            <a:endParaRPr lang="en-US" sz="1400" dirty="0"/>
          </a:p>
        </p:txBody>
      </p:sp>
      <p:sp>
        <p:nvSpPr>
          <p:cNvPr id="7" name="Text 4"/>
          <p:cNvSpPr/>
          <p:nvPr/>
        </p:nvSpPr>
        <p:spPr>
          <a:xfrm>
            <a:off x="762001" y="3458766"/>
            <a:ext cx="1551707" cy="255839"/>
          </a:xfrm>
          <a:prstGeom prst="rect">
            <a:avLst/>
          </a:prstGeom>
          <a:noFill/>
          <a:ln/>
        </p:spPr>
        <p:txBody>
          <a:bodyPr wrap="none" lIns="0" tIns="0" rIns="0" bIns="0" rtlCol="0" anchor="t">
            <a:spAutoFit/>
          </a:bodyPr>
          <a:lstStyle/>
          <a:p>
            <a:pPr>
              <a:lnSpc>
                <a:spcPts val="2133"/>
              </a:lnSpc>
            </a:pPr>
            <a:r>
              <a:rPr lang="en-US" sz="1591" b="1" dirty="0">
                <a:solidFill>
                  <a:srgbClr val="000000"/>
                </a:solidFill>
              </a:rPr>
              <a:t>When does it run?</a:t>
            </a:r>
            <a:endParaRPr lang="en-US" sz="1591" dirty="0"/>
          </a:p>
        </p:txBody>
      </p:sp>
      <p:sp>
        <p:nvSpPr>
          <p:cNvPr id="8" name="Text 5"/>
          <p:cNvSpPr/>
          <p:nvPr/>
        </p:nvSpPr>
        <p:spPr>
          <a:xfrm>
            <a:off x="762000" y="3865960"/>
            <a:ext cx="5048251" cy="563488"/>
          </a:xfrm>
          <a:prstGeom prst="rect">
            <a:avLst/>
          </a:prstGeom>
          <a:noFill/>
          <a:ln/>
        </p:spPr>
        <p:txBody>
          <a:bodyPr wrap="square" lIns="396917" tIns="0" rIns="0" bIns="0" rtlCol="0" anchor="t">
            <a:spAutoFit/>
          </a:bodyPr>
          <a:lstStyle/>
          <a:p>
            <a:pPr>
              <a:lnSpc>
                <a:spcPts val="2267"/>
              </a:lnSpc>
            </a:pPr>
            <a:r>
              <a:rPr lang="en-US" sz="1400" dirty="0">
                <a:solidFill>
                  <a:srgbClr val="555555"/>
                </a:solidFill>
              </a:rPr>
              <a:t>Automatically, the moment you create a new instance of the class.</a:t>
            </a:r>
            <a:endParaRPr lang="en-US" sz="1400" dirty="0"/>
          </a:p>
        </p:txBody>
      </p:sp>
      <p:sp>
        <p:nvSpPr>
          <p:cNvPr id="9" name="Text 6"/>
          <p:cNvSpPr/>
          <p:nvPr/>
        </p:nvSpPr>
        <p:spPr>
          <a:xfrm>
            <a:off x="762000" y="4818461"/>
            <a:ext cx="1437573" cy="255839"/>
          </a:xfrm>
          <a:prstGeom prst="rect">
            <a:avLst/>
          </a:prstGeom>
          <a:noFill/>
          <a:ln/>
        </p:spPr>
        <p:txBody>
          <a:bodyPr wrap="none" lIns="0" tIns="0" rIns="0" bIns="0" rtlCol="0" anchor="t">
            <a:spAutoFit/>
          </a:bodyPr>
          <a:lstStyle/>
          <a:p>
            <a:pPr>
              <a:lnSpc>
                <a:spcPts val="2133"/>
              </a:lnSpc>
            </a:pPr>
            <a:r>
              <a:rPr lang="en-US" sz="1591" b="1" dirty="0">
                <a:solidFill>
                  <a:srgbClr val="000000"/>
                </a:solidFill>
              </a:rPr>
              <a:t>What does it do?</a:t>
            </a:r>
            <a:endParaRPr lang="en-US" sz="1591" dirty="0"/>
          </a:p>
        </p:txBody>
      </p:sp>
      <p:sp>
        <p:nvSpPr>
          <p:cNvPr id="10" name="Text 7"/>
          <p:cNvSpPr/>
          <p:nvPr/>
        </p:nvSpPr>
        <p:spPr>
          <a:xfrm>
            <a:off x="762000" y="5225654"/>
            <a:ext cx="5048251" cy="563488"/>
          </a:xfrm>
          <a:prstGeom prst="rect">
            <a:avLst/>
          </a:prstGeom>
          <a:noFill/>
          <a:ln/>
        </p:spPr>
        <p:txBody>
          <a:bodyPr wrap="square" lIns="396917" tIns="0" rIns="0" bIns="0" rtlCol="0" anchor="t">
            <a:spAutoFit/>
          </a:bodyPr>
          <a:lstStyle/>
          <a:p>
            <a:pPr>
              <a:lnSpc>
                <a:spcPts val="2267"/>
              </a:lnSpc>
            </a:pPr>
            <a:r>
              <a:rPr lang="en-US" sz="1400" dirty="0">
                <a:solidFill>
                  <a:srgbClr val="555555"/>
                </a:solidFill>
              </a:rPr>
              <a:t>It sets up the initial values (attributes) for the object using the arguments provided.</a:t>
            </a:r>
            <a:endParaRPr lang="en-US" sz="1400" dirty="0"/>
          </a:p>
        </p:txBody>
      </p:sp>
      <p:sp>
        <p:nvSpPr>
          <p:cNvPr id="11" name="Shape 8"/>
          <p:cNvSpPr/>
          <p:nvPr/>
        </p:nvSpPr>
        <p:spPr>
          <a:xfrm>
            <a:off x="6381751" y="3229943"/>
            <a:ext cx="5048251" cy="2103091"/>
          </a:xfrm>
          <a:prstGeom prst="rect">
            <a:avLst/>
          </a:prstGeom>
          <a:solidFill>
            <a:srgbClr val="F5F5F5"/>
          </a:solidFill>
          <a:ln/>
        </p:spPr>
        <p:txBody>
          <a:bodyPr/>
          <a:lstStyle/>
          <a:p>
            <a:endParaRPr lang="en-US" sz="2400"/>
          </a:p>
        </p:txBody>
      </p:sp>
      <p:sp>
        <p:nvSpPr>
          <p:cNvPr id="12" name="Shape 9"/>
          <p:cNvSpPr/>
          <p:nvPr/>
        </p:nvSpPr>
        <p:spPr>
          <a:xfrm>
            <a:off x="6381751" y="3229943"/>
            <a:ext cx="76200" cy="2103091"/>
          </a:xfrm>
          <a:prstGeom prst="rect">
            <a:avLst/>
          </a:prstGeom>
          <a:solidFill>
            <a:srgbClr val="0055FF"/>
          </a:solidFill>
          <a:ln/>
        </p:spPr>
        <p:txBody>
          <a:bodyPr/>
          <a:lstStyle/>
          <a:p>
            <a:endParaRPr lang="en-US" sz="2400"/>
          </a:p>
        </p:txBody>
      </p:sp>
      <p:sp>
        <p:nvSpPr>
          <p:cNvPr id="13" name="Text 10"/>
          <p:cNvSpPr/>
          <p:nvPr/>
        </p:nvSpPr>
        <p:spPr>
          <a:xfrm>
            <a:off x="6419851" y="3004994"/>
            <a:ext cx="5619752" cy="2613088"/>
          </a:xfrm>
          <a:prstGeom prst="rect">
            <a:avLst/>
          </a:prstGeom>
          <a:noFill/>
          <a:ln/>
        </p:spPr>
        <p:txBody>
          <a:bodyPr wrap="square" lIns="453644" tIns="453644" rIns="453644" bIns="453644" rtlCol="0" anchor="t">
            <a:spAutoFit/>
          </a:bodyPr>
          <a:lstStyle/>
          <a:p>
            <a:pPr>
              <a:lnSpc>
                <a:spcPts val="2667"/>
              </a:lnSpc>
            </a:pPr>
            <a:r>
              <a:rPr lang="en-US" sz="1453" b="1" dirty="0">
                <a:solidFill>
                  <a:srgbClr val="0055FF"/>
                </a:solidFill>
              </a:rPr>
              <a:t>class </a:t>
            </a:r>
            <a:r>
              <a:rPr lang="en-US" sz="1453" b="1" dirty="0">
                <a:solidFill>
                  <a:srgbClr val="000000"/>
                </a:solidFill>
              </a:rPr>
              <a:t>Dog</a:t>
            </a:r>
            <a:r>
              <a:rPr lang="en-US" sz="1545" dirty="0">
                <a:solidFill>
                  <a:srgbClr val="333333"/>
                </a:solidFill>
              </a:rPr>
              <a:t>: </a:t>
            </a:r>
          </a:p>
          <a:p>
            <a:pPr>
              <a:lnSpc>
                <a:spcPts val="2667"/>
              </a:lnSpc>
            </a:pPr>
            <a:r>
              <a:rPr lang="en-US" sz="1453" b="1" dirty="0">
                <a:solidFill>
                  <a:srgbClr val="0055FF"/>
                </a:solidFill>
              </a:rPr>
              <a:t>             def</a:t>
            </a:r>
            <a:r>
              <a:rPr lang="en-US" sz="1453" b="1" dirty="0">
                <a:solidFill>
                  <a:srgbClr val="000000"/>
                </a:solidFill>
              </a:rPr>
              <a:t>__init__</a:t>
            </a:r>
            <a:r>
              <a:rPr lang="en-US" sz="1545" dirty="0">
                <a:solidFill>
                  <a:srgbClr val="333333"/>
                </a:solidFill>
              </a:rPr>
              <a:t>(</a:t>
            </a:r>
            <a:r>
              <a:rPr lang="en-US" sz="1545" dirty="0">
                <a:solidFill>
                  <a:srgbClr val="D32F2F"/>
                </a:solidFill>
              </a:rPr>
              <a:t>self</a:t>
            </a:r>
            <a:r>
              <a:rPr lang="en-US" sz="1545" dirty="0">
                <a:solidFill>
                  <a:srgbClr val="333333"/>
                </a:solidFill>
              </a:rPr>
              <a:t>, name, age, breed):</a:t>
            </a:r>
            <a:endParaRPr lang="en-US" sz="1545" i="1" dirty="0">
              <a:solidFill>
                <a:srgbClr val="888888"/>
              </a:solidFill>
            </a:endParaRPr>
          </a:p>
          <a:p>
            <a:pPr>
              <a:lnSpc>
                <a:spcPts val="2667"/>
              </a:lnSpc>
            </a:pPr>
            <a:r>
              <a:rPr lang="en-US" sz="1545" dirty="0">
                <a:solidFill>
                  <a:srgbClr val="D32F2F"/>
                </a:solidFill>
              </a:rPr>
              <a:t>                           </a:t>
            </a:r>
            <a:r>
              <a:rPr lang="en-US" sz="1545" dirty="0" err="1">
                <a:solidFill>
                  <a:srgbClr val="D32F2F"/>
                </a:solidFill>
              </a:rPr>
              <a:t>self</a:t>
            </a:r>
            <a:r>
              <a:rPr lang="en-US" sz="1545" dirty="0" err="1">
                <a:solidFill>
                  <a:srgbClr val="333333"/>
                </a:solidFill>
              </a:rPr>
              <a:t>.name</a:t>
            </a:r>
            <a:r>
              <a:rPr lang="en-US" sz="1545" dirty="0">
                <a:solidFill>
                  <a:srgbClr val="333333"/>
                </a:solidFill>
              </a:rPr>
              <a:t> = name</a:t>
            </a:r>
          </a:p>
          <a:p>
            <a:pPr>
              <a:lnSpc>
                <a:spcPts val="2667"/>
              </a:lnSpc>
            </a:pPr>
            <a:r>
              <a:rPr lang="en-US" sz="1545" dirty="0">
                <a:solidFill>
                  <a:srgbClr val="D32F2F"/>
                </a:solidFill>
              </a:rPr>
              <a:t>                           </a:t>
            </a:r>
            <a:r>
              <a:rPr lang="en-US" sz="1545" dirty="0" err="1">
                <a:solidFill>
                  <a:srgbClr val="D32F2F"/>
                </a:solidFill>
              </a:rPr>
              <a:t>self</a:t>
            </a:r>
            <a:r>
              <a:rPr lang="en-US" sz="1545" dirty="0" err="1">
                <a:solidFill>
                  <a:srgbClr val="333333"/>
                </a:solidFill>
              </a:rPr>
              <a:t>.age</a:t>
            </a:r>
            <a:r>
              <a:rPr lang="en-US" sz="1545" dirty="0">
                <a:solidFill>
                  <a:srgbClr val="333333"/>
                </a:solidFill>
              </a:rPr>
              <a:t> = age </a:t>
            </a:r>
          </a:p>
          <a:p>
            <a:pPr>
              <a:lnSpc>
                <a:spcPts val="2667"/>
              </a:lnSpc>
            </a:pPr>
            <a:r>
              <a:rPr lang="en-US" sz="1545" dirty="0">
                <a:solidFill>
                  <a:srgbClr val="D32F2F"/>
                </a:solidFill>
              </a:rPr>
              <a:t>                            </a:t>
            </a:r>
            <a:r>
              <a:rPr lang="en-US" sz="1545" dirty="0" err="1">
                <a:solidFill>
                  <a:srgbClr val="D32F2F"/>
                </a:solidFill>
              </a:rPr>
              <a:t>self</a:t>
            </a:r>
            <a:r>
              <a:rPr lang="en-US" sz="1545" dirty="0" err="1">
                <a:solidFill>
                  <a:srgbClr val="333333"/>
                </a:solidFill>
              </a:rPr>
              <a:t>.breed</a:t>
            </a:r>
            <a:r>
              <a:rPr lang="en-US" sz="1545" dirty="0">
                <a:solidFill>
                  <a:srgbClr val="333333"/>
                </a:solidFill>
              </a:rPr>
              <a:t>= breed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0347946" y="5645944"/>
            <a:ext cx="1558119" cy="1319400"/>
          </a:xfrm>
          <a:prstGeom prst="rect">
            <a:avLst/>
          </a:prstGeom>
          <a:noFill/>
          <a:ln/>
        </p:spPr>
        <p:txBody>
          <a:bodyPr wrap="none" lIns="0" tIns="0" rIns="0" bIns="0" rtlCol="0" anchor="t">
            <a:spAutoFit/>
          </a:bodyPr>
          <a:lstStyle/>
          <a:p>
            <a:pPr>
              <a:lnSpc>
                <a:spcPts val="10800"/>
              </a:lnSpc>
            </a:pPr>
            <a:r>
              <a:rPr lang="en-US" sz="8290" b="1" dirty="0">
                <a:solidFill>
                  <a:srgbClr val="F0F0F0"/>
                </a:solidFill>
              </a:rPr>
              <a:t>self</a:t>
            </a:r>
            <a:endParaRPr lang="en-US" sz="8290" dirty="0"/>
          </a:p>
        </p:txBody>
      </p:sp>
      <p:sp>
        <p:nvSpPr>
          <p:cNvPr id="4" name="Text 1"/>
          <p:cNvSpPr/>
          <p:nvPr/>
        </p:nvSpPr>
        <p:spPr>
          <a:xfrm>
            <a:off x="762001" y="702470"/>
            <a:ext cx="3580147" cy="523541"/>
          </a:xfrm>
          <a:prstGeom prst="rect">
            <a:avLst/>
          </a:prstGeom>
          <a:noFill/>
          <a:ln/>
        </p:spPr>
        <p:txBody>
          <a:bodyPr wrap="none" lIns="0" tIns="0" rIns="0" bIns="0" rtlCol="0" anchor="t">
            <a:spAutoFit/>
          </a:bodyPr>
          <a:lstStyle/>
          <a:p>
            <a:pPr>
              <a:lnSpc>
                <a:spcPts val="4267"/>
              </a:lnSpc>
            </a:pPr>
            <a:r>
              <a:rPr lang="en-US" sz="3248" kern="0" spc="-1" dirty="0">
                <a:solidFill>
                  <a:srgbClr val="000000"/>
                </a:solidFill>
              </a:rPr>
              <a:t>Understanding 'self' in Python</a:t>
            </a:r>
            <a:r>
              <a:rPr lang="en-US" sz="3248" b="1" kern="0" spc="-1" dirty="0">
                <a:solidFill>
                  <a:srgbClr val="000000"/>
                </a:solidFill>
              </a:rPr>
              <a:t> "self"</a:t>
            </a:r>
            <a:endParaRPr lang="en-US" sz="3248" dirty="0"/>
          </a:p>
        </p:txBody>
      </p:sp>
      <p:sp>
        <p:nvSpPr>
          <p:cNvPr id="5" name="Text 2"/>
          <p:cNvSpPr/>
          <p:nvPr/>
        </p:nvSpPr>
        <p:spPr>
          <a:xfrm>
            <a:off x="762000" y="1419225"/>
            <a:ext cx="2737544" cy="259238"/>
          </a:xfrm>
          <a:prstGeom prst="rect">
            <a:avLst/>
          </a:prstGeom>
          <a:noFill/>
          <a:ln/>
        </p:spPr>
        <p:txBody>
          <a:bodyPr wrap="none" lIns="0" tIns="0" rIns="0" bIns="0" rtlCol="0" anchor="t">
            <a:spAutoFit/>
          </a:bodyPr>
          <a:lstStyle/>
          <a:p>
            <a:pPr>
              <a:lnSpc>
                <a:spcPts val="2133"/>
              </a:lnSpc>
            </a:pPr>
            <a:r>
              <a:rPr lang="en-US" sz="1692" dirty="0">
                <a:solidFill>
                  <a:srgbClr val="666666"/>
                </a:solidFill>
              </a:rPr>
              <a:t>The Most Important Parameter</a:t>
            </a:r>
            <a:endParaRPr lang="en-US" sz="1692" dirty="0"/>
          </a:p>
        </p:txBody>
      </p:sp>
      <p:sp>
        <p:nvSpPr>
          <p:cNvPr id="6" name="Text 3"/>
          <p:cNvSpPr/>
          <p:nvPr/>
        </p:nvSpPr>
        <p:spPr>
          <a:xfrm>
            <a:off x="762000" y="2302670"/>
            <a:ext cx="1289498" cy="303481"/>
          </a:xfrm>
          <a:prstGeom prst="rect">
            <a:avLst/>
          </a:prstGeom>
          <a:noFill/>
          <a:ln/>
        </p:spPr>
        <p:txBody>
          <a:bodyPr wrap="none" lIns="226737" tIns="0" rIns="0" bIns="0" rtlCol="0" anchor="t">
            <a:spAutoFit/>
          </a:bodyPr>
          <a:lstStyle/>
          <a:p>
            <a:pPr>
              <a:lnSpc>
                <a:spcPts val="2533"/>
              </a:lnSpc>
            </a:pPr>
            <a:r>
              <a:rPr lang="en-US" sz="1863" b="1" dirty="0">
                <a:solidFill>
                  <a:srgbClr val="000000"/>
                </a:solidFill>
              </a:rPr>
              <a:t>What is it?</a:t>
            </a:r>
            <a:endParaRPr lang="en-US" sz="1863" dirty="0"/>
          </a:p>
        </p:txBody>
      </p:sp>
      <p:sp>
        <p:nvSpPr>
          <p:cNvPr id="7" name="Text 4"/>
          <p:cNvSpPr/>
          <p:nvPr/>
        </p:nvSpPr>
        <p:spPr>
          <a:xfrm>
            <a:off x="762000" y="2809875"/>
            <a:ext cx="4953000" cy="933910"/>
          </a:xfrm>
          <a:prstGeom prst="rect">
            <a:avLst/>
          </a:prstGeom>
          <a:noFill/>
          <a:ln/>
        </p:spPr>
        <p:txBody>
          <a:bodyPr wrap="square" lIns="294809" tIns="0" rIns="0" bIns="0" rtlCol="0" anchor="t">
            <a:spAutoFit/>
          </a:bodyPr>
          <a:lstStyle/>
          <a:p>
            <a:pPr>
              <a:lnSpc>
                <a:spcPts val="2533"/>
              </a:lnSpc>
            </a:pPr>
            <a:r>
              <a:rPr lang="en-US" sz="1545" dirty="0">
                <a:solidFill>
                  <a:srgbClr val="555555"/>
                </a:solidFill>
              </a:rPr>
              <a:t>It represents the </a:t>
            </a:r>
            <a:r>
              <a:rPr lang="en-US" sz="1453" b="1" dirty="0">
                <a:solidFill>
                  <a:srgbClr val="0055FF"/>
                </a:solidFill>
              </a:rPr>
              <a:t>current instance</a:t>
            </a:r>
            <a:r>
              <a:rPr lang="en-US" sz="1545" dirty="0">
                <a:solidFill>
                  <a:srgbClr val="555555"/>
                </a:solidFill>
              </a:rPr>
              <a:t> of the class. It allows the code to distinguish between "this specific user" and "any user".</a:t>
            </a:r>
            <a:endParaRPr lang="en-US" sz="1545" dirty="0"/>
          </a:p>
        </p:txBody>
      </p:sp>
      <p:sp>
        <p:nvSpPr>
          <p:cNvPr id="8" name="Text 5"/>
          <p:cNvSpPr/>
          <p:nvPr/>
        </p:nvSpPr>
        <p:spPr>
          <a:xfrm>
            <a:off x="762000" y="4229101"/>
            <a:ext cx="2204107" cy="303481"/>
          </a:xfrm>
          <a:prstGeom prst="rect">
            <a:avLst/>
          </a:prstGeom>
          <a:noFill/>
          <a:ln/>
        </p:spPr>
        <p:txBody>
          <a:bodyPr wrap="none" lIns="226737" tIns="0" rIns="0" bIns="0" rtlCol="0" anchor="t">
            <a:spAutoFit/>
          </a:bodyPr>
          <a:lstStyle/>
          <a:p>
            <a:pPr>
              <a:lnSpc>
                <a:spcPts val="2533"/>
              </a:lnSpc>
            </a:pPr>
            <a:r>
              <a:rPr lang="en-US" sz="1863" b="1" dirty="0">
                <a:solidFill>
                  <a:srgbClr val="000000"/>
                </a:solidFill>
              </a:rPr>
              <a:t>Why do we need it?</a:t>
            </a:r>
            <a:endParaRPr lang="en-US" sz="1863" dirty="0"/>
          </a:p>
        </p:txBody>
      </p:sp>
      <p:sp>
        <p:nvSpPr>
          <p:cNvPr id="9" name="Text 6"/>
          <p:cNvSpPr/>
          <p:nvPr/>
        </p:nvSpPr>
        <p:spPr>
          <a:xfrm>
            <a:off x="762000" y="4736307"/>
            <a:ext cx="4953000" cy="613309"/>
          </a:xfrm>
          <a:prstGeom prst="rect">
            <a:avLst/>
          </a:prstGeom>
          <a:noFill/>
          <a:ln/>
        </p:spPr>
        <p:txBody>
          <a:bodyPr wrap="square" lIns="294809" tIns="0" rIns="0" bIns="0" rtlCol="0" anchor="t">
            <a:spAutoFit/>
          </a:bodyPr>
          <a:lstStyle/>
          <a:p>
            <a:pPr>
              <a:lnSpc>
                <a:spcPts val="2533"/>
              </a:lnSpc>
            </a:pPr>
            <a:r>
              <a:rPr lang="en-US" sz="1545" dirty="0">
                <a:solidFill>
                  <a:srgbClr val="555555"/>
                </a:solidFill>
              </a:rPr>
              <a:t>So each object can have its own separate data. Without </a:t>
            </a:r>
            <a:r>
              <a:rPr lang="en-US" sz="1385" dirty="0">
                <a:solidFill>
                  <a:srgbClr val="333333"/>
                </a:solidFill>
              </a:rPr>
              <a:t>self</a:t>
            </a:r>
            <a:r>
              <a:rPr lang="en-US" sz="1545" dirty="0">
                <a:solidFill>
                  <a:srgbClr val="555555"/>
                </a:solidFill>
              </a:rPr>
              <a:t>, variables would be shared across all instances!</a:t>
            </a:r>
            <a:endParaRPr lang="en-US" sz="1545" dirty="0"/>
          </a:p>
        </p:txBody>
      </p:sp>
      <p:sp>
        <p:nvSpPr>
          <p:cNvPr id="10" name="Text 7"/>
          <p:cNvSpPr/>
          <p:nvPr/>
        </p:nvSpPr>
        <p:spPr>
          <a:xfrm>
            <a:off x="6477001" y="2302670"/>
            <a:ext cx="1534180" cy="303481"/>
          </a:xfrm>
          <a:prstGeom prst="rect">
            <a:avLst/>
          </a:prstGeom>
          <a:noFill/>
          <a:ln/>
        </p:spPr>
        <p:txBody>
          <a:bodyPr wrap="none" lIns="226737" tIns="0" rIns="0" bIns="0" rtlCol="0" anchor="t">
            <a:spAutoFit/>
          </a:bodyPr>
          <a:lstStyle/>
          <a:p>
            <a:pPr>
              <a:lnSpc>
                <a:spcPts val="2533"/>
              </a:lnSpc>
            </a:pPr>
            <a:r>
              <a:rPr lang="en-US" sz="1863" b="1" dirty="0">
                <a:solidFill>
                  <a:srgbClr val="000000"/>
                </a:solidFill>
              </a:rPr>
              <a:t>How it works</a:t>
            </a:r>
            <a:endParaRPr lang="en-US" sz="1863" dirty="0"/>
          </a:p>
        </p:txBody>
      </p:sp>
      <p:sp>
        <p:nvSpPr>
          <p:cNvPr id="11" name="Text 8"/>
          <p:cNvSpPr/>
          <p:nvPr/>
        </p:nvSpPr>
        <p:spPr>
          <a:xfrm>
            <a:off x="6477000" y="2809875"/>
            <a:ext cx="4953000" cy="933910"/>
          </a:xfrm>
          <a:prstGeom prst="rect">
            <a:avLst/>
          </a:prstGeom>
          <a:noFill/>
          <a:ln/>
        </p:spPr>
        <p:txBody>
          <a:bodyPr wrap="square" lIns="294809" tIns="0" rIns="0" bIns="0" rtlCol="0" anchor="t">
            <a:spAutoFit/>
          </a:bodyPr>
          <a:lstStyle/>
          <a:p>
            <a:pPr>
              <a:lnSpc>
                <a:spcPts val="2533"/>
              </a:lnSpc>
            </a:pPr>
            <a:r>
              <a:rPr lang="en-US" sz="1545" dirty="0">
                <a:solidFill>
                  <a:srgbClr val="555555"/>
                </a:solidFill>
              </a:rPr>
              <a:t>Python passes the object </a:t>
            </a:r>
            <a:r>
              <a:rPr lang="en-US" sz="1545" i="1" dirty="0">
                <a:solidFill>
                  <a:srgbClr val="555555"/>
                </a:solidFill>
              </a:rPr>
              <a:t>automatically</a:t>
            </a:r>
            <a:r>
              <a:rPr lang="en-US" sz="1545" dirty="0">
                <a:solidFill>
                  <a:srgbClr val="555555"/>
                </a:solidFill>
              </a:rPr>
              <a:t> as the first argument. You don't pass it yourself when calling methods.</a:t>
            </a:r>
            <a:endParaRPr lang="en-US" sz="1545" dirty="0"/>
          </a:p>
        </p:txBody>
      </p:sp>
      <p:sp>
        <p:nvSpPr>
          <p:cNvPr id="12" name="Shape 9"/>
          <p:cNvSpPr/>
          <p:nvPr/>
        </p:nvSpPr>
        <p:spPr>
          <a:xfrm>
            <a:off x="6477000" y="4619625"/>
            <a:ext cx="4953000" cy="1535907"/>
          </a:xfrm>
          <a:prstGeom prst="rect">
            <a:avLst/>
          </a:prstGeom>
          <a:solidFill>
            <a:srgbClr val="FFFFFF"/>
          </a:solidFill>
          <a:ln w="27432">
            <a:solidFill>
              <a:srgbClr val="000000"/>
            </a:solidFill>
            <a:prstDash val="solid"/>
          </a:ln>
        </p:spPr>
        <p:txBody>
          <a:bodyPr/>
          <a:lstStyle/>
          <a:p>
            <a:endParaRPr lang="en-US" sz="2400"/>
          </a:p>
        </p:txBody>
      </p:sp>
      <p:sp>
        <p:nvSpPr>
          <p:cNvPr id="13" name="Text 10"/>
          <p:cNvSpPr/>
          <p:nvPr/>
        </p:nvSpPr>
        <p:spPr>
          <a:xfrm>
            <a:off x="6762751" y="4981575"/>
            <a:ext cx="1896160" cy="227242"/>
          </a:xfrm>
          <a:prstGeom prst="rect">
            <a:avLst/>
          </a:prstGeom>
          <a:noFill/>
          <a:ln/>
        </p:spPr>
        <p:txBody>
          <a:bodyPr wrap="none" lIns="0" tIns="0" rIns="0" bIns="0" rtlCol="0" anchor="t">
            <a:spAutoFit/>
          </a:bodyPr>
          <a:lstStyle/>
          <a:p>
            <a:pPr>
              <a:lnSpc>
                <a:spcPts val="1867"/>
              </a:lnSpc>
            </a:pPr>
            <a:r>
              <a:rPr lang="en-US" sz="1316" b="1" dirty="0">
                <a:solidFill>
                  <a:srgbClr val="000000"/>
                </a:solidFill>
              </a:rPr>
              <a:t>Common Beginner Mistake</a:t>
            </a:r>
            <a:endParaRPr lang="en-US" sz="1316" dirty="0"/>
          </a:p>
        </p:txBody>
      </p:sp>
      <p:sp>
        <p:nvSpPr>
          <p:cNvPr id="14" name="Text 11"/>
          <p:cNvSpPr/>
          <p:nvPr/>
        </p:nvSpPr>
        <p:spPr>
          <a:xfrm>
            <a:off x="6762751" y="5336381"/>
            <a:ext cx="4381500" cy="518604"/>
          </a:xfrm>
          <a:prstGeom prst="rect">
            <a:avLst/>
          </a:prstGeom>
          <a:noFill/>
          <a:ln/>
        </p:spPr>
        <p:txBody>
          <a:bodyPr wrap="square" lIns="0" tIns="0" rIns="0" bIns="0" rtlCol="0" anchor="t">
            <a:spAutoFit/>
          </a:bodyPr>
          <a:lstStyle/>
          <a:p>
            <a:pPr>
              <a:lnSpc>
                <a:spcPts val="2133"/>
              </a:lnSpc>
            </a:pPr>
            <a:r>
              <a:rPr lang="en-US" sz="1400" dirty="0">
                <a:solidFill>
                  <a:srgbClr val="333333"/>
                </a:solidFill>
              </a:rPr>
              <a:t>Forgetting to include </a:t>
            </a:r>
            <a:r>
              <a:rPr lang="en-US" sz="1256" dirty="0">
                <a:solidFill>
                  <a:srgbClr val="333333"/>
                </a:solidFill>
              </a:rPr>
              <a:t>self</a:t>
            </a:r>
            <a:r>
              <a:rPr lang="en-US" sz="1400" dirty="0">
                <a:solidFill>
                  <a:srgbClr val="333333"/>
                </a:solidFill>
              </a:rPr>
              <a:t> as the </a:t>
            </a:r>
            <a:r>
              <a:rPr lang="en-US" sz="1316" b="1" dirty="0">
                <a:solidFill>
                  <a:srgbClr val="333333"/>
                </a:solidFill>
              </a:rPr>
              <a:t>first parameter</a:t>
            </a:r>
            <a:r>
              <a:rPr lang="en-US" sz="1400" dirty="0">
                <a:solidFill>
                  <a:srgbClr val="333333"/>
                </a:solidFill>
              </a:rPr>
              <a:t> in every method definition.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 0" descr="preencoded.png">
            <a:extLst>
              <a:ext uri="{FF2B5EF4-FFF2-40B4-BE49-F238E27FC236}">
                <a16:creationId xmlns:a16="http://schemas.microsoft.com/office/drawing/2014/main" id="{732DBD57-F2E6-C867-95C8-9B90505797EB}"/>
              </a:ext>
            </a:extLst>
          </p:cNvPr>
          <p:cNvPicPr>
            <a:picLocks noChangeAspect="1"/>
          </p:cNvPicPr>
          <p:nvPr/>
        </p:nvPicPr>
        <p:blipFill>
          <a:blip r:embed="rId3"/>
          <a:stretch>
            <a:fillRect/>
          </a:stretch>
        </p:blipFill>
        <p:spPr>
          <a:xfrm>
            <a:off x="6432284" y="3702561"/>
            <a:ext cx="5545149" cy="1533957"/>
          </a:xfrm>
          <a:prstGeom prst="rect">
            <a:avLst/>
          </a:prstGeom>
        </p:spPr>
      </p:pic>
      <p:pic>
        <p:nvPicPr>
          <p:cNvPr id="28" name="Image 0" descr="preencoded.png">
            <a:extLst>
              <a:ext uri="{FF2B5EF4-FFF2-40B4-BE49-F238E27FC236}">
                <a16:creationId xmlns:a16="http://schemas.microsoft.com/office/drawing/2014/main" id="{480871FB-39D9-6CB6-5B6C-63159BE80D5C}"/>
              </a:ext>
            </a:extLst>
          </p:cNvPr>
          <p:cNvPicPr>
            <a:picLocks noChangeAspect="1"/>
          </p:cNvPicPr>
          <p:nvPr/>
        </p:nvPicPr>
        <p:blipFill>
          <a:blip r:embed="rId3"/>
          <a:stretch>
            <a:fillRect/>
          </a:stretch>
        </p:blipFill>
        <p:spPr>
          <a:xfrm>
            <a:off x="6425882" y="2058374"/>
            <a:ext cx="5545149" cy="1533957"/>
          </a:xfrm>
          <a:prstGeom prst="rect">
            <a:avLst/>
          </a:prstGeom>
        </p:spPr>
      </p:pic>
      <p:sp>
        <p:nvSpPr>
          <p:cNvPr id="3" name="Text 0"/>
          <p:cNvSpPr/>
          <p:nvPr/>
        </p:nvSpPr>
        <p:spPr>
          <a:xfrm>
            <a:off x="762001" y="762001"/>
            <a:ext cx="2849691" cy="523541"/>
          </a:xfrm>
          <a:prstGeom prst="rect">
            <a:avLst/>
          </a:prstGeom>
          <a:noFill/>
          <a:ln/>
        </p:spPr>
        <p:txBody>
          <a:bodyPr wrap="none" lIns="0" tIns="0" rIns="0" bIns="0" rtlCol="0" anchor="t">
            <a:spAutoFit/>
          </a:bodyPr>
          <a:lstStyle/>
          <a:p>
            <a:pPr>
              <a:lnSpc>
                <a:spcPts val="4267"/>
              </a:lnSpc>
            </a:pPr>
            <a:r>
              <a:rPr lang="en-US" sz="3248" b="1" kern="0" spc="-1" dirty="0">
                <a:solidFill>
                  <a:srgbClr val="000000"/>
                </a:solidFill>
              </a:rPr>
              <a:t>Creating Objects</a:t>
            </a:r>
            <a:endParaRPr lang="en-US" sz="3248" dirty="0"/>
          </a:p>
        </p:txBody>
      </p:sp>
      <p:sp>
        <p:nvSpPr>
          <p:cNvPr id="4" name="Text 1"/>
          <p:cNvSpPr/>
          <p:nvPr/>
        </p:nvSpPr>
        <p:spPr>
          <a:xfrm>
            <a:off x="762001" y="1478756"/>
            <a:ext cx="3206647" cy="259238"/>
          </a:xfrm>
          <a:prstGeom prst="rect">
            <a:avLst/>
          </a:prstGeom>
          <a:noFill/>
          <a:ln/>
        </p:spPr>
        <p:txBody>
          <a:bodyPr wrap="none" lIns="0" tIns="0" rIns="0" bIns="0" rtlCol="0" anchor="t">
            <a:spAutoFit/>
          </a:bodyPr>
          <a:lstStyle/>
          <a:p>
            <a:pPr>
              <a:lnSpc>
                <a:spcPts val="2133"/>
              </a:lnSpc>
            </a:pPr>
            <a:r>
              <a:rPr lang="en-US" sz="1692" dirty="0">
                <a:solidFill>
                  <a:srgbClr val="666666"/>
                </a:solidFill>
              </a:rPr>
              <a:t>Making Instances from the Blueprint</a:t>
            </a:r>
            <a:endParaRPr lang="en-US" sz="1692" dirty="0"/>
          </a:p>
        </p:txBody>
      </p:sp>
      <p:sp>
        <p:nvSpPr>
          <p:cNvPr id="5" name="Shape 2"/>
          <p:cNvSpPr/>
          <p:nvPr/>
        </p:nvSpPr>
        <p:spPr>
          <a:xfrm>
            <a:off x="762001" y="2672954"/>
            <a:ext cx="4752975" cy="2095500"/>
          </a:xfrm>
          <a:prstGeom prst="rect">
            <a:avLst/>
          </a:prstGeom>
          <a:solidFill>
            <a:srgbClr val="F5F5F5"/>
          </a:solidFill>
          <a:ln/>
        </p:spPr>
        <p:txBody>
          <a:bodyPr/>
          <a:lstStyle/>
          <a:p>
            <a:endParaRPr lang="en-US" sz="2400"/>
          </a:p>
        </p:txBody>
      </p:sp>
      <p:sp>
        <p:nvSpPr>
          <p:cNvPr id="6" name="Shape 3"/>
          <p:cNvSpPr/>
          <p:nvPr/>
        </p:nvSpPr>
        <p:spPr>
          <a:xfrm>
            <a:off x="762001" y="2672954"/>
            <a:ext cx="57151" cy="2095500"/>
          </a:xfrm>
          <a:prstGeom prst="rect">
            <a:avLst/>
          </a:prstGeom>
          <a:solidFill>
            <a:srgbClr val="0055FF"/>
          </a:solidFill>
          <a:ln/>
        </p:spPr>
        <p:txBody>
          <a:bodyPr/>
          <a:lstStyle/>
          <a:p>
            <a:endParaRPr lang="en-US" sz="2400"/>
          </a:p>
        </p:txBody>
      </p:sp>
      <p:sp>
        <p:nvSpPr>
          <p:cNvPr id="7" name="Text 4"/>
          <p:cNvSpPr/>
          <p:nvPr/>
        </p:nvSpPr>
        <p:spPr>
          <a:xfrm>
            <a:off x="730525" y="2468651"/>
            <a:ext cx="5024100" cy="2504062"/>
          </a:xfrm>
          <a:prstGeom prst="rect">
            <a:avLst/>
          </a:prstGeom>
          <a:noFill/>
          <a:ln/>
        </p:spPr>
        <p:txBody>
          <a:bodyPr wrap="square" lIns="340191" tIns="340191" rIns="340191" bIns="340191" rtlCol="0" anchor="t">
            <a:spAutoFit/>
          </a:bodyPr>
          <a:lstStyle/>
          <a:p>
            <a:pPr>
              <a:lnSpc>
                <a:spcPts val="2400"/>
              </a:lnSpc>
            </a:pPr>
            <a:r>
              <a:rPr lang="en-US" sz="1400" i="1" dirty="0">
                <a:solidFill>
                  <a:srgbClr val="888888"/>
                </a:solidFill>
              </a:rPr>
              <a:t># Create two different users</a:t>
            </a:r>
          </a:p>
          <a:p>
            <a:pPr>
              <a:lnSpc>
                <a:spcPts val="2400"/>
              </a:lnSpc>
            </a:pPr>
            <a:r>
              <a:rPr lang="en-US" sz="1316" b="1" dirty="0">
                <a:solidFill>
                  <a:srgbClr val="000000"/>
                </a:solidFill>
              </a:rPr>
              <a:t>dog1</a:t>
            </a:r>
            <a:r>
              <a:rPr lang="en-US" sz="1400" dirty="0">
                <a:solidFill>
                  <a:srgbClr val="333333"/>
                </a:solidFill>
              </a:rPr>
              <a:t> = </a:t>
            </a:r>
            <a:r>
              <a:rPr lang="en-US" sz="1316" b="1" dirty="0">
                <a:solidFill>
                  <a:srgbClr val="0055FF"/>
                </a:solidFill>
              </a:rPr>
              <a:t>Dog</a:t>
            </a:r>
            <a:r>
              <a:rPr lang="en-US" sz="1400" dirty="0">
                <a:solidFill>
                  <a:srgbClr val="333333"/>
                </a:solidFill>
              </a:rPr>
              <a:t>(</a:t>
            </a:r>
            <a:r>
              <a:rPr lang="en-US" sz="1400" dirty="0">
                <a:solidFill>
                  <a:srgbClr val="008000"/>
                </a:solidFill>
              </a:rPr>
              <a:t>”Vuk"</a:t>
            </a:r>
            <a:r>
              <a:rPr lang="en-US" sz="1400" dirty="0">
                <a:solidFill>
                  <a:srgbClr val="333333"/>
                </a:solidFill>
              </a:rPr>
              <a:t>, 2 </a:t>
            </a:r>
            <a:r>
              <a:rPr lang="en-US" sz="1600" dirty="0">
                <a:solidFill>
                  <a:srgbClr val="008000"/>
                </a:solidFill>
              </a:rPr>
              <a:t>“</a:t>
            </a:r>
            <a:r>
              <a:rPr lang="en-US" sz="1600" dirty="0">
                <a:solidFill>
                  <a:schemeClr val="accent6">
                    <a:lumMod val="75000"/>
                  </a:schemeClr>
                </a:solidFill>
              </a:rPr>
              <a:t>Husky</a:t>
            </a:r>
            <a:r>
              <a:rPr lang="en-US" sz="1600" dirty="0">
                <a:solidFill>
                  <a:srgbClr val="333333"/>
                </a:solidFill>
              </a:rPr>
              <a:t> </a:t>
            </a:r>
            <a:r>
              <a:rPr lang="en-US" sz="1600" dirty="0">
                <a:solidFill>
                  <a:srgbClr val="008000"/>
                </a:solidFill>
              </a:rPr>
              <a:t>”</a:t>
            </a:r>
            <a:r>
              <a:rPr lang="en-US" sz="1600" dirty="0">
                <a:solidFill>
                  <a:srgbClr val="333333"/>
                </a:solidFill>
              </a:rPr>
              <a:t>)</a:t>
            </a:r>
          </a:p>
          <a:p>
            <a:pPr>
              <a:lnSpc>
                <a:spcPts val="2400"/>
              </a:lnSpc>
            </a:pPr>
            <a:r>
              <a:rPr lang="en-US" sz="1316" b="1" dirty="0">
                <a:solidFill>
                  <a:srgbClr val="000000"/>
                </a:solidFill>
              </a:rPr>
              <a:t>dog2</a:t>
            </a:r>
            <a:r>
              <a:rPr lang="en-US" sz="1400" dirty="0">
                <a:solidFill>
                  <a:srgbClr val="333333"/>
                </a:solidFill>
              </a:rPr>
              <a:t> = </a:t>
            </a:r>
            <a:r>
              <a:rPr lang="en-US" sz="1316" b="1" dirty="0">
                <a:solidFill>
                  <a:srgbClr val="0055FF"/>
                </a:solidFill>
              </a:rPr>
              <a:t>Dog</a:t>
            </a:r>
            <a:r>
              <a:rPr lang="en-US" sz="1400" dirty="0">
                <a:solidFill>
                  <a:srgbClr val="333333"/>
                </a:solidFill>
              </a:rPr>
              <a:t>( </a:t>
            </a:r>
            <a:r>
              <a:rPr lang="en-US" sz="1400" dirty="0">
                <a:solidFill>
                  <a:srgbClr val="008000"/>
                </a:solidFill>
              </a:rPr>
              <a:t>”Princess"</a:t>
            </a:r>
            <a:r>
              <a:rPr lang="en-US" sz="1400" dirty="0">
                <a:solidFill>
                  <a:srgbClr val="333333"/>
                </a:solidFill>
              </a:rPr>
              <a:t>,5, </a:t>
            </a:r>
            <a:r>
              <a:rPr lang="en-US" sz="1400" dirty="0">
                <a:solidFill>
                  <a:srgbClr val="008000"/>
                </a:solidFill>
              </a:rPr>
              <a:t>”Poodle”</a:t>
            </a:r>
            <a:r>
              <a:rPr lang="en-US" sz="1400" dirty="0">
                <a:solidFill>
                  <a:srgbClr val="333333"/>
                </a:solidFill>
              </a:rPr>
              <a:t>)</a:t>
            </a:r>
          </a:p>
          <a:p>
            <a:pPr>
              <a:lnSpc>
                <a:spcPts val="2400"/>
              </a:lnSpc>
            </a:pPr>
            <a:r>
              <a:rPr lang="en-US" sz="1400" i="1" dirty="0">
                <a:solidFill>
                  <a:srgbClr val="888888"/>
                </a:solidFill>
              </a:rPr>
              <a:t># Access data</a:t>
            </a:r>
            <a:r>
              <a:rPr lang="en-US" sz="1400" dirty="0">
                <a:solidFill>
                  <a:srgbClr val="333333"/>
                </a:solidFill>
              </a:rPr>
              <a:t> </a:t>
            </a:r>
          </a:p>
          <a:p>
            <a:pPr>
              <a:lnSpc>
                <a:spcPts val="2400"/>
              </a:lnSpc>
            </a:pPr>
            <a:r>
              <a:rPr lang="en-US" sz="1400" dirty="0">
                <a:solidFill>
                  <a:srgbClr val="333333"/>
                </a:solidFill>
              </a:rPr>
              <a:t>print(</a:t>
            </a:r>
            <a:r>
              <a:rPr lang="en-US" sz="1316" b="1" dirty="0">
                <a:solidFill>
                  <a:srgbClr val="000000"/>
                </a:solidFill>
              </a:rPr>
              <a:t>dog1</a:t>
            </a:r>
            <a:r>
              <a:rPr lang="en-US" sz="1400" dirty="0">
                <a:solidFill>
                  <a:srgbClr val="333333"/>
                </a:solidFill>
              </a:rPr>
              <a:t>.name) </a:t>
            </a:r>
            <a:r>
              <a:rPr lang="en-US" sz="1400" i="1" dirty="0">
                <a:solidFill>
                  <a:srgbClr val="888888"/>
                </a:solidFill>
              </a:rPr>
              <a:t># Output: Vuk</a:t>
            </a:r>
            <a:endParaRPr lang="en-US" sz="1400" i="1" dirty="0">
              <a:solidFill>
                <a:srgbClr val="333333"/>
              </a:solidFill>
            </a:endParaRPr>
          </a:p>
          <a:p>
            <a:pPr>
              <a:lnSpc>
                <a:spcPts val="2400"/>
              </a:lnSpc>
            </a:pPr>
            <a:r>
              <a:rPr lang="en-US" sz="1400" dirty="0">
                <a:solidFill>
                  <a:srgbClr val="333333"/>
                </a:solidFill>
              </a:rPr>
              <a:t>print(</a:t>
            </a:r>
            <a:r>
              <a:rPr lang="en-US" sz="1316" b="1" dirty="0">
                <a:solidFill>
                  <a:srgbClr val="000000"/>
                </a:solidFill>
              </a:rPr>
              <a:t>dog2</a:t>
            </a:r>
            <a:r>
              <a:rPr lang="en-US" sz="1400" dirty="0">
                <a:solidFill>
                  <a:srgbClr val="333333"/>
                </a:solidFill>
              </a:rPr>
              <a:t>.name) </a:t>
            </a:r>
            <a:r>
              <a:rPr lang="en-US" sz="1400" i="1" dirty="0">
                <a:solidFill>
                  <a:srgbClr val="888888"/>
                </a:solidFill>
              </a:rPr>
              <a:t># Output: Princess</a:t>
            </a:r>
            <a:endParaRPr lang="en-US" sz="1400" dirty="0"/>
          </a:p>
        </p:txBody>
      </p:sp>
      <p:sp>
        <p:nvSpPr>
          <p:cNvPr id="8" name="Shape 5"/>
          <p:cNvSpPr/>
          <p:nvPr/>
        </p:nvSpPr>
        <p:spPr>
          <a:xfrm>
            <a:off x="6886576" y="2191941"/>
            <a:ext cx="1417625" cy="207169"/>
          </a:xfrm>
          <a:prstGeom prst="rect">
            <a:avLst/>
          </a:prstGeom>
          <a:solidFill>
            <a:srgbClr val="FFFFFF"/>
          </a:solidFill>
          <a:ln/>
        </p:spPr>
        <p:txBody>
          <a:bodyPr/>
          <a:lstStyle/>
          <a:p>
            <a:endParaRPr lang="en-US" sz="2400"/>
          </a:p>
        </p:txBody>
      </p:sp>
      <p:sp>
        <p:nvSpPr>
          <p:cNvPr id="9" name="Text 6"/>
          <p:cNvSpPr/>
          <p:nvPr/>
        </p:nvSpPr>
        <p:spPr>
          <a:xfrm>
            <a:off x="6886575" y="2191941"/>
            <a:ext cx="1086729" cy="179665"/>
          </a:xfrm>
          <a:prstGeom prst="rect">
            <a:avLst/>
          </a:prstGeom>
          <a:noFill/>
          <a:ln/>
        </p:spPr>
        <p:txBody>
          <a:bodyPr wrap="none" lIns="113453" tIns="0" rIns="113453" bIns="0" rtlCol="0" anchor="t">
            <a:spAutoFit/>
          </a:bodyPr>
          <a:lstStyle/>
          <a:p>
            <a:pPr>
              <a:lnSpc>
                <a:spcPts val="1467"/>
              </a:lnSpc>
            </a:pPr>
            <a:r>
              <a:rPr lang="en-US" sz="1045" b="1" dirty="0">
                <a:solidFill>
                  <a:srgbClr val="0055FF"/>
                </a:solidFill>
              </a:rPr>
              <a:t>dog1 (Instance)</a:t>
            </a:r>
            <a:endParaRPr lang="en-US" sz="1045" dirty="0"/>
          </a:p>
        </p:txBody>
      </p:sp>
      <p:sp>
        <p:nvSpPr>
          <p:cNvPr id="10" name="Text 7"/>
          <p:cNvSpPr/>
          <p:nvPr/>
        </p:nvSpPr>
        <p:spPr>
          <a:xfrm>
            <a:off x="6886576" y="2515791"/>
            <a:ext cx="413575" cy="196400"/>
          </a:xfrm>
          <a:prstGeom prst="rect">
            <a:avLst/>
          </a:prstGeom>
          <a:noFill/>
          <a:ln/>
        </p:spPr>
        <p:txBody>
          <a:bodyPr wrap="none" lIns="0" tIns="0" rIns="0" bIns="0" rtlCol="0" anchor="t">
            <a:spAutoFit/>
          </a:bodyPr>
          <a:lstStyle/>
          <a:p>
            <a:pPr>
              <a:lnSpc>
                <a:spcPts val="1600"/>
              </a:lnSpc>
            </a:pPr>
            <a:r>
              <a:rPr lang="en-US" sz="1256" dirty="0">
                <a:solidFill>
                  <a:srgbClr val="666666"/>
                </a:solidFill>
              </a:rPr>
              <a:t>name:</a:t>
            </a:r>
            <a:endParaRPr lang="en-US" sz="1256" dirty="0"/>
          </a:p>
        </p:txBody>
      </p:sp>
      <p:sp>
        <p:nvSpPr>
          <p:cNvPr id="11" name="Text 8"/>
          <p:cNvSpPr/>
          <p:nvPr/>
        </p:nvSpPr>
        <p:spPr>
          <a:xfrm>
            <a:off x="10669564" y="2515792"/>
            <a:ext cx="375103" cy="193771"/>
          </a:xfrm>
          <a:prstGeom prst="rect">
            <a:avLst/>
          </a:prstGeom>
          <a:noFill/>
          <a:ln/>
        </p:spPr>
        <p:txBody>
          <a:bodyPr wrap="none" lIns="0" tIns="0" rIns="0" bIns="0" rtlCol="0" anchor="t">
            <a:spAutoFit/>
          </a:bodyPr>
          <a:lstStyle/>
          <a:p>
            <a:pPr>
              <a:lnSpc>
                <a:spcPts val="1600"/>
              </a:lnSpc>
            </a:pPr>
            <a:r>
              <a:rPr lang="en-US" sz="1180" b="1" dirty="0">
                <a:solidFill>
                  <a:srgbClr val="000000"/>
                </a:solidFill>
              </a:rPr>
              <a:t>”Vuk"</a:t>
            </a:r>
            <a:endParaRPr lang="en-US" sz="1180" dirty="0"/>
          </a:p>
        </p:txBody>
      </p:sp>
      <p:sp>
        <p:nvSpPr>
          <p:cNvPr id="12" name="Text 9"/>
          <p:cNvSpPr/>
          <p:nvPr/>
        </p:nvSpPr>
        <p:spPr>
          <a:xfrm>
            <a:off x="6886575" y="2825353"/>
            <a:ext cx="274370" cy="196400"/>
          </a:xfrm>
          <a:prstGeom prst="rect">
            <a:avLst/>
          </a:prstGeom>
          <a:noFill/>
          <a:ln/>
        </p:spPr>
        <p:txBody>
          <a:bodyPr wrap="none" lIns="0" tIns="0" rIns="0" bIns="0" rtlCol="0" anchor="t">
            <a:spAutoFit/>
          </a:bodyPr>
          <a:lstStyle/>
          <a:p>
            <a:pPr>
              <a:lnSpc>
                <a:spcPts val="1600"/>
              </a:lnSpc>
            </a:pPr>
            <a:r>
              <a:rPr lang="en-US" sz="1256" dirty="0">
                <a:solidFill>
                  <a:srgbClr val="666666"/>
                </a:solidFill>
              </a:rPr>
              <a:t>age:</a:t>
            </a:r>
            <a:endParaRPr lang="en-US" sz="1256" dirty="0"/>
          </a:p>
        </p:txBody>
      </p:sp>
      <p:sp>
        <p:nvSpPr>
          <p:cNvPr id="13" name="Text 10"/>
          <p:cNvSpPr/>
          <p:nvPr/>
        </p:nvSpPr>
        <p:spPr>
          <a:xfrm>
            <a:off x="10819176" y="2807036"/>
            <a:ext cx="76944" cy="193771"/>
          </a:xfrm>
          <a:prstGeom prst="rect">
            <a:avLst/>
          </a:prstGeom>
          <a:noFill/>
          <a:ln/>
        </p:spPr>
        <p:txBody>
          <a:bodyPr wrap="none" lIns="0" tIns="0" rIns="0" bIns="0" rtlCol="0" anchor="t">
            <a:spAutoFit/>
          </a:bodyPr>
          <a:lstStyle/>
          <a:p>
            <a:pPr>
              <a:lnSpc>
                <a:spcPts val="1600"/>
              </a:lnSpc>
            </a:pPr>
            <a:r>
              <a:rPr lang="en-US" sz="1180" b="1" dirty="0"/>
              <a:t>2</a:t>
            </a:r>
            <a:endParaRPr lang="en-US" sz="1180" dirty="0"/>
          </a:p>
        </p:txBody>
      </p:sp>
      <p:sp>
        <p:nvSpPr>
          <p:cNvPr id="14" name="Text 11"/>
          <p:cNvSpPr/>
          <p:nvPr/>
        </p:nvSpPr>
        <p:spPr>
          <a:xfrm>
            <a:off x="6886575" y="3134916"/>
            <a:ext cx="424283" cy="196400"/>
          </a:xfrm>
          <a:prstGeom prst="rect">
            <a:avLst/>
          </a:prstGeom>
          <a:noFill/>
          <a:ln/>
        </p:spPr>
        <p:txBody>
          <a:bodyPr wrap="none" lIns="0" tIns="0" rIns="0" bIns="0" rtlCol="0" anchor="t">
            <a:spAutoFit/>
          </a:bodyPr>
          <a:lstStyle/>
          <a:p>
            <a:pPr>
              <a:lnSpc>
                <a:spcPts val="1600"/>
              </a:lnSpc>
            </a:pPr>
            <a:r>
              <a:rPr lang="en-US" sz="1256" dirty="0">
                <a:solidFill>
                  <a:srgbClr val="666666"/>
                </a:solidFill>
              </a:rPr>
              <a:t>breed:</a:t>
            </a:r>
            <a:endParaRPr lang="en-US" sz="1256" dirty="0"/>
          </a:p>
        </p:txBody>
      </p:sp>
      <p:sp>
        <p:nvSpPr>
          <p:cNvPr id="15" name="Text 12"/>
          <p:cNvSpPr/>
          <p:nvPr/>
        </p:nvSpPr>
        <p:spPr>
          <a:xfrm>
            <a:off x="10521776" y="3134917"/>
            <a:ext cx="514564" cy="193771"/>
          </a:xfrm>
          <a:prstGeom prst="rect">
            <a:avLst/>
          </a:prstGeom>
          <a:noFill/>
          <a:ln/>
        </p:spPr>
        <p:txBody>
          <a:bodyPr wrap="none" lIns="0" tIns="0" rIns="0" bIns="0" rtlCol="0" anchor="t">
            <a:spAutoFit/>
          </a:bodyPr>
          <a:lstStyle/>
          <a:p>
            <a:pPr>
              <a:lnSpc>
                <a:spcPts val="1600"/>
              </a:lnSpc>
            </a:pPr>
            <a:r>
              <a:rPr lang="en-US" sz="1180" b="1" dirty="0">
                <a:solidFill>
                  <a:srgbClr val="000000"/>
                </a:solidFill>
              </a:rPr>
              <a:t>“Husky”</a:t>
            </a:r>
            <a:endParaRPr lang="en-US" sz="1180" dirty="0"/>
          </a:p>
        </p:txBody>
      </p:sp>
      <p:sp>
        <p:nvSpPr>
          <p:cNvPr id="16" name="Shape 13"/>
          <p:cNvSpPr/>
          <p:nvPr/>
        </p:nvSpPr>
        <p:spPr>
          <a:xfrm>
            <a:off x="6886576" y="3749280"/>
            <a:ext cx="1417625" cy="207169"/>
          </a:xfrm>
          <a:prstGeom prst="rect">
            <a:avLst/>
          </a:prstGeom>
          <a:solidFill>
            <a:srgbClr val="FFFFFF"/>
          </a:solidFill>
          <a:ln/>
        </p:spPr>
        <p:txBody>
          <a:bodyPr/>
          <a:lstStyle/>
          <a:p>
            <a:endParaRPr lang="en-US" sz="2400"/>
          </a:p>
        </p:txBody>
      </p:sp>
      <p:sp>
        <p:nvSpPr>
          <p:cNvPr id="17" name="Text 14"/>
          <p:cNvSpPr/>
          <p:nvPr/>
        </p:nvSpPr>
        <p:spPr>
          <a:xfrm>
            <a:off x="6886575" y="3749280"/>
            <a:ext cx="1086729" cy="179665"/>
          </a:xfrm>
          <a:prstGeom prst="rect">
            <a:avLst/>
          </a:prstGeom>
          <a:noFill/>
          <a:ln/>
        </p:spPr>
        <p:txBody>
          <a:bodyPr wrap="none" lIns="113453" tIns="0" rIns="113453" bIns="0" rtlCol="0" anchor="t">
            <a:spAutoFit/>
          </a:bodyPr>
          <a:lstStyle/>
          <a:p>
            <a:pPr>
              <a:lnSpc>
                <a:spcPts val="1467"/>
              </a:lnSpc>
            </a:pPr>
            <a:r>
              <a:rPr lang="en-US" sz="1045" b="1" dirty="0">
                <a:solidFill>
                  <a:srgbClr val="0055FF"/>
                </a:solidFill>
              </a:rPr>
              <a:t>dog2 (Instance)</a:t>
            </a:r>
            <a:endParaRPr lang="en-US" sz="1045" dirty="0"/>
          </a:p>
        </p:txBody>
      </p:sp>
      <p:sp>
        <p:nvSpPr>
          <p:cNvPr id="18" name="Text 15"/>
          <p:cNvSpPr/>
          <p:nvPr/>
        </p:nvSpPr>
        <p:spPr>
          <a:xfrm>
            <a:off x="6886576" y="4073128"/>
            <a:ext cx="413575" cy="196400"/>
          </a:xfrm>
          <a:prstGeom prst="rect">
            <a:avLst/>
          </a:prstGeom>
          <a:noFill/>
          <a:ln/>
        </p:spPr>
        <p:txBody>
          <a:bodyPr wrap="none" lIns="0" tIns="0" rIns="0" bIns="0" rtlCol="0" anchor="t">
            <a:spAutoFit/>
          </a:bodyPr>
          <a:lstStyle/>
          <a:p>
            <a:pPr>
              <a:lnSpc>
                <a:spcPts val="1600"/>
              </a:lnSpc>
            </a:pPr>
            <a:r>
              <a:rPr lang="en-US" sz="1256" dirty="0">
                <a:solidFill>
                  <a:srgbClr val="666666"/>
                </a:solidFill>
              </a:rPr>
              <a:t>name:</a:t>
            </a:r>
            <a:endParaRPr lang="en-US" sz="1256" dirty="0"/>
          </a:p>
        </p:txBody>
      </p:sp>
      <p:sp>
        <p:nvSpPr>
          <p:cNvPr id="19" name="Text 16"/>
          <p:cNvSpPr/>
          <p:nvPr/>
        </p:nvSpPr>
        <p:spPr>
          <a:xfrm>
            <a:off x="10737131" y="4073129"/>
            <a:ext cx="647613" cy="193771"/>
          </a:xfrm>
          <a:prstGeom prst="rect">
            <a:avLst/>
          </a:prstGeom>
          <a:noFill/>
          <a:ln/>
        </p:spPr>
        <p:txBody>
          <a:bodyPr wrap="none" lIns="0" tIns="0" rIns="0" bIns="0" rtlCol="0" anchor="t">
            <a:spAutoFit/>
          </a:bodyPr>
          <a:lstStyle/>
          <a:p>
            <a:pPr>
              <a:lnSpc>
                <a:spcPts val="1600"/>
              </a:lnSpc>
            </a:pPr>
            <a:r>
              <a:rPr lang="en-US" sz="1180" b="1" dirty="0">
                <a:solidFill>
                  <a:srgbClr val="000000"/>
                </a:solidFill>
              </a:rPr>
              <a:t>”Princess"</a:t>
            </a:r>
            <a:endParaRPr lang="en-US" sz="1180" dirty="0"/>
          </a:p>
        </p:txBody>
      </p:sp>
      <p:sp>
        <p:nvSpPr>
          <p:cNvPr id="20" name="Text 17"/>
          <p:cNvSpPr/>
          <p:nvPr/>
        </p:nvSpPr>
        <p:spPr>
          <a:xfrm>
            <a:off x="6886575" y="4382691"/>
            <a:ext cx="274370" cy="196400"/>
          </a:xfrm>
          <a:prstGeom prst="rect">
            <a:avLst/>
          </a:prstGeom>
          <a:noFill/>
          <a:ln/>
        </p:spPr>
        <p:txBody>
          <a:bodyPr wrap="none" lIns="0" tIns="0" rIns="0" bIns="0" rtlCol="0" anchor="t">
            <a:spAutoFit/>
          </a:bodyPr>
          <a:lstStyle/>
          <a:p>
            <a:pPr>
              <a:lnSpc>
                <a:spcPts val="1600"/>
              </a:lnSpc>
            </a:pPr>
            <a:r>
              <a:rPr lang="en-US" sz="1256" dirty="0">
                <a:solidFill>
                  <a:srgbClr val="666666"/>
                </a:solidFill>
              </a:rPr>
              <a:t>age:</a:t>
            </a:r>
            <a:endParaRPr lang="en-US" sz="1256" dirty="0"/>
          </a:p>
        </p:txBody>
      </p:sp>
      <p:sp>
        <p:nvSpPr>
          <p:cNvPr id="21" name="Text 18"/>
          <p:cNvSpPr/>
          <p:nvPr/>
        </p:nvSpPr>
        <p:spPr>
          <a:xfrm>
            <a:off x="10982924" y="4305118"/>
            <a:ext cx="76944" cy="193771"/>
          </a:xfrm>
          <a:prstGeom prst="rect">
            <a:avLst/>
          </a:prstGeom>
          <a:noFill/>
          <a:ln/>
        </p:spPr>
        <p:txBody>
          <a:bodyPr wrap="none" lIns="0" tIns="0" rIns="0" bIns="0" rtlCol="0" anchor="t">
            <a:spAutoFit/>
          </a:bodyPr>
          <a:lstStyle/>
          <a:p>
            <a:pPr>
              <a:lnSpc>
                <a:spcPts val="1600"/>
              </a:lnSpc>
            </a:pPr>
            <a:r>
              <a:rPr lang="en-US" sz="1180" b="1" dirty="0"/>
              <a:t>5</a:t>
            </a:r>
            <a:endParaRPr lang="en-US" sz="1180" dirty="0"/>
          </a:p>
        </p:txBody>
      </p:sp>
      <p:sp>
        <p:nvSpPr>
          <p:cNvPr id="22" name="Text 19"/>
          <p:cNvSpPr/>
          <p:nvPr/>
        </p:nvSpPr>
        <p:spPr>
          <a:xfrm>
            <a:off x="6886575" y="4692253"/>
            <a:ext cx="381002" cy="196400"/>
          </a:xfrm>
          <a:prstGeom prst="rect">
            <a:avLst/>
          </a:prstGeom>
          <a:noFill/>
          <a:ln/>
        </p:spPr>
        <p:txBody>
          <a:bodyPr wrap="none" lIns="0" tIns="0" rIns="0" bIns="0" rtlCol="0" anchor="t">
            <a:spAutoFit/>
          </a:bodyPr>
          <a:lstStyle/>
          <a:p>
            <a:pPr>
              <a:lnSpc>
                <a:spcPts val="1600"/>
              </a:lnSpc>
            </a:pPr>
            <a:r>
              <a:rPr lang="en-US" sz="1256" dirty="0">
                <a:solidFill>
                  <a:srgbClr val="666666"/>
                </a:solidFill>
              </a:rPr>
              <a:t>breed</a:t>
            </a:r>
            <a:endParaRPr lang="en-US" sz="1256" dirty="0"/>
          </a:p>
        </p:txBody>
      </p:sp>
      <p:sp>
        <p:nvSpPr>
          <p:cNvPr id="23" name="Text 20"/>
          <p:cNvSpPr/>
          <p:nvPr/>
        </p:nvSpPr>
        <p:spPr>
          <a:xfrm>
            <a:off x="10733077" y="4672948"/>
            <a:ext cx="570669" cy="193771"/>
          </a:xfrm>
          <a:prstGeom prst="rect">
            <a:avLst/>
          </a:prstGeom>
          <a:noFill/>
          <a:ln/>
        </p:spPr>
        <p:txBody>
          <a:bodyPr wrap="none" lIns="0" tIns="0" rIns="0" bIns="0" rtlCol="0" anchor="t">
            <a:spAutoFit/>
          </a:bodyPr>
          <a:lstStyle/>
          <a:p>
            <a:pPr>
              <a:lnSpc>
                <a:spcPts val="1600"/>
              </a:lnSpc>
            </a:pPr>
            <a:r>
              <a:rPr lang="en-US" sz="1180" b="1" dirty="0">
                <a:solidFill>
                  <a:srgbClr val="000000"/>
                </a:solidFill>
              </a:rPr>
              <a:t>”Poodle”</a:t>
            </a:r>
            <a:endParaRPr lang="en-US" sz="1180" dirty="0"/>
          </a:p>
        </p:txBody>
      </p:sp>
      <p:sp>
        <p:nvSpPr>
          <p:cNvPr id="24" name="Shape 21"/>
          <p:cNvSpPr/>
          <p:nvPr/>
        </p:nvSpPr>
        <p:spPr>
          <a:xfrm>
            <a:off x="762000" y="5555456"/>
            <a:ext cx="10668000" cy="540544"/>
          </a:xfrm>
          <a:prstGeom prst="rect">
            <a:avLst/>
          </a:prstGeom>
          <a:solidFill>
            <a:srgbClr val="000000">
              <a:alpha val="0"/>
            </a:srgbClr>
          </a:solidFill>
          <a:ln/>
        </p:spPr>
        <p:txBody>
          <a:bodyPr/>
          <a:lstStyle/>
          <a:p>
            <a:endParaRPr lang="en-US" sz="2400"/>
          </a:p>
        </p:txBody>
      </p:sp>
      <p:sp>
        <p:nvSpPr>
          <p:cNvPr id="25" name="Shape 22"/>
          <p:cNvSpPr/>
          <p:nvPr/>
        </p:nvSpPr>
        <p:spPr>
          <a:xfrm>
            <a:off x="762000" y="5555457"/>
            <a:ext cx="10668000" cy="38100"/>
          </a:xfrm>
          <a:prstGeom prst="rect">
            <a:avLst/>
          </a:prstGeom>
          <a:solidFill>
            <a:srgbClr val="0055FF"/>
          </a:solidFill>
          <a:ln/>
        </p:spPr>
        <p:txBody>
          <a:bodyPr/>
          <a:lstStyle/>
          <a:p>
            <a:endParaRPr lang="en-US" sz="2400"/>
          </a:p>
        </p:txBody>
      </p:sp>
      <p:sp>
        <p:nvSpPr>
          <p:cNvPr id="26" name="Text 23"/>
          <p:cNvSpPr/>
          <p:nvPr/>
        </p:nvSpPr>
        <p:spPr>
          <a:xfrm>
            <a:off x="762000" y="5555457"/>
            <a:ext cx="10668000" cy="484790"/>
          </a:xfrm>
          <a:prstGeom prst="rect">
            <a:avLst/>
          </a:prstGeom>
          <a:noFill/>
          <a:ln/>
        </p:spPr>
        <p:txBody>
          <a:bodyPr wrap="square" lIns="0" tIns="226737" rIns="0" bIns="0" rtlCol="0" anchor="t">
            <a:spAutoFit/>
          </a:bodyPr>
          <a:lstStyle/>
          <a:p>
            <a:pPr>
              <a:lnSpc>
                <a:spcPts val="2133"/>
              </a:lnSpc>
            </a:pPr>
            <a:r>
              <a:rPr lang="en-US" sz="1591" b="1" dirty="0">
                <a:solidFill>
                  <a:srgbClr val="000000"/>
                </a:solidFill>
              </a:rPr>
              <a:t>Key Concept: Each instance has its own separate memory and data.</a:t>
            </a:r>
            <a:endParaRPr lang="en-US" sz="159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762000" y="571501"/>
            <a:ext cx="5086072" cy="523541"/>
          </a:xfrm>
          <a:prstGeom prst="rect">
            <a:avLst/>
          </a:prstGeom>
          <a:noFill/>
          <a:ln/>
        </p:spPr>
        <p:txBody>
          <a:bodyPr wrap="none" lIns="0" tIns="0" rIns="0" bIns="0" rtlCol="0" anchor="t">
            <a:spAutoFit/>
          </a:bodyPr>
          <a:lstStyle/>
          <a:p>
            <a:pPr>
              <a:lnSpc>
                <a:spcPts val="4267"/>
              </a:lnSpc>
            </a:pPr>
            <a:r>
              <a:rPr lang="en-US" sz="3248" b="1" kern="0" spc="-1" dirty="0">
                <a:solidFill>
                  <a:srgbClr val="000000"/>
                </a:solidFill>
              </a:rPr>
              <a:t>Complete Dog Class Example</a:t>
            </a:r>
            <a:endParaRPr lang="en-US" sz="3248" dirty="0"/>
          </a:p>
        </p:txBody>
      </p:sp>
      <p:sp>
        <p:nvSpPr>
          <p:cNvPr id="4" name="Text 1"/>
          <p:cNvSpPr/>
          <p:nvPr/>
        </p:nvSpPr>
        <p:spPr>
          <a:xfrm>
            <a:off x="762001" y="1288256"/>
            <a:ext cx="1375377" cy="259238"/>
          </a:xfrm>
          <a:prstGeom prst="rect">
            <a:avLst/>
          </a:prstGeom>
          <a:noFill/>
          <a:ln/>
        </p:spPr>
        <p:txBody>
          <a:bodyPr wrap="none" lIns="0" tIns="0" rIns="0" bIns="0" rtlCol="0" anchor="t">
            <a:spAutoFit/>
          </a:bodyPr>
          <a:lstStyle/>
          <a:p>
            <a:pPr>
              <a:lnSpc>
                <a:spcPts val="2133"/>
              </a:lnSpc>
            </a:pPr>
            <a:r>
              <a:rPr lang="en-US" sz="1692" dirty="0">
                <a:solidFill>
                  <a:srgbClr val="666666"/>
                </a:solidFill>
              </a:rPr>
              <a:t>Hands-On Code</a:t>
            </a:r>
            <a:endParaRPr lang="en-US" sz="1692" dirty="0"/>
          </a:p>
        </p:txBody>
      </p:sp>
      <p:sp>
        <p:nvSpPr>
          <p:cNvPr id="5" name="Text 2"/>
          <p:cNvSpPr/>
          <p:nvPr/>
        </p:nvSpPr>
        <p:spPr>
          <a:xfrm>
            <a:off x="762000" y="1981200"/>
            <a:ext cx="1289648" cy="227242"/>
          </a:xfrm>
          <a:prstGeom prst="rect">
            <a:avLst/>
          </a:prstGeom>
          <a:noFill/>
          <a:ln/>
        </p:spPr>
        <p:txBody>
          <a:bodyPr wrap="none" lIns="0" tIns="0" rIns="0" bIns="0" rtlCol="0" anchor="t">
            <a:spAutoFit/>
          </a:bodyPr>
          <a:lstStyle/>
          <a:p>
            <a:pPr>
              <a:lnSpc>
                <a:spcPts val="1867"/>
              </a:lnSpc>
            </a:pPr>
            <a:r>
              <a:rPr lang="en-US" sz="1316" b="1" kern="0" spc="1" dirty="0">
                <a:solidFill>
                  <a:srgbClr val="0055FF"/>
                </a:solidFill>
              </a:rPr>
              <a:t>1. Define the Class</a:t>
            </a:r>
            <a:endParaRPr lang="en-US" sz="1316" dirty="0"/>
          </a:p>
        </p:txBody>
      </p:sp>
      <p:sp>
        <p:nvSpPr>
          <p:cNvPr id="6" name="Shape 3"/>
          <p:cNvSpPr/>
          <p:nvPr/>
        </p:nvSpPr>
        <p:spPr>
          <a:xfrm>
            <a:off x="762001" y="2383631"/>
            <a:ext cx="5143500" cy="3902869"/>
          </a:xfrm>
          <a:prstGeom prst="rect">
            <a:avLst/>
          </a:prstGeom>
          <a:solidFill>
            <a:srgbClr val="F5F5F5"/>
          </a:solidFill>
          <a:ln/>
        </p:spPr>
        <p:txBody>
          <a:bodyPr/>
          <a:lstStyle/>
          <a:p>
            <a:endParaRPr lang="en-US" sz="2400"/>
          </a:p>
        </p:txBody>
      </p:sp>
      <p:sp>
        <p:nvSpPr>
          <p:cNvPr id="7" name="Shape 4"/>
          <p:cNvSpPr/>
          <p:nvPr/>
        </p:nvSpPr>
        <p:spPr>
          <a:xfrm>
            <a:off x="762001" y="2383631"/>
            <a:ext cx="57151" cy="3902869"/>
          </a:xfrm>
          <a:prstGeom prst="rect">
            <a:avLst/>
          </a:prstGeom>
          <a:solidFill>
            <a:srgbClr val="0055FF"/>
          </a:solidFill>
          <a:ln/>
        </p:spPr>
        <p:txBody>
          <a:bodyPr/>
          <a:lstStyle/>
          <a:p>
            <a:endParaRPr lang="en-US" sz="2400"/>
          </a:p>
        </p:txBody>
      </p:sp>
      <p:sp>
        <p:nvSpPr>
          <p:cNvPr id="8" name="Text 5"/>
          <p:cNvSpPr/>
          <p:nvPr/>
        </p:nvSpPr>
        <p:spPr>
          <a:xfrm>
            <a:off x="762001" y="2383631"/>
            <a:ext cx="5143500" cy="2376784"/>
          </a:xfrm>
          <a:prstGeom prst="rect">
            <a:avLst/>
          </a:prstGeom>
          <a:noFill/>
          <a:ln/>
        </p:spPr>
        <p:txBody>
          <a:bodyPr wrap="square" lIns="340191" tIns="340191" rIns="340191" bIns="340191" rtlCol="0" anchor="t">
            <a:spAutoFit/>
          </a:bodyPr>
          <a:lstStyle/>
          <a:p>
            <a:pPr>
              <a:lnSpc>
                <a:spcPts val="2667"/>
              </a:lnSpc>
            </a:pPr>
            <a:r>
              <a:rPr lang="en-US" sz="1200" b="1" dirty="0">
                <a:solidFill>
                  <a:srgbClr val="0055FF"/>
                </a:solidFill>
              </a:rPr>
              <a:t>class </a:t>
            </a:r>
            <a:r>
              <a:rPr lang="en-US" sz="1200" b="1" dirty="0">
                <a:solidFill>
                  <a:srgbClr val="000000"/>
                </a:solidFill>
              </a:rPr>
              <a:t>Dog</a:t>
            </a:r>
            <a:r>
              <a:rPr lang="en-US" sz="1333" dirty="0">
                <a:solidFill>
                  <a:srgbClr val="333333"/>
                </a:solidFill>
              </a:rPr>
              <a:t>: </a:t>
            </a:r>
          </a:p>
          <a:p>
            <a:pPr>
              <a:lnSpc>
                <a:spcPts val="2667"/>
              </a:lnSpc>
            </a:pPr>
            <a:r>
              <a:rPr lang="en-US" sz="1200" b="1" dirty="0">
                <a:solidFill>
                  <a:srgbClr val="0055FF"/>
                </a:solidFill>
              </a:rPr>
              <a:t>             def</a:t>
            </a:r>
            <a:r>
              <a:rPr lang="en-US" sz="1200" b="1" dirty="0">
                <a:solidFill>
                  <a:srgbClr val="000000"/>
                </a:solidFill>
              </a:rPr>
              <a:t>__</a:t>
            </a:r>
            <a:r>
              <a:rPr lang="en-US" sz="1200" b="1" dirty="0" err="1">
                <a:solidFill>
                  <a:srgbClr val="000000"/>
                </a:solidFill>
              </a:rPr>
              <a:t>init</a:t>
            </a:r>
            <a:r>
              <a:rPr lang="en-US" sz="1200" b="1" dirty="0">
                <a:solidFill>
                  <a:srgbClr val="000000"/>
                </a:solidFill>
              </a:rPr>
              <a:t>__</a:t>
            </a:r>
            <a:r>
              <a:rPr lang="en-US" sz="1333" dirty="0">
                <a:solidFill>
                  <a:srgbClr val="333333"/>
                </a:solidFill>
              </a:rPr>
              <a:t>(</a:t>
            </a:r>
            <a:r>
              <a:rPr lang="en-US" sz="1333" dirty="0">
                <a:solidFill>
                  <a:srgbClr val="D32F2F"/>
                </a:solidFill>
              </a:rPr>
              <a:t>self</a:t>
            </a:r>
            <a:r>
              <a:rPr lang="en-US" sz="1333" dirty="0">
                <a:solidFill>
                  <a:srgbClr val="333333"/>
                </a:solidFill>
              </a:rPr>
              <a:t>, name, age, breed):</a:t>
            </a:r>
            <a:endParaRPr lang="en-US" sz="1333" i="1" dirty="0">
              <a:solidFill>
                <a:srgbClr val="888888"/>
              </a:solidFill>
            </a:endParaRPr>
          </a:p>
          <a:p>
            <a:pPr>
              <a:lnSpc>
                <a:spcPts val="2667"/>
              </a:lnSpc>
            </a:pPr>
            <a:r>
              <a:rPr lang="en-US" sz="1333" dirty="0">
                <a:solidFill>
                  <a:srgbClr val="D32F2F"/>
                </a:solidFill>
              </a:rPr>
              <a:t>                           </a:t>
            </a:r>
            <a:r>
              <a:rPr lang="en-US" sz="1333" dirty="0" err="1">
                <a:solidFill>
                  <a:srgbClr val="D32F2F"/>
                </a:solidFill>
              </a:rPr>
              <a:t>self</a:t>
            </a:r>
            <a:r>
              <a:rPr lang="en-US" sz="1333" dirty="0" err="1">
                <a:solidFill>
                  <a:srgbClr val="333333"/>
                </a:solidFill>
              </a:rPr>
              <a:t>.name</a:t>
            </a:r>
            <a:r>
              <a:rPr lang="en-US" sz="1333" dirty="0">
                <a:solidFill>
                  <a:srgbClr val="333333"/>
                </a:solidFill>
              </a:rPr>
              <a:t> = name</a:t>
            </a:r>
          </a:p>
          <a:p>
            <a:pPr>
              <a:lnSpc>
                <a:spcPts val="2667"/>
              </a:lnSpc>
            </a:pPr>
            <a:r>
              <a:rPr lang="en-US" sz="1333" dirty="0">
                <a:solidFill>
                  <a:srgbClr val="D32F2F"/>
                </a:solidFill>
              </a:rPr>
              <a:t>                           </a:t>
            </a:r>
            <a:r>
              <a:rPr lang="en-US" sz="1333" dirty="0" err="1">
                <a:solidFill>
                  <a:srgbClr val="D32F2F"/>
                </a:solidFill>
              </a:rPr>
              <a:t>self</a:t>
            </a:r>
            <a:r>
              <a:rPr lang="en-US" sz="1333" dirty="0" err="1">
                <a:solidFill>
                  <a:srgbClr val="333333"/>
                </a:solidFill>
              </a:rPr>
              <a:t>.age</a:t>
            </a:r>
            <a:r>
              <a:rPr lang="en-US" sz="1333" dirty="0">
                <a:solidFill>
                  <a:srgbClr val="333333"/>
                </a:solidFill>
              </a:rPr>
              <a:t> = age </a:t>
            </a:r>
          </a:p>
          <a:p>
            <a:pPr>
              <a:lnSpc>
                <a:spcPts val="2667"/>
              </a:lnSpc>
            </a:pPr>
            <a:r>
              <a:rPr lang="en-US" sz="1333" dirty="0">
                <a:solidFill>
                  <a:srgbClr val="D32F2F"/>
                </a:solidFill>
              </a:rPr>
              <a:t>                            </a:t>
            </a:r>
            <a:r>
              <a:rPr lang="en-US" sz="1333" dirty="0" err="1">
                <a:solidFill>
                  <a:srgbClr val="D32F2F"/>
                </a:solidFill>
              </a:rPr>
              <a:t>self</a:t>
            </a:r>
            <a:r>
              <a:rPr lang="en-US" sz="1333" dirty="0" err="1">
                <a:solidFill>
                  <a:srgbClr val="333333"/>
                </a:solidFill>
              </a:rPr>
              <a:t>.breed</a:t>
            </a:r>
            <a:r>
              <a:rPr lang="en-US" sz="1333" dirty="0">
                <a:solidFill>
                  <a:srgbClr val="333333"/>
                </a:solidFill>
              </a:rPr>
              <a:t>= breed </a:t>
            </a:r>
          </a:p>
        </p:txBody>
      </p:sp>
      <p:sp>
        <p:nvSpPr>
          <p:cNvPr id="9" name="Text 6"/>
          <p:cNvSpPr/>
          <p:nvPr/>
        </p:nvSpPr>
        <p:spPr>
          <a:xfrm>
            <a:off x="6286500" y="1981200"/>
            <a:ext cx="1092094" cy="227242"/>
          </a:xfrm>
          <a:prstGeom prst="rect">
            <a:avLst/>
          </a:prstGeom>
          <a:noFill/>
          <a:ln/>
        </p:spPr>
        <p:txBody>
          <a:bodyPr wrap="none" lIns="0" tIns="0" rIns="0" bIns="0" rtlCol="0" anchor="t">
            <a:spAutoFit/>
          </a:bodyPr>
          <a:lstStyle/>
          <a:p>
            <a:pPr>
              <a:lnSpc>
                <a:spcPts val="1867"/>
              </a:lnSpc>
            </a:pPr>
            <a:r>
              <a:rPr lang="en-US" sz="1316" b="1" kern="0" spc="1" dirty="0">
                <a:solidFill>
                  <a:srgbClr val="0055FF"/>
                </a:solidFill>
              </a:rPr>
              <a:t>2. Use the Class</a:t>
            </a:r>
            <a:endParaRPr lang="en-US" sz="1316" dirty="0"/>
          </a:p>
        </p:txBody>
      </p:sp>
      <p:sp>
        <p:nvSpPr>
          <p:cNvPr id="10" name="Shape 7"/>
          <p:cNvSpPr/>
          <p:nvPr/>
        </p:nvSpPr>
        <p:spPr>
          <a:xfrm>
            <a:off x="6286501" y="2383632"/>
            <a:ext cx="5143500" cy="2693193"/>
          </a:xfrm>
          <a:prstGeom prst="rect">
            <a:avLst/>
          </a:prstGeom>
          <a:solidFill>
            <a:srgbClr val="F5F5F5"/>
          </a:solidFill>
          <a:ln/>
        </p:spPr>
        <p:txBody>
          <a:bodyPr/>
          <a:lstStyle/>
          <a:p>
            <a:endParaRPr lang="en-US" sz="2400"/>
          </a:p>
        </p:txBody>
      </p:sp>
      <p:sp>
        <p:nvSpPr>
          <p:cNvPr id="11" name="Shape 8"/>
          <p:cNvSpPr/>
          <p:nvPr/>
        </p:nvSpPr>
        <p:spPr>
          <a:xfrm>
            <a:off x="6286501" y="2383632"/>
            <a:ext cx="57151" cy="2693193"/>
          </a:xfrm>
          <a:prstGeom prst="rect">
            <a:avLst/>
          </a:prstGeom>
          <a:solidFill>
            <a:srgbClr val="0055FF"/>
          </a:solidFill>
          <a:ln/>
        </p:spPr>
        <p:txBody>
          <a:bodyPr/>
          <a:lstStyle/>
          <a:p>
            <a:endParaRPr lang="en-US" sz="2400"/>
          </a:p>
        </p:txBody>
      </p:sp>
      <p:sp>
        <p:nvSpPr>
          <p:cNvPr id="12" name="Text 9"/>
          <p:cNvSpPr/>
          <p:nvPr/>
        </p:nvSpPr>
        <p:spPr>
          <a:xfrm>
            <a:off x="6286501" y="2133380"/>
            <a:ext cx="5637276" cy="3119615"/>
          </a:xfrm>
          <a:prstGeom prst="rect">
            <a:avLst/>
          </a:prstGeom>
          <a:noFill/>
          <a:ln/>
        </p:spPr>
        <p:txBody>
          <a:bodyPr wrap="square" lIns="340191" tIns="340191" rIns="340191" bIns="340191" rtlCol="0" anchor="t">
            <a:spAutoFit/>
          </a:bodyPr>
          <a:lstStyle/>
          <a:p>
            <a:pPr>
              <a:lnSpc>
                <a:spcPts val="2400"/>
              </a:lnSpc>
            </a:pPr>
            <a:r>
              <a:rPr lang="en-US" sz="1400" i="1" dirty="0">
                <a:solidFill>
                  <a:srgbClr val="888888"/>
                </a:solidFill>
              </a:rPr>
              <a:t># Create instances</a:t>
            </a:r>
            <a:r>
              <a:rPr lang="en-US" sz="1400" dirty="0">
                <a:solidFill>
                  <a:srgbClr val="333333"/>
                </a:solidFill>
              </a:rPr>
              <a:t> </a:t>
            </a:r>
          </a:p>
          <a:p>
            <a:pPr>
              <a:lnSpc>
                <a:spcPts val="2400"/>
              </a:lnSpc>
            </a:pPr>
            <a:r>
              <a:rPr lang="en-US" sz="1316" b="1" dirty="0" err="1">
                <a:solidFill>
                  <a:srgbClr val="000000"/>
                </a:solidFill>
              </a:rPr>
              <a:t>vuk</a:t>
            </a:r>
            <a:r>
              <a:rPr lang="en-US" sz="1400" dirty="0">
                <a:solidFill>
                  <a:srgbClr val="333333"/>
                </a:solidFill>
              </a:rPr>
              <a:t> = </a:t>
            </a:r>
            <a:r>
              <a:rPr lang="en-US" sz="1316" b="1" dirty="0">
                <a:solidFill>
                  <a:srgbClr val="0055FF"/>
                </a:solidFill>
              </a:rPr>
              <a:t>Dog</a:t>
            </a:r>
            <a:r>
              <a:rPr lang="en-US" sz="1400" dirty="0">
                <a:solidFill>
                  <a:srgbClr val="333333"/>
                </a:solidFill>
              </a:rPr>
              <a:t>(</a:t>
            </a:r>
            <a:r>
              <a:rPr lang="en-US" sz="1400" dirty="0">
                <a:solidFill>
                  <a:srgbClr val="008000"/>
                </a:solidFill>
              </a:rPr>
              <a:t>”Vuk"</a:t>
            </a:r>
            <a:r>
              <a:rPr lang="en-US" sz="1400" dirty="0">
                <a:solidFill>
                  <a:srgbClr val="333333"/>
                </a:solidFill>
              </a:rPr>
              <a:t>, 2 </a:t>
            </a:r>
            <a:r>
              <a:rPr lang="en-US" sz="1600" dirty="0">
                <a:solidFill>
                  <a:srgbClr val="008000"/>
                </a:solidFill>
              </a:rPr>
              <a:t>“</a:t>
            </a:r>
            <a:r>
              <a:rPr lang="en-US" sz="1600" dirty="0">
                <a:solidFill>
                  <a:schemeClr val="accent6">
                    <a:lumMod val="75000"/>
                  </a:schemeClr>
                </a:solidFill>
              </a:rPr>
              <a:t>Husky</a:t>
            </a:r>
            <a:r>
              <a:rPr lang="en-US" sz="1600" dirty="0">
                <a:solidFill>
                  <a:srgbClr val="333333"/>
                </a:solidFill>
              </a:rPr>
              <a:t> </a:t>
            </a:r>
            <a:r>
              <a:rPr lang="en-US" sz="1600" dirty="0">
                <a:solidFill>
                  <a:srgbClr val="008000"/>
                </a:solidFill>
              </a:rPr>
              <a:t>"</a:t>
            </a:r>
            <a:r>
              <a:rPr lang="en-US" sz="1600" dirty="0">
                <a:solidFill>
                  <a:srgbClr val="333333"/>
                </a:solidFill>
              </a:rPr>
              <a:t>, </a:t>
            </a:r>
          </a:p>
          <a:p>
            <a:pPr>
              <a:lnSpc>
                <a:spcPts val="2400"/>
              </a:lnSpc>
            </a:pPr>
            <a:r>
              <a:rPr lang="en-US" sz="1316" b="1" dirty="0">
                <a:solidFill>
                  <a:srgbClr val="000000"/>
                </a:solidFill>
              </a:rPr>
              <a:t>princess</a:t>
            </a:r>
            <a:r>
              <a:rPr lang="en-US" sz="1400" dirty="0">
                <a:solidFill>
                  <a:srgbClr val="333333"/>
                </a:solidFill>
              </a:rPr>
              <a:t> = </a:t>
            </a:r>
            <a:r>
              <a:rPr lang="en-US" sz="1316" b="1" dirty="0">
                <a:solidFill>
                  <a:srgbClr val="0055FF"/>
                </a:solidFill>
              </a:rPr>
              <a:t>Dog</a:t>
            </a:r>
            <a:r>
              <a:rPr lang="en-US" sz="1400" dirty="0">
                <a:solidFill>
                  <a:srgbClr val="333333"/>
                </a:solidFill>
              </a:rPr>
              <a:t>( </a:t>
            </a:r>
            <a:r>
              <a:rPr lang="en-US" sz="1400" dirty="0">
                <a:solidFill>
                  <a:srgbClr val="008000"/>
                </a:solidFill>
              </a:rPr>
              <a:t>”Princess"</a:t>
            </a:r>
            <a:r>
              <a:rPr lang="en-US" sz="1400" dirty="0">
                <a:solidFill>
                  <a:srgbClr val="333333"/>
                </a:solidFill>
              </a:rPr>
              <a:t>,5, </a:t>
            </a:r>
            <a:r>
              <a:rPr lang="en-US" sz="1400" dirty="0">
                <a:solidFill>
                  <a:srgbClr val="008000"/>
                </a:solidFill>
              </a:rPr>
              <a:t>”Poodle"</a:t>
            </a:r>
            <a:r>
              <a:rPr lang="en-US" sz="1400" dirty="0">
                <a:solidFill>
                  <a:srgbClr val="333333"/>
                </a:solidFill>
              </a:rPr>
              <a:t>, </a:t>
            </a:r>
          </a:p>
          <a:p>
            <a:pPr>
              <a:lnSpc>
                <a:spcPts val="2400"/>
              </a:lnSpc>
            </a:pPr>
            <a:r>
              <a:rPr lang="en-US" sz="1400" i="1" dirty="0">
                <a:solidFill>
                  <a:srgbClr val="888888"/>
                </a:solidFill>
              </a:rPr>
              <a:t># Access attributes</a:t>
            </a:r>
          </a:p>
          <a:p>
            <a:pPr>
              <a:lnSpc>
                <a:spcPts val="2400"/>
              </a:lnSpc>
            </a:pPr>
            <a:r>
              <a:rPr lang="en-US" sz="1316" b="1" dirty="0">
                <a:solidFill>
                  <a:srgbClr val="0055FF"/>
                </a:solidFill>
              </a:rPr>
              <a:t>print</a:t>
            </a:r>
            <a:r>
              <a:rPr lang="en-US" sz="1400" dirty="0">
                <a:solidFill>
                  <a:srgbClr val="333333"/>
                </a:solidFill>
              </a:rPr>
              <a:t>(</a:t>
            </a:r>
            <a:r>
              <a:rPr lang="en-US" sz="1400" dirty="0" err="1">
                <a:solidFill>
                  <a:srgbClr val="333333"/>
                </a:solidFill>
              </a:rPr>
              <a:t>vuk.breed</a:t>
            </a:r>
            <a:r>
              <a:rPr lang="en-US" sz="1400" dirty="0">
                <a:solidFill>
                  <a:srgbClr val="333333"/>
                </a:solidFill>
              </a:rPr>
              <a:t>) </a:t>
            </a:r>
          </a:p>
          <a:p>
            <a:pPr>
              <a:lnSpc>
                <a:spcPts val="2400"/>
              </a:lnSpc>
            </a:pPr>
            <a:r>
              <a:rPr lang="en-US" sz="1400" i="1" dirty="0">
                <a:solidFill>
                  <a:srgbClr val="888888"/>
                </a:solidFill>
              </a:rPr>
              <a:t># Modify attributes</a:t>
            </a:r>
            <a:r>
              <a:rPr lang="en-US" sz="1400" dirty="0">
                <a:solidFill>
                  <a:srgbClr val="333333"/>
                </a:solidFill>
              </a:rPr>
              <a:t> </a:t>
            </a:r>
          </a:p>
          <a:p>
            <a:pPr>
              <a:lnSpc>
                <a:spcPts val="2400"/>
              </a:lnSpc>
            </a:pPr>
            <a:r>
              <a:rPr lang="en-US" sz="1400" dirty="0" err="1">
                <a:solidFill>
                  <a:srgbClr val="333333"/>
                </a:solidFill>
              </a:rPr>
              <a:t>vuk.breed</a:t>
            </a:r>
            <a:r>
              <a:rPr lang="en-US" sz="1400" dirty="0">
                <a:solidFill>
                  <a:srgbClr val="333333"/>
                </a:solidFill>
              </a:rPr>
              <a:t> = </a:t>
            </a:r>
            <a:r>
              <a:rPr lang="en-US" sz="1400" dirty="0">
                <a:solidFill>
                  <a:srgbClr val="008000"/>
                </a:solidFill>
              </a:rPr>
              <a:t>7</a:t>
            </a:r>
          </a:p>
          <a:p>
            <a:pPr>
              <a:lnSpc>
                <a:spcPts val="2400"/>
              </a:lnSpc>
            </a:pPr>
            <a:r>
              <a:rPr lang="en-US" sz="1316" b="1" dirty="0">
                <a:solidFill>
                  <a:srgbClr val="0055FF"/>
                </a:solidFill>
              </a:rPr>
              <a:t>print</a:t>
            </a:r>
            <a:r>
              <a:rPr lang="en-US" sz="1400" dirty="0">
                <a:solidFill>
                  <a:srgbClr val="333333"/>
                </a:solidFill>
              </a:rPr>
              <a:t>(</a:t>
            </a:r>
            <a:r>
              <a:rPr lang="en-US" sz="1400" dirty="0" err="1">
                <a:solidFill>
                  <a:srgbClr val="333333"/>
                </a:solidFill>
              </a:rPr>
              <a:t>vuk.breed</a:t>
            </a:r>
            <a:r>
              <a:rPr lang="en-US" sz="1400" dirty="0">
                <a:solidFill>
                  <a:srgbClr val="333333"/>
                </a:solidFill>
              </a:rPr>
              <a:t>)</a:t>
            </a:r>
            <a:endParaRPr lang="en-US" sz="1400" dirty="0"/>
          </a:p>
        </p:txBody>
      </p:sp>
      <p:sp>
        <p:nvSpPr>
          <p:cNvPr id="13" name="Text 10"/>
          <p:cNvSpPr/>
          <p:nvPr/>
        </p:nvSpPr>
        <p:spPr>
          <a:xfrm>
            <a:off x="6448426" y="5429251"/>
            <a:ext cx="410369" cy="146258"/>
          </a:xfrm>
          <a:prstGeom prst="rect">
            <a:avLst/>
          </a:prstGeom>
          <a:noFill/>
          <a:ln/>
        </p:spPr>
        <p:txBody>
          <a:bodyPr wrap="none" lIns="0" tIns="0" rIns="0" bIns="0" rtlCol="0" anchor="t">
            <a:spAutoFit/>
          </a:bodyPr>
          <a:lstStyle/>
          <a:p>
            <a:pPr>
              <a:lnSpc>
                <a:spcPts val="1200"/>
              </a:lnSpc>
            </a:pPr>
            <a:r>
              <a:rPr lang="en-US" sz="911" b="1" dirty="0">
                <a:solidFill>
                  <a:srgbClr val="999999"/>
                </a:solidFill>
              </a:rPr>
              <a:t>OUTPUT</a:t>
            </a:r>
            <a:endParaRPr lang="en-US" sz="911" dirty="0"/>
          </a:p>
        </p:txBody>
      </p:sp>
      <p:sp>
        <p:nvSpPr>
          <p:cNvPr id="14" name="Text 11"/>
          <p:cNvSpPr/>
          <p:nvPr/>
        </p:nvSpPr>
        <p:spPr>
          <a:xfrm>
            <a:off x="6448425" y="5657851"/>
            <a:ext cx="4819651" cy="196400"/>
          </a:xfrm>
          <a:prstGeom prst="rect">
            <a:avLst/>
          </a:prstGeom>
          <a:noFill/>
          <a:ln/>
        </p:spPr>
        <p:txBody>
          <a:bodyPr wrap="square" lIns="0" tIns="0" rIns="0" bIns="0" rtlCol="0" anchor="t">
            <a:spAutoFit/>
          </a:bodyPr>
          <a:lstStyle/>
          <a:p>
            <a:pPr>
              <a:lnSpc>
                <a:spcPts val="1600"/>
              </a:lnSpc>
            </a:pPr>
            <a:r>
              <a:rPr lang="en-US" sz="1256" dirty="0"/>
              <a:t>Husky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762001" y="762001"/>
            <a:ext cx="4828373" cy="523541"/>
          </a:xfrm>
          <a:prstGeom prst="rect">
            <a:avLst/>
          </a:prstGeom>
          <a:noFill/>
          <a:ln/>
        </p:spPr>
        <p:txBody>
          <a:bodyPr wrap="none" lIns="0" tIns="0" rIns="0" bIns="0" rtlCol="0" anchor="t">
            <a:spAutoFit/>
          </a:bodyPr>
          <a:lstStyle/>
          <a:p>
            <a:pPr>
              <a:lnSpc>
                <a:spcPts val="4267"/>
              </a:lnSpc>
            </a:pPr>
            <a:r>
              <a:rPr lang="en-US" sz="3248" b="1" kern="0" spc="-1" dirty="0">
                <a:solidFill>
                  <a:srgbClr val="000000"/>
                </a:solidFill>
              </a:rPr>
              <a:t>What are Dunder Methods?</a:t>
            </a:r>
            <a:endParaRPr lang="en-US" sz="3248" dirty="0"/>
          </a:p>
        </p:txBody>
      </p:sp>
      <p:sp>
        <p:nvSpPr>
          <p:cNvPr id="4" name="Shape 1"/>
          <p:cNvSpPr/>
          <p:nvPr/>
        </p:nvSpPr>
        <p:spPr>
          <a:xfrm>
            <a:off x="762000" y="1955007"/>
            <a:ext cx="10668000" cy="480045"/>
          </a:xfrm>
          <a:prstGeom prst="rect">
            <a:avLst/>
          </a:prstGeom>
          <a:solidFill>
            <a:srgbClr val="000000">
              <a:alpha val="0"/>
            </a:srgbClr>
          </a:solidFill>
          <a:ln/>
        </p:spPr>
        <p:txBody>
          <a:bodyPr/>
          <a:lstStyle/>
          <a:p>
            <a:endParaRPr lang="en-US" sz="2400"/>
          </a:p>
        </p:txBody>
      </p:sp>
      <p:sp>
        <p:nvSpPr>
          <p:cNvPr id="5" name="Shape 2"/>
          <p:cNvSpPr/>
          <p:nvPr/>
        </p:nvSpPr>
        <p:spPr>
          <a:xfrm>
            <a:off x="762000" y="1955007"/>
            <a:ext cx="76200" cy="480045"/>
          </a:xfrm>
          <a:prstGeom prst="rect">
            <a:avLst/>
          </a:prstGeom>
          <a:solidFill>
            <a:srgbClr val="000000"/>
          </a:solidFill>
          <a:ln/>
        </p:spPr>
        <p:txBody>
          <a:bodyPr/>
          <a:lstStyle/>
          <a:p>
            <a:endParaRPr lang="en-US" sz="2400"/>
          </a:p>
        </p:txBody>
      </p:sp>
      <p:sp>
        <p:nvSpPr>
          <p:cNvPr id="6" name="Text 3"/>
          <p:cNvSpPr/>
          <p:nvPr/>
        </p:nvSpPr>
        <p:spPr>
          <a:xfrm>
            <a:off x="762000" y="1955007"/>
            <a:ext cx="4204955" cy="437427"/>
          </a:xfrm>
          <a:prstGeom prst="rect">
            <a:avLst/>
          </a:prstGeom>
          <a:noFill/>
          <a:ln/>
        </p:spPr>
        <p:txBody>
          <a:bodyPr wrap="none" lIns="340191" tIns="0" rIns="0" bIns="0" rtlCol="0" anchor="t">
            <a:spAutoFit/>
          </a:bodyPr>
          <a:lstStyle/>
          <a:p>
            <a:pPr>
              <a:lnSpc>
                <a:spcPts val="3733"/>
              </a:lnSpc>
            </a:pPr>
            <a:r>
              <a:rPr lang="en-US" sz="2411" b="1" dirty="0">
                <a:solidFill>
                  <a:srgbClr val="0055FF"/>
                </a:solidFill>
              </a:rPr>
              <a:t>Dunder = </a:t>
            </a:r>
            <a:r>
              <a:rPr lang="en-US" sz="2411" b="1" u="sng" dirty="0">
                <a:solidFill>
                  <a:srgbClr val="000000"/>
                </a:solidFill>
                <a:uFill>
                  <a:solidFill>
                    <a:srgbClr val="000000"/>
                  </a:solidFill>
                </a:uFill>
              </a:rPr>
              <a:t>D</a:t>
            </a:r>
            <a:r>
              <a:rPr lang="en-US" sz="2411" b="1" dirty="0">
                <a:solidFill>
                  <a:srgbClr val="0055FF"/>
                </a:solidFill>
              </a:rPr>
              <a:t>ouble </a:t>
            </a:r>
            <a:r>
              <a:rPr lang="en-US" sz="2411" b="1" u="sng" dirty="0">
                <a:solidFill>
                  <a:srgbClr val="000000"/>
                </a:solidFill>
                <a:uFill>
                  <a:solidFill>
                    <a:srgbClr val="000000"/>
                  </a:solidFill>
                </a:uFill>
              </a:rPr>
              <a:t>UNDER</a:t>
            </a:r>
            <a:r>
              <a:rPr lang="en-US" sz="2411" b="1" dirty="0">
                <a:solidFill>
                  <a:srgbClr val="0055FF"/>
                </a:solidFill>
              </a:rPr>
              <a:t>score</a:t>
            </a:r>
            <a:endParaRPr lang="en-US" sz="2411" dirty="0"/>
          </a:p>
        </p:txBody>
      </p:sp>
      <p:sp>
        <p:nvSpPr>
          <p:cNvPr id="7" name="Text 4"/>
          <p:cNvSpPr/>
          <p:nvPr/>
        </p:nvSpPr>
        <p:spPr>
          <a:xfrm>
            <a:off x="762001" y="2816053"/>
            <a:ext cx="8572500" cy="663195"/>
          </a:xfrm>
          <a:prstGeom prst="rect">
            <a:avLst/>
          </a:prstGeom>
          <a:noFill/>
          <a:ln/>
        </p:spPr>
        <p:txBody>
          <a:bodyPr wrap="square" lIns="0" tIns="0" rIns="0" bIns="0" rtlCol="0" anchor="t">
            <a:spAutoFit/>
          </a:bodyPr>
          <a:lstStyle/>
          <a:p>
            <a:pPr>
              <a:lnSpc>
                <a:spcPts val="2667"/>
              </a:lnSpc>
            </a:pPr>
            <a:r>
              <a:rPr lang="en-US" sz="1692" dirty="0">
                <a:solidFill>
                  <a:srgbClr val="333333"/>
                </a:solidFill>
              </a:rPr>
              <a:t>Special methods that Python calls </a:t>
            </a:r>
            <a:r>
              <a:rPr lang="en-US" sz="1591" b="1" dirty="0">
                <a:solidFill>
                  <a:srgbClr val="333333"/>
                </a:solidFill>
              </a:rPr>
              <a:t>automatically</a:t>
            </a:r>
            <a:r>
              <a:rPr lang="en-US" sz="1692" dirty="0">
                <a:solidFill>
                  <a:srgbClr val="333333"/>
                </a:solidFill>
              </a:rPr>
              <a:t> in specific situations. They are also known as "Magic Methods".</a:t>
            </a:r>
            <a:endParaRPr lang="en-US" sz="1692" dirty="0"/>
          </a:p>
        </p:txBody>
      </p:sp>
      <p:sp>
        <p:nvSpPr>
          <p:cNvPr id="8" name="Shape 5"/>
          <p:cNvSpPr/>
          <p:nvPr/>
        </p:nvSpPr>
        <p:spPr>
          <a:xfrm>
            <a:off x="762001" y="4073352"/>
            <a:ext cx="3301975" cy="688181"/>
          </a:xfrm>
          <a:prstGeom prst="rect">
            <a:avLst/>
          </a:prstGeom>
          <a:solidFill>
            <a:srgbClr val="F5F5F5"/>
          </a:solidFill>
          <a:ln/>
        </p:spPr>
        <p:txBody>
          <a:bodyPr/>
          <a:lstStyle/>
          <a:p>
            <a:endParaRPr lang="en-US" sz="2400"/>
          </a:p>
        </p:txBody>
      </p:sp>
      <p:sp>
        <p:nvSpPr>
          <p:cNvPr id="9" name="Shape 6"/>
          <p:cNvSpPr/>
          <p:nvPr/>
        </p:nvSpPr>
        <p:spPr>
          <a:xfrm>
            <a:off x="762001" y="4723433"/>
            <a:ext cx="3301975" cy="38100"/>
          </a:xfrm>
          <a:prstGeom prst="rect">
            <a:avLst/>
          </a:prstGeom>
          <a:solidFill>
            <a:srgbClr val="0055FF"/>
          </a:solidFill>
          <a:ln/>
        </p:spPr>
        <p:txBody>
          <a:bodyPr/>
          <a:lstStyle/>
          <a:p>
            <a:endParaRPr lang="en-US" sz="2400"/>
          </a:p>
        </p:txBody>
      </p:sp>
      <p:sp>
        <p:nvSpPr>
          <p:cNvPr id="10" name="Text 7"/>
          <p:cNvSpPr/>
          <p:nvPr/>
        </p:nvSpPr>
        <p:spPr>
          <a:xfrm>
            <a:off x="762001" y="4073353"/>
            <a:ext cx="3301975" cy="646824"/>
          </a:xfrm>
          <a:prstGeom prst="rect">
            <a:avLst/>
          </a:prstGeom>
          <a:noFill/>
          <a:ln/>
        </p:spPr>
        <p:txBody>
          <a:bodyPr wrap="square" lIns="170011" tIns="170011" rIns="170011" bIns="170011" rtlCol="0" anchor="t">
            <a:spAutoFit/>
          </a:bodyPr>
          <a:lstStyle/>
          <a:p>
            <a:pPr>
              <a:lnSpc>
                <a:spcPts val="2533"/>
              </a:lnSpc>
            </a:pPr>
            <a:r>
              <a:rPr lang="en-US" sz="1863" b="1" dirty="0">
                <a:solidFill>
                  <a:srgbClr val="000000"/>
                </a:solidFill>
              </a:rPr>
              <a:t>__init__</a:t>
            </a:r>
            <a:endParaRPr lang="en-US" sz="1863" dirty="0"/>
          </a:p>
        </p:txBody>
      </p:sp>
      <p:sp>
        <p:nvSpPr>
          <p:cNvPr id="11" name="Text 8"/>
          <p:cNvSpPr/>
          <p:nvPr/>
        </p:nvSpPr>
        <p:spPr>
          <a:xfrm>
            <a:off x="762001" y="4866308"/>
            <a:ext cx="3301975" cy="787908"/>
          </a:xfrm>
          <a:prstGeom prst="rect">
            <a:avLst/>
          </a:prstGeom>
          <a:noFill/>
          <a:ln/>
        </p:spPr>
        <p:txBody>
          <a:bodyPr wrap="square" lIns="0" tIns="0" rIns="0" bIns="0" rtlCol="0" anchor="t">
            <a:spAutoFit/>
          </a:bodyPr>
          <a:lstStyle/>
          <a:p>
            <a:pPr>
              <a:lnSpc>
                <a:spcPts val="2133"/>
              </a:lnSpc>
            </a:pPr>
            <a:r>
              <a:rPr lang="en-US" sz="1316" b="1" dirty="0">
                <a:solidFill>
                  <a:srgbClr val="555555"/>
                </a:solidFill>
              </a:rPr>
              <a:t>The Constructor</a:t>
            </a:r>
            <a:r>
              <a:rPr lang="en-US" sz="1400" dirty="0">
                <a:solidFill>
                  <a:srgbClr val="555555"/>
                </a:solidFill>
              </a:rPr>
              <a:t>
 Called automatically when a new object is created.</a:t>
            </a:r>
            <a:endParaRPr lang="en-US" sz="1316" dirty="0"/>
          </a:p>
        </p:txBody>
      </p:sp>
      <p:sp>
        <p:nvSpPr>
          <p:cNvPr id="12" name="Shape 9"/>
          <p:cNvSpPr/>
          <p:nvPr/>
        </p:nvSpPr>
        <p:spPr>
          <a:xfrm>
            <a:off x="4444975" y="4073352"/>
            <a:ext cx="3302012" cy="688181"/>
          </a:xfrm>
          <a:prstGeom prst="rect">
            <a:avLst/>
          </a:prstGeom>
          <a:solidFill>
            <a:srgbClr val="F5F5F5"/>
          </a:solidFill>
          <a:ln/>
        </p:spPr>
        <p:txBody>
          <a:bodyPr/>
          <a:lstStyle/>
          <a:p>
            <a:endParaRPr lang="en-US" sz="2400"/>
          </a:p>
        </p:txBody>
      </p:sp>
      <p:sp>
        <p:nvSpPr>
          <p:cNvPr id="13" name="Shape 10"/>
          <p:cNvSpPr/>
          <p:nvPr/>
        </p:nvSpPr>
        <p:spPr>
          <a:xfrm>
            <a:off x="4444975" y="4723433"/>
            <a:ext cx="3302012" cy="38100"/>
          </a:xfrm>
          <a:prstGeom prst="rect">
            <a:avLst/>
          </a:prstGeom>
          <a:solidFill>
            <a:srgbClr val="0055FF"/>
          </a:solidFill>
          <a:ln/>
        </p:spPr>
        <p:txBody>
          <a:bodyPr/>
          <a:lstStyle/>
          <a:p>
            <a:endParaRPr lang="en-US" sz="2400"/>
          </a:p>
        </p:txBody>
      </p:sp>
      <p:sp>
        <p:nvSpPr>
          <p:cNvPr id="14" name="Text 11"/>
          <p:cNvSpPr/>
          <p:nvPr/>
        </p:nvSpPr>
        <p:spPr>
          <a:xfrm>
            <a:off x="4444975" y="4073353"/>
            <a:ext cx="3302012" cy="646824"/>
          </a:xfrm>
          <a:prstGeom prst="rect">
            <a:avLst/>
          </a:prstGeom>
          <a:noFill/>
          <a:ln/>
        </p:spPr>
        <p:txBody>
          <a:bodyPr wrap="square" lIns="170011" tIns="170011" rIns="170011" bIns="170011" rtlCol="0" anchor="t">
            <a:spAutoFit/>
          </a:bodyPr>
          <a:lstStyle/>
          <a:p>
            <a:pPr>
              <a:lnSpc>
                <a:spcPts val="2533"/>
              </a:lnSpc>
            </a:pPr>
            <a:r>
              <a:rPr lang="en-US" sz="1863" b="1" dirty="0">
                <a:solidFill>
                  <a:srgbClr val="000000"/>
                </a:solidFill>
              </a:rPr>
              <a:t>__str__</a:t>
            </a:r>
            <a:endParaRPr lang="en-US" sz="1863" dirty="0"/>
          </a:p>
        </p:txBody>
      </p:sp>
      <p:sp>
        <p:nvSpPr>
          <p:cNvPr id="15" name="Text 12"/>
          <p:cNvSpPr/>
          <p:nvPr/>
        </p:nvSpPr>
        <p:spPr>
          <a:xfrm>
            <a:off x="4444975" y="4866308"/>
            <a:ext cx="3302012" cy="787908"/>
          </a:xfrm>
          <a:prstGeom prst="rect">
            <a:avLst/>
          </a:prstGeom>
          <a:noFill/>
          <a:ln/>
        </p:spPr>
        <p:txBody>
          <a:bodyPr wrap="square" lIns="0" tIns="0" rIns="0" bIns="0" rtlCol="0" anchor="t">
            <a:spAutoFit/>
          </a:bodyPr>
          <a:lstStyle/>
          <a:p>
            <a:pPr>
              <a:lnSpc>
                <a:spcPts val="2133"/>
              </a:lnSpc>
            </a:pPr>
            <a:r>
              <a:rPr lang="en-US" sz="1316" b="1" dirty="0">
                <a:solidFill>
                  <a:srgbClr val="555555"/>
                </a:solidFill>
              </a:rPr>
              <a:t>String Representation</a:t>
            </a:r>
            <a:r>
              <a:rPr lang="en-US" sz="1400" dirty="0">
                <a:solidFill>
                  <a:srgbClr val="555555"/>
                </a:solidFill>
              </a:rPr>
              <a:t>
 Called automatically when you print() an object.</a:t>
            </a:r>
            <a:endParaRPr lang="en-US" sz="1316" dirty="0"/>
          </a:p>
        </p:txBody>
      </p:sp>
      <p:sp>
        <p:nvSpPr>
          <p:cNvPr id="16" name="Shape 13"/>
          <p:cNvSpPr/>
          <p:nvPr/>
        </p:nvSpPr>
        <p:spPr>
          <a:xfrm>
            <a:off x="8127989" y="4073352"/>
            <a:ext cx="3301975" cy="688181"/>
          </a:xfrm>
          <a:prstGeom prst="rect">
            <a:avLst/>
          </a:prstGeom>
          <a:solidFill>
            <a:srgbClr val="F5F5F5"/>
          </a:solidFill>
          <a:ln/>
        </p:spPr>
        <p:txBody>
          <a:bodyPr/>
          <a:lstStyle/>
          <a:p>
            <a:endParaRPr lang="en-US" sz="2400"/>
          </a:p>
        </p:txBody>
      </p:sp>
      <p:sp>
        <p:nvSpPr>
          <p:cNvPr id="17" name="Shape 14"/>
          <p:cNvSpPr/>
          <p:nvPr/>
        </p:nvSpPr>
        <p:spPr>
          <a:xfrm>
            <a:off x="8127989" y="4723433"/>
            <a:ext cx="3301975" cy="38100"/>
          </a:xfrm>
          <a:prstGeom prst="rect">
            <a:avLst/>
          </a:prstGeom>
          <a:solidFill>
            <a:srgbClr val="0055FF"/>
          </a:solidFill>
          <a:ln/>
        </p:spPr>
        <p:txBody>
          <a:bodyPr/>
          <a:lstStyle/>
          <a:p>
            <a:endParaRPr lang="en-US" sz="2400"/>
          </a:p>
        </p:txBody>
      </p:sp>
      <p:sp>
        <p:nvSpPr>
          <p:cNvPr id="18" name="Text 15"/>
          <p:cNvSpPr/>
          <p:nvPr/>
        </p:nvSpPr>
        <p:spPr>
          <a:xfrm>
            <a:off x="8127989" y="4073353"/>
            <a:ext cx="3301975" cy="646824"/>
          </a:xfrm>
          <a:prstGeom prst="rect">
            <a:avLst/>
          </a:prstGeom>
          <a:noFill/>
          <a:ln/>
        </p:spPr>
        <p:txBody>
          <a:bodyPr wrap="square" lIns="170011" tIns="170011" rIns="170011" bIns="170011" rtlCol="0" anchor="t">
            <a:spAutoFit/>
          </a:bodyPr>
          <a:lstStyle/>
          <a:p>
            <a:pPr>
              <a:lnSpc>
                <a:spcPts val="2533"/>
              </a:lnSpc>
            </a:pPr>
            <a:r>
              <a:rPr lang="en-US" sz="1863" b="1" dirty="0">
                <a:solidFill>
                  <a:srgbClr val="000000"/>
                </a:solidFill>
              </a:rPr>
              <a:t>__len__</a:t>
            </a:r>
            <a:endParaRPr lang="en-US" sz="1863" dirty="0"/>
          </a:p>
        </p:txBody>
      </p:sp>
      <p:sp>
        <p:nvSpPr>
          <p:cNvPr id="19" name="Text 16"/>
          <p:cNvSpPr/>
          <p:nvPr/>
        </p:nvSpPr>
        <p:spPr>
          <a:xfrm>
            <a:off x="8127989" y="4866308"/>
            <a:ext cx="3301975" cy="787908"/>
          </a:xfrm>
          <a:prstGeom prst="rect">
            <a:avLst/>
          </a:prstGeom>
          <a:noFill/>
          <a:ln/>
        </p:spPr>
        <p:txBody>
          <a:bodyPr wrap="square" lIns="0" tIns="0" rIns="0" bIns="0" rtlCol="0" anchor="t">
            <a:spAutoFit/>
          </a:bodyPr>
          <a:lstStyle/>
          <a:p>
            <a:pPr>
              <a:lnSpc>
                <a:spcPts val="2133"/>
              </a:lnSpc>
            </a:pPr>
            <a:r>
              <a:rPr lang="en-US" sz="1316" b="1" dirty="0">
                <a:solidFill>
                  <a:srgbClr val="555555"/>
                </a:solidFill>
              </a:rPr>
              <a:t>Length</a:t>
            </a:r>
            <a:r>
              <a:rPr lang="en-US" sz="1400" dirty="0">
                <a:solidFill>
                  <a:srgbClr val="555555"/>
                </a:solidFill>
              </a:rPr>
              <a:t>
 Called automatically when you use len(object).</a:t>
            </a:r>
            <a:endParaRPr lang="en-US" sz="1316"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297" y="339328"/>
            <a:ext cx="12192000" cy="6858000"/>
          </a:xfrm>
          <a:prstGeom prst="rect">
            <a:avLst/>
          </a:prstGeom>
        </p:spPr>
      </p:pic>
      <p:sp>
        <p:nvSpPr>
          <p:cNvPr id="3" name="Text 0"/>
          <p:cNvSpPr/>
          <p:nvPr/>
        </p:nvSpPr>
        <p:spPr>
          <a:xfrm>
            <a:off x="762000" y="762001"/>
            <a:ext cx="3500254" cy="523541"/>
          </a:xfrm>
          <a:prstGeom prst="rect">
            <a:avLst/>
          </a:prstGeom>
          <a:noFill/>
          <a:ln/>
        </p:spPr>
        <p:txBody>
          <a:bodyPr wrap="none" lIns="0" tIns="0" rIns="0" bIns="0" rtlCol="0" anchor="t">
            <a:spAutoFit/>
          </a:bodyPr>
          <a:lstStyle/>
          <a:p>
            <a:pPr>
              <a:lnSpc>
                <a:spcPts val="4267"/>
              </a:lnSpc>
            </a:pPr>
            <a:r>
              <a:rPr lang="en-US" sz="3248" b="1" kern="0" spc="-1" dirty="0">
                <a:solidFill>
                  <a:srgbClr val="000000"/>
                </a:solidFill>
              </a:rPr>
              <a:t>The __str__ Method</a:t>
            </a:r>
            <a:endParaRPr lang="en-US" sz="3248" dirty="0"/>
          </a:p>
        </p:txBody>
      </p:sp>
      <p:sp>
        <p:nvSpPr>
          <p:cNvPr id="4" name="Text 1"/>
          <p:cNvSpPr/>
          <p:nvPr/>
        </p:nvSpPr>
        <p:spPr>
          <a:xfrm>
            <a:off x="762001" y="1478756"/>
            <a:ext cx="2213939" cy="259238"/>
          </a:xfrm>
          <a:prstGeom prst="rect">
            <a:avLst/>
          </a:prstGeom>
          <a:noFill/>
          <a:ln/>
        </p:spPr>
        <p:txBody>
          <a:bodyPr wrap="none" lIns="0" tIns="0" rIns="0" bIns="0" rtlCol="0" anchor="t">
            <a:spAutoFit/>
          </a:bodyPr>
          <a:lstStyle/>
          <a:p>
            <a:pPr>
              <a:lnSpc>
                <a:spcPts val="2133"/>
              </a:lnSpc>
            </a:pPr>
            <a:r>
              <a:rPr lang="en-US" sz="1692" dirty="0">
                <a:solidFill>
                  <a:srgbClr val="666666"/>
                </a:solidFill>
              </a:rPr>
              <a:t>Making Objects Printable</a:t>
            </a:r>
            <a:endParaRPr lang="en-US" sz="1692" dirty="0"/>
          </a:p>
        </p:txBody>
      </p:sp>
      <p:sp>
        <p:nvSpPr>
          <p:cNvPr id="5" name="Text 2"/>
          <p:cNvSpPr/>
          <p:nvPr/>
        </p:nvSpPr>
        <p:spPr>
          <a:xfrm>
            <a:off x="762001" y="2415779"/>
            <a:ext cx="1072409" cy="196400"/>
          </a:xfrm>
          <a:prstGeom prst="rect">
            <a:avLst/>
          </a:prstGeom>
          <a:noFill/>
          <a:ln/>
        </p:spPr>
        <p:txBody>
          <a:bodyPr wrap="none" lIns="0" tIns="0" rIns="0" bIns="0" rtlCol="0" anchor="t">
            <a:spAutoFit/>
          </a:bodyPr>
          <a:lstStyle/>
          <a:p>
            <a:pPr>
              <a:lnSpc>
                <a:spcPts val="1600"/>
              </a:lnSpc>
            </a:pPr>
            <a:r>
              <a:rPr lang="en-US" sz="1256" dirty="0">
                <a:solidFill>
                  <a:srgbClr val="666666"/>
                </a:solidFill>
              </a:rPr>
              <a:t>Without __str__</a:t>
            </a:r>
            <a:endParaRPr lang="en-US" sz="1256" dirty="0"/>
          </a:p>
        </p:txBody>
      </p:sp>
      <p:sp>
        <p:nvSpPr>
          <p:cNvPr id="6" name="Text 3"/>
          <p:cNvSpPr/>
          <p:nvPr/>
        </p:nvSpPr>
        <p:spPr>
          <a:xfrm>
            <a:off x="762001" y="2696765"/>
            <a:ext cx="1092415" cy="196400"/>
          </a:xfrm>
          <a:prstGeom prst="rect">
            <a:avLst/>
          </a:prstGeom>
          <a:noFill/>
          <a:ln/>
        </p:spPr>
        <p:txBody>
          <a:bodyPr wrap="none" lIns="0" tIns="0" rIns="0" bIns="0" rtlCol="0" anchor="t">
            <a:spAutoFit/>
          </a:bodyPr>
          <a:lstStyle/>
          <a:p>
            <a:pPr>
              <a:lnSpc>
                <a:spcPts val="1600"/>
              </a:lnSpc>
            </a:pPr>
            <a:r>
              <a:rPr lang="en-US" sz="1256" dirty="0">
                <a:solidFill>
                  <a:srgbClr val="666666"/>
                </a:solidFill>
              </a:rPr>
              <a:t>Default Behavior</a:t>
            </a:r>
            <a:endParaRPr lang="en-US" sz="1256" dirty="0"/>
          </a:p>
        </p:txBody>
      </p:sp>
      <p:sp>
        <p:nvSpPr>
          <p:cNvPr id="7" name="Shape 4"/>
          <p:cNvSpPr/>
          <p:nvPr/>
        </p:nvSpPr>
        <p:spPr>
          <a:xfrm>
            <a:off x="3752851" y="2266951"/>
            <a:ext cx="3257551" cy="764381"/>
          </a:xfrm>
          <a:prstGeom prst="rect">
            <a:avLst/>
          </a:prstGeom>
          <a:solidFill>
            <a:srgbClr val="F5F5F5"/>
          </a:solidFill>
          <a:ln/>
        </p:spPr>
        <p:txBody>
          <a:bodyPr/>
          <a:lstStyle/>
          <a:p>
            <a:endParaRPr lang="en-US" sz="2400"/>
          </a:p>
        </p:txBody>
      </p:sp>
      <p:sp>
        <p:nvSpPr>
          <p:cNvPr id="8" name="Text 5"/>
          <p:cNvSpPr/>
          <p:nvPr/>
        </p:nvSpPr>
        <p:spPr>
          <a:xfrm>
            <a:off x="3752851" y="2266952"/>
            <a:ext cx="3257551" cy="505010"/>
          </a:xfrm>
          <a:prstGeom prst="rect">
            <a:avLst/>
          </a:prstGeom>
          <a:noFill/>
          <a:ln/>
        </p:spPr>
        <p:txBody>
          <a:bodyPr wrap="square" lIns="136144" tIns="136144" rIns="136144" bIns="136144" rtlCol="0" anchor="t">
            <a:spAutoFit/>
          </a:bodyPr>
          <a:lstStyle/>
          <a:p>
            <a:pPr>
              <a:lnSpc>
                <a:spcPts val="1867"/>
              </a:lnSpc>
            </a:pPr>
            <a:r>
              <a:rPr lang="en-US" sz="1400" dirty="0">
                <a:solidFill>
                  <a:srgbClr val="333333"/>
                </a:solidFill>
              </a:rPr>
              <a:t>print(dog1)</a:t>
            </a:r>
            <a:endParaRPr lang="en-US" sz="1400" dirty="0"/>
          </a:p>
        </p:txBody>
      </p:sp>
      <p:sp>
        <p:nvSpPr>
          <p:cNvPr id="9" name="Shape 6"/>
          <p:cNvSpPr/>
          <p:nvPr/>
        </p:nvSpPr>
        <p:spPr>
          <a:xfrm>
            <a:off x="7391400" y="2266951"/>
            <a:ext cx="4038600" cy="764381"/>
          </a:xfrm>
          <a:prstGeom prst="rect">
            <a:avLst/>
          </a:prstGeom>
          <a:solidFill>
            <a:srgbClr val="333333"/>
          </a:solidFill>
          <a:ln/>
        </p:spPr>
        <p:txBody>
          <a:bodyPr/>
          <a:lstStyle/>
          <a:p>
            <a:endParaRPr lang="en-US" sz="2400"/>
          </a:p>
        </p:txBody>
      </p:sp>
      <p:sp>
        <p:nvSpPr>
          <p:cNvPr id="10" name="Text 7"/>
          <p:cNvSpPr/>
          <p:nvPr/>
        </p:nvSpPr>
        <p:spPr>
          <a:xfrm>
            <a:off x="7505700" y="2381251"/>
            <a:ext cx="795282" cy="148182"/>
          </a:xfrm>
          <a:prstGeom prst="rect">
            <a:avLst/>
          </a:prstGeom>
          <a:noFill/>
          <a:ln/>
        </p:spPr>
        <p:txBody>
          <a:bodyPr wrap="none" lIns="0" tIns="0" rIns="0" bIns="0" rtlCol="0" anchor="t">
            <a:spAutoFit/>
          </a:bodyPr>
          <a:lstStyle/>
          <a:p>
            <a:pPr>
              <a:lnSpc>
                <a:spcPts val="1200"/>
              </a:lnSpc>
            </a:pPr>
            <a:r>
              <a:rPr lang="en-US" sz="969" kern="0" spc="1" dirty="0">
                <a:solidFill>
                  <a:srgbClr val="888888"/>
                </a:solidFill>
              </a:rPr>
              <a:t>Console Output</a:t>
            </a:r>
            <a:endParaRPr lang="en-US" sz="969" dirty="0"/>
          </a:p>
        </p:txBody>
      </p:sp>
      <p:sp>
        <p:nvSpPr>
          <p:cNvPr id="11" name="Text 8"/>
          <p:cNvSpPr/>
          <p:nvPr/>
        </p:nvSpPr>
        <p:spPr>
          <a:xfrm>
            <a:off x="7505701" y="2657475"/>
            <a:ext cx="2632067" cy="230063"/>
          </a:xfrm>
          <a:prstGeom prst="rect">
            <a:avLst/>
          </a:prstGeom>
          <a:noFill/>
          <a:ln/>
        </p:spPr>
        <p:txBody>
          <a:bodyPr wrap="none" lIns="0" tIns="0" rIns="0" bIns="0" rtlCol="0" anchor="t">
            <a:spAutoFit/>
          </a:bodyPr>
          <a:lstStyle/>
          <a:p>
            <a:pPr>
              <a:lnSpc>
                <a:spcPts val="1867"/>
              </a:lnSpc>
            </a:pPr>
            <a:r>
              <a:rPr lang="en-US" sz="1400" dirty="0">
                <a:solidFill>
                  <a:srgbClr val="FF6B6B"/>
                </a:solidFill>
              </a:rPr>
              <a:t>&lt;__</a:t>
            </a:r>
            <a:r>
              <a:rPr lang="en-US" sz="1400" dirty="0" err="1">
                <a:solidFill>
                  <a:srgbClr val="FF6B6B"/>
                </a:solidFill>
              </a:rPr>
              <a:t>main__.Dog</a:t>
            </a:r>
            <a:r>
              <a:rPr lang="en-US" sz="1400" dirty="0">
                <a:solidFill>
                  <a:srgbClr val="FF6B6B"/>
                </a:solidFill>
              </a:rPr>
              <a:t> object at 0x7f8b3c&gt;</a:t>
            </a:r>
            <a:endParaRPr lang="en-US" sz="1400" dirty="0"/>
          </a:p>
        </p:txBody>
      </p:sp>
      <p:sp>
        <p:nvSpPr>
          <p:cNvPr id="12" name="Text 9"/>
          <p:cNvSpPr/>
          <p:nvPr/>
        </p:nvSpPr>
        <p:spPr>
          <a:xfrm>
            <a:off x="762000" y="4140993"/>
            <a:ext cx="847796" cy="196400"/>
          </a:xfrm>
          <a:prstGeom prst="rect">
            <a:avLst/>
          </a:prstGeom>
          <a:noFill/>
          <a:ln/>
        </p:spPr>
        <p:txBody>
          <a:bodyPr wrap="none" lIns="0" tIns="0" rIns="0" bIns="0" rtlCol="0" anchor="t">
            <a:spAutoFit/>
          </a:bodyPr>
          <a:lstStyle/>
          <a:p>
            <a:pPr>
              <a:lnSpc>
                <a:spcPts val="1600"/>
              </a:lnSpc>
            </a:pPr>
            <a:r>
              <a:rPr lang="en-US" sz="1256" dirty="0">
                <a:solidFill>
                  <a:srgbClr val="666666"/>
                </a:solidFill>
              </a:rPr>
              <a:t>With __str__</a:t>
            </a:r>
            <a:endParaRPr lang="en-US" sz="1256" dirty="0"/>
          </a:p>
        </p:txBody>
      </p:sp>
      <p:sp>
        <p:nvSpPr>
          <p:cNvPr id="13" name="Text 10"/>
          <p:cNvSpPr/>
          <p:nvPr/>
        </p:nvSpPr>
        <p:spPr>
          <a:xfrm>
            <a:off x="762001" y="4421981"/>
            <a:ext cx="1112805" cy="196400"/>
          </a:xfrm>
          <a:prstGeom prst="rect">
            <a:avLst/>
          </a:prstGeom>
          <a:noFill/>
          <a:ln/>
        </p:spPr>
        <p:txBody>
          <a:bodyPr wrap="none" lIns="0" tIns="0" rIns="0" bIns="0" rtlCol="0" anchor="t">
            <a:spAutoFit/>
          </a:bodyPr>
          <a:lstStyle/>
          <a:p>
            <a:pPr>
              <a:lnSpc>
                <a:spcPts val="1600"/>
              </a:lnSpc>
            </a:pPr>
            <a:r>
              <a:rPr lang="en-US" sz="1256" dirty="0">
                <a:solidFill>
                  <a:srgbClr val="666666"/>
                </a:solidFill>
              </a:rPr>
              <a:t>Custom Behavior</a:t>
            </a:r>
            <a:endParaRPr lang="en-US" sz="1256" dirty="0"/>
          </a:p>
        </p:txBody>
      </p:sp>
      <p:sp>
        <p:nvSpPr>
          <p:cNvPr id="14" name="Shape 11"/>
          <p:cNvSpPr/>
          <p:nvPr/>
        </p:nvSpPr>
        <p:spPr>
          <a:xfrm>
            <a:off x="3715421" y="3221831"/>
            <a:ext cx="3354884" cy="2305051"/>
          </a:xfrm>
          <a:prstGeom prst="rect">
            <a:avLst/>
          </a:prstGeom>
          <a:solidFill>
            <a:srgbClr val="F5F5F5"/>
          </a:solidFill>
          <a:ln/>
        </p:spPr>
        <p:txBody>
          <a:bodyPr/>
          <a:lstStyle/>
          <a:p>
            <a:endParaRPr lang="en-US" sz="2400"/>
          </a:p>
        </p:txBody>
      </p:sp>
      <p:sp>
        <p:nvSpPr>
          <p:cNvPr id="15" name="Text 12"/>
          <p:cNvSpPr/>
          <p:nvPr/>
        </p:nvSpPr>
        <p:spPr>
          <a:xfrm>
            <a:off x="3829721" y="3336131"/>
            <a:ext cx="226409" cy="227242"/>
          </a:xfrm>
          <a:prstGeom prst="rect">
            <a:avLst/>
          </a:prstGeom>
          <a:noFill/>
          <a:ln/>
        </p:spPr>
        <p:txBody>
          <a:bodyPr wrap="none" lIns="0" tIns="0" rIns="0" bIns="0" rtlCol="0" anchor="t">
            <a:spAutoFit/>
          </a:bodyPr>
          <a:lstStyle/>
          <a:p>
            <a:pPr>
              <a:lnSpc>
                <a:spcPts val="1867"/>
              </a:lnSpc>
            </a:pPr>
            <a:r>
              <a:rPr lang="en-US" sz="1316" b="1" dirty="0">
                <a:solidFill>
                  <a:srgbClr val="0055FF"/>
                </a:solidFill>
              </a:rPr>
              <a:t>def</a:t>
            </a:r>
            <a:endParaRPr lang="en-US" sz="1316" dirty="0"/>
          </a:p>
        </p:txBody>
      </p:sp>
      <p:sp>
        <p:nvSpPr>
          <p:cNvPr id="16" name="Text 13"/>
          <p:cNvSpPr/>
          <p:nvPr/>
        </p:nvSpPr>
        <p:spPr>
          <a:xfrm>
            <a:off x="4146712" y="3341077"/>
            <a:ext cx="968214" cy="230063"/>
          </a:xfrm>
          <a:prstGeom prst="rect">
            <a:avLst/>
          </a:prstGeom>
          <a:noFill/>
          <a:ln/>
        </p:spPr>
        <p:txBody>
          <a:bodyPr wrap="none" lIns="0" tIns="0" rIns="0" bIns="0" rtlCol="0" anchor="t">
            <a:spAutoFit/>
          </a:bodyPr>
          <a:lstStyle/>
          <a:p>
            <a:pPr>
              <a:lnSpc>
                <a:spcPts val="1867"/>
              </a:lnSpc>
            </a:pPr>
            <a:r>
              <a:rPr lang="en-US" sz="1400" dirty="0">
                <a:solidFill>
                  <a:srgbClr val="333333"/>
                </a:solidFill>
              </a:rPr>
              <a:t>__str__(self):</a:t>
            </a:r>
            <a:endParaRPr lang="en-US" sz="1400" dirty="0"/>
          </a:p>
        </p:txBody>
      </p:sp>
      <p:sp>
        <p:nvSpPr>
          <p:cNvPr id="17" name="Text 14"/>
          <p:cNvSpPr/>
          <p:nvPr/>
        </p:nvSpPr>
        <p:spPr>
          <a:xfrm>
            <a:off x="4146713" y="3561159"/>
            <a:ext cx="437749" cy="227242"/>
          </a:xfrm>
          <a:prstGeom prst="rect">
            <a:avLst/>
          </a:prstGeom>
          <a:noFill/>
          <a:ln/>
        </p:spPr>
        <p:txBody>
          <a:bodyPr wrap="none" lIns="0" tIns="0" rIns="0" bIns="0" rtlCol="0" anchor="t">
            <a:spAutoFit/>
          </a:bodyPr>
          <a:lstStyle/>
          <a:p>
            <a:pPr>
              <a:lnSpc>
                <a:spcPts val="1867"/>
              </a:lnSpc>
            </a:pPr>
            <a:r>
              <a:rPr lang="en-US" sz="1316" b="1" dirty="0">
                <a:solidFill>
                  <a:srgbClr val="0055FF"/>
                </a:solidFill>
              </a:rPr>
              <a:t>return</a:t>
            </a:r>
            <a:endParaRPr lang="en-US" sz="1316" dirty="0"/>
          </a:p>
        </p:txBody>
      </p:sp>
      <p:sp>
        <p:nvSpPr>
          <p:cNvPr id="18" name="Text 15"/>
          <p:cNvSpPr/>
          <p:nvPr/>
        </p:nvSpPr>
        <p:spPr>
          <a:xfrm>
            <a:off x="4210719" y="3768329"/>
            <a:ext cx="3126284" cy="230063"/>
          </a:xfrm>
          <a:prstGeom prst="rect">
            <a:avLst/>
          </a:prstGeom>
          <a:noFill/>
          <a:ln/>
        </p:spPr>
        <p:txBody>
          <a:bodyPr wrap="square" lIns="0" tIns="0" rIns="0" bIns="0" rtlCol="0" anchor="t">
            <a:spAutoFit/>
          </a:bodyPr>
          <a:lstStyle/>
          <a:p>
            <a:pPr>
              <a:lnSpc>
                <a:spcPts val="1867"/>
              </a:lnSpc>
            </a:pPr>
            <a:r>
              <a:rPr lang="en-US" sz="1400" dirty="0" err="1">
                <a:solidFill>
                  <a:srgbClr val="008000"/>
                </a:solidFill>
              </a:rPr>
              <a:t>f”Dog</a:t>
            </a:r>
            <a:r>
              <a:rPr lang="en-US" sz="1400" dirty="0">
                <a:solidFill>
                  <a:srgbClr val="008000"/>
                </a:solidFill>
              </a:rPr>
              <a:t>: {</a:t>
            </a:r>
            <a:r>
              <a:rPr lang="en-US" sz="1400" dirty="0" err="1">
                <a:solidFill>
                  <a:srgbClr val="008000"/>
                </a:solidFill>
              </a:rPr>
              <a:t>self.name</a:t>
            </a:r>
            <a:r>
              <a:rPr lang="en-US" sz="1400" dirty="0">
                <a:solidFill>
                  <a:srgbClr val="008000"/>
                </a:solidFill>
              </a:rPr>
              <a:t>}, {</a:t>
            </a:r>
            <a:r>
              <a:rPr lang="en-US" sz="1400" dirty="0" err="1">
                <a:solidFill>
                  <a:srgbClr val="008000"/>
                </a:solidFill>
              </a:rPr>
              <a:t>self.age</a:t>
            </a:r>
            <a:r>
              <a:rPr lang="en-US" sz="1400" dirty="0">
                <a:solidFill>
                  <a:srgbClr val="008000"/>
                </a:solidFill>
              </a:rPr>
              <a:t>}, {</a:t>
            </a:r>
            <a:r>
              <a:rPr lang="en-US" sz="1400" dirty="0" err="1">
                <a:solidFill>
                  <a:srgbClr val="008000"/>
                </a:solidFill>
              </a:rPr>
              <a:t>self.breed</a:t>
            </a:r>
            <a:r>
              <a:rPr lang="en-US" sz="1400" dirty="0">
                <a:solidFill>
                  <a:srgbClr val="008000"/>
                </a:solidFill>
              </a:rPr>
              <a:t>}"</a:t>
            </a:r>
            <a:endParaRPr lang="en-US" sz="1400" dirty="0"/>
          </a:p>
        </p:txBody>
      </p:sp>
      <p:sp>
        <p:nvSpPr>
          <p:cNvPr id="19" name="Text 16"/>
          <p:cNvSpPr/>
          <p:nvPr/>
        </p:nvSpPr>
        <p:spPr>
          <a:xfrm>
            <a:off x="3829720" y="5153026"/>
            <a:ext cx="870366" cy="230063"/>
          </a:xfrm>
          <a:prstGeom prst="rect">
            <a:avLst/>
          </a:prstGeom>
          <a:noFill/>
          <a:ln/>
        </p:spPr>
        <p:txBody>
          <a:bodyPr wrap="none" lIns="0" tIns="0" rIns="0" bIns="0" rtlCol="0" anchor="t">
            <a:spAutoFit/>
          </a:bodyPr>
          <a:lstStyle/>
          <a:p>
            <a:pPr>
              <a:lnSpc>
                <a:spcPts val="1867"/>
              </a:lnSpc>
            </a:pPr>
            <a:r>
              <a:rPr lang="en-US" sz="1400" dirty="0">
                <a:solidFill>
                  <a:srgbClr val="333333"/>
                </a:solidFill>
              </a:rPr>
              <a:t>print(user1)</a:t>
            </a:r>
            <a:endParaRPr lang="en-US" sz="1400" dirty="0"/>
          </a:p>
        </p:txBody>
      </p:sp>
      <p:sp>
        <p:nvSpPr>
          <p:cNvPr id="20" name="Shape 17"/>
          <p:cNvSpPr/>
          <p:nvPr/>
        </p:nvSpPr>
        <p:spPr>
          <a:xfrm>
            <a:off x="7451304" y="3221831"/>
            <a:ext cx="3978697" cy="2305051"/>
          </a:xfrm>
          <a:prstGeom prst="rect">
            <a:avLst/>
          </a:prstGeom>
          <a:solidFill>
            <a:srgbClr val="333333"/>
          </a:solidFill>
          <a:ln/>
        </p:spPr>
        <p:txBody>
          <a:bodyPr/>
          <a:lstStyle/>
          <a:p>
            <a:endParaRPr lang="en-US" sz="2400"/>
          </a:p>
        </p:txBody>
      </p:sp>
      <p:sp>
        <p:nvSpPr>
          <p:cNvPr id="21" name="Text 18"/>
          <p:cNvSpPr/>
          <p:nvPr/>
        </p:nvSpPr>
        <p:spPr>
          <a:xfrm>
            <a:off x="7565603" y="4106465"/>
            <a:ext cx="795282" cy="148182"/>
          </a:xfrm>
          <a:prstGeom prst="rect">
            <a:avLst/>
          </a:prstGeom>
          <a:noFill/>
          <a:ln/>
        </p:spPr>
        <p:txBody>
          <a:bodyPr wrap="none" lIns="0" tIns="0" rIns="0" bIns="0" rtlCol="0" anchor="t">
            <a:spAutoFit/>
          </a:bodyPr>
          <a:lstStyle/>
          <a:p>
            <a:pPr>
              <a:lnSpc>
                <a:spcPts val="1200"/>
              </a:lnSpc>
            </a:pPr>
            <a:r>
              <a:rPr lang="en-US" sz="969" kern="0" spc="1" dirty="0">
                <a:solidFill>
                  <a:srgbClr val="888888"/>
                </a:solidFill>
              </a:rPr>
              <a:t>Console Output</a:t>
            </a:r>
            <a:endParaRPr lang="en-US" sz="969" dirty="0"/>
          </a:p>
        </p:txBody>
      </p:sp>
      <p:sp>
        <p:nvSpPr>
          <p:cNvPr id="22" name="Text 19"/>
          <p:cNvSpPr/>
          <p:nvPr/>
        </p:nvSpPr>
        <p:spPr>
          <a:xfrm>
            <a:off x="7565603" y="4382691"/>
            <a:ext cx="1354986" cy="230063"/>
          </a:xfrm>
          <a:prstGeom prst="rect">
            <a:avLst/>
          </a:prstGeom>
          <a:noFill/>
          <a:ln/>
        </p:spPr>
        <p:txBody>
          <a:bodyPr wrap="none" lIns="0" tIns="0" rIns="0" bIns="0" rtlCol="0" anchor="t">
            <a:spAutoFit/>
          </a:bodyPr>
          <a:lstStyle/>
          <a:p>
            <a:pPr>
              <a:lnSpc>
                <a:spcPts val="1867"/>
              </a:lnSpc>
            </a:pPr>
            <a:r>
              <a:rPr lang="en-US" sz="1400" dirty="0">
                <a:solidFill>
                  <a:srgbClr val="4ECDC4"/>
                </a:solidFill>
              </a:rPr>
              <a:t>Dog: Vuk, 2, Husky</a:t>
            </a:r>
            <a:endParaRPr lang="en-US" sz="1400" dirty="0"/>
          </a:p>
        </p:txBody>
      </p:sp>
      <p:sp>
        <p:nvSpPr>
          <p:cNvPr id="23" name="Text 20"/>
          <p:cNvSpPr/>
          <p:nvPr/>
        </p:nvSpPr>
        <p:spPr>
          <a:xfrm>
            <a:off x="762001" y="5717382"/>
            <a:ext cx="3531929" cy="227242"/>
          </a:xfrm>
          <a:prstGeom prst="rect">
            <a:avLst/>
          </a:prstGeom>
          <a:noFill/>
          <a:ln/>
        </p:spPr>
        <p:txBody>
          <a:bodyPr wrap="none" lIns="0" tIns="0" rIns="0" bIns="0" rtlCol="0" anchor="t">
            <a:spAutoFit/>
          </a:bodyPr>
          <a:lstStyle/>
          <a:p>
            <a:pPr>
              <a:lnSpc>
                <a:spcPts val="1867"/>
              </a:lnSpc>
            </a:pPr>
            <a:r>
              <a:rPr lang="en-US" sz="1316" b="1" dirty="0">
                <a:solidFill>
                  <a:srgbClr val="0055FF"/>
                </a:solidFill>
              </a:rPr>
              <a:t>Result: Makes debugging and logging much easier!</a:t>
            </a:r>
            <a:endParaRPr lang="en-US" sz="1316"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762001" y="762001"/>
            <a:ext cx="4559069" cy="523541"/>
          </a:xfrm>
          <a:prstGeom prst="rect">
            <a:avLst/>
          </a:prstGeom>
          <a:noFill/>
          <a:ln/>
        </p:spPr>
        <p:txBody>
          <a:bodyPr wrap="none" lIns="0" tIns="0" rIns="0" bIns="0" rtlCol="0" anchor="t">
            <a:spAutoFit/>
          </a:bodyPr>
          <a:lstStyle/>
          <a:p>
            <a:pPr>
              <a:lnSpc>
                <a:spcPts val="4267"/>
              </a:lnSpc>
            </a:pPr>
            <a:r>
              <a:rPr lang="en-US" sz="3248" b="1" kern="0" spc="-1" dirty="0">
                <a:solidFill>
                  <a:srgbClr val="000000"/>
                </a:solidFill>
              </a:rPr>
              <a:t>Documenting Your Classes</a:t>
            </a:r>
            <a:endParaRPr lang="en-US" sz="3248" dirty="0"/>
          </a:p>
        </p:txBody>
      </p:sp>
      <p:sp>
        <p:nvSpPr>
          <p:cNvPr id="4" name="Text 1"/>
          <p:cNvSpPr/>
          <p:nvPr/>
        </p:nvSpPr>
        <p:spPr>
          <a:xfrm>
            <a:off x="762000" y="1478756"/>
            <a:ext cx="1459502" cy="259238"/>
          </a:xfrm>
          <a:prstGeom prst="rect">
            <a:avLst/>
          </a:prstGeom>
          <a:noFill/>
          <a:ln/>
        </p:spPr>
        <p:txBody>
          <a:bodyPr wrap="none" lIns="0" tIns="0" rIns="0" bIns="0" rtlCol="0" anchor="t">
            <a:spAutoFit/>
          </a:bodyPr>
          <a:lstStyle/>
          <a:p>
            <a:pPr>
              <a:lnSpc>
                <a:spcPts val="2133"/>
              </a:lnSpc>
            </a:pPr>
            <a:r>
              <a:rPr lang="en-US" sz="1692" dirty="0">
                <a:solidFill>
                  <a:srgbClr val="666666"/>
                </a:solidFill>
              </a:rPr>
              <a:t>Using Docstrings</a:t>
            </a:r>
            <a:endParaRPr lang="en-US" sz="1692" dirty="0"/>
          </a:p>
        </p:txBody>
      </p:sp>
      <p:sp>
        <p:nvSpPr>
          <p:cNvPr id="5" name="Text 2"/>
          <p:cNvSpPr/>
          <p:nvPr/>
        </p:nvSpPr>
        <p:spPr>
          <a:xfrm>
            <a:off x="762001" y="2378870"/>
            <a:ext cx="916918" cy="255839"/>
          </a:xfrm>
          <a:prstGeom prst="rect">
            <a:avLst/>
          </a:prstGeom>
          <a:noFill/>
          <a:ln/>
        </p:spPr>
        <p:txBody>
          <a:bodyPr wrap="none" lIns="0" tIns="0" rIns="0" bIns="0" rtlCol="0" anchor="t">
            <a:spAutoFit/>
          </a:bodyPr>
          <a:lstStyle/>
          <a:p>
            <a:pPr>
              <a:lnSpc>
                <a:spcPts val="2133"/>
              </a:lnSpc>
            </a:pPr>
            <a:r>
              <a:rPr lang="en-US" sz="1591" b="1" dirty="0">
                <a:solidFill>
                  <a:srgbClr val="000000"/>
                </a:solidFill>
              </a:rPr>
              <a:t>The Syntax</a:t>
            </a:r>
            <a:endParaRPr lang="en-US" sz="1591" dirty="0"/>
          </a:p>
        </p:txBody>
      </p:sp>
      <p:sp>
        <p:nvSpPr>
          <p:cNvPr id="6" name="Text 3"/>
          <p:cNvSpPr/>
          <p:nvPr/>
        </p:nvSpPr>
        <p:spPr>
          <a:xfrm>
            <a:off x="762000" y="2786063"/>
            <a:ext cx="4589301" cy="563488"/>
          </a:xfrm>
          <a:prstGeom prst="rect">
            <a:avLst/>
          </a:prstGeom>
          <a:noFill/>
          <a:ln/>
        </p:spPr>
        <p:txBody>
          <a:bodyPr wrap="square" lIns="340191" tIns="0" rIns="0" bIns="0" rtlCol="0" anchor="t">
            <a:spAutoFit/>
          </a:bodyPr>
          <a:lstStyle/>
          <a:p>
            <a:pPr>
              <a:lnSpc>
                <a:spcPts val="2267"/>
              </a:lnSpc>
            </a:pPr>
            <a:r>
              <a:rPr lang="en-US" sz="1400" dirty="0">
                <a:solidFill>
                  <a:srgbClr val="555555"/>
                </a:solidFill>
              </a:rPr>
              <a:t>Use triple quotes """ to define a docstring. It can span multiple lines.</a:t>
            </a:r>
            <a:endParaRPr lang="en-US" sz="1400" dirty="0"/>
          </a:p>
        </p:txBody>
      </p:sp>
      <p:sp>
        <p:nvSpPr>
          <p:cNvPr id="7" name="Text 4"/>
          <p:cNvSpPr/>
          <p:nvPr/>
        </p:nvSpPr>
        <p:spPr>
          <a:xfrm>
            <a:off x="762000" y="3626645"/>
            <a:ext cx="1253228" cy="255839"/>
          </a:xfrm>
          <a:prstGeom prst="rect">
            <a:avLst/>
          </a:prstGeom>
          <a:noFill/>
          <a:ln/>
        </p:spPr>
        <p:txBody>
          <a:bodyPr wrap="none" lIns="0" tIns="0" rIns="0" bIns="0" rtlCol="0" anchor="t">
            <a:spAutoFit/>
          </a:bodyPr>
          <a:lstStyle/>
          <a:p>
            <a:pPr>
              <a:lnSpc>
                <a:spcPts val="2133"/>
              </a:lnSpc>
            </a:pPr>
            <a:r>
              <a:rPr lang="en-US" sz="1591" b="1" dirty="0">
                <a:solidFill>
                  <a:srgbClr val="000000"/>
                </a:solidFill>
              </a:rPr>
              <a:t>The Placement</a:t>
            </a:r>
            <a:endParaRPr lang="en-US" sz="1591" dirty="0"/>
          </a:p>
        </p:txBody>
      </p:sp>
      <p:sp>
        <p:nvSpPr>
          <p:cNvPr id="8" name="Text 5"/>
          <p:cNvSpPr/>
          <p:nvPr/>
        </p:nvSpPr>
        <p:spPr>
          <a:xfrm>
            <a:off x="762000" y="4033838"/>
            <a:ext cx="4589301" cy="563488"/>
          </a:xfrm>
          <a:prstGeom prst="rect">
            <a:avLst/>
          </a:prstGeom>
          <a:noFill/>
          <a:ln/>
        </p:spPr>
        <p:txBody>
          <a:bodyPr wrap="square" lIns="340191" tIns="0" rIns="0" bIns="0" rtlCol="0" anchor="t">
            <a:spAutoFit/>
          </a:bodyPr>
          <a:lstStyle/>
          <a:p>
            <a:pPr>
              <a:lnSpc>
                <a:spcPts val="2267"/>
              </a:lnSpc>
            </a:pPr>
            <a:r>
              <a:rPr lang="en-US" sz="1400" dirty="0">
                <a:solidFill>
                  <a:srgbClr val="555555"/>
                </a:solidFill>
              </a:rPr>
              <a:t>Must be the </a:t>
            </a:r>
            <a:r>
              <a:rPr lang="en-US" sz="1316" b="1" dirty="0">
                <a:solidFill>
                  <a:srgbClr val="555555"/>
                </a:solidFill>
              </a:rPr>
              <a:t>very first thing</a:t>
            </a:r>
            <a:r>
              <a:rPr lang="en-US" sz="1400" dirty="0">
                <a:solidFill>
                  <a:srgbClr val="555555"/>
                </a:solidFill>
              </a:rPr>
              <a:t> inside a class or method definition.</a:t>
            </a:r>
            <a:endParaRPr lang="en-US" sz="1400" dirty="0"/>
          </a:p>
        </p:txBody>
      </p:sp>
      <p:sp>
        <p:nvSpPr>
          <p:cNvPr id="9" name="Text 6"/>
          <p:cNvSpPr/>
          <p:nvPr/>
        </p:nvSpPr>
        <p:spPr>
          <a:xfrm>
            <a:off x="762000" y="4872038"/>
            <a:ext cx="1051570" cy="255839"/>
          </a:xfrm>
          <a:prstGeom prst="rect">
            <a:avLst/>
          </a:prstGeom>
          <a:noFill/>
          <a:ln/>
        </p:spPr>
        <p:txBody>
          <a:bodyPr wrap="none" lIns="0" tIns="0" rIns="0" bIns="0" rtlCol="0" anchor="t">
            <a:spAutoFit/>
          </a:bodyPr>
          <a:lstStyle/>
          <a:p>
            <a:pPr>
              <a:lnSpc>
                <a:spcPts val="2133"/>
              </a:lnSpc>
            </a:pPr>
            <a:r>
              <a:rPr lang="en-US" sz="1591" b="1" dirty="0">
                <a:solidFill>
                  <a:srgbClr val="000000"/>
                </a:solidFill>
              </a:rPr>
              <a:t>The Purpose</a:t>
            </a:r>
            <a:endParaRPr lang="en-US" sz="1591" dirty="0"/>
          </a:p>
        </p:txBody>
      </p:sp>
      <p:sp>
        <p:nvSpPr>
          <p:cNvPr id="10" name="Text 7"/>
          <p:cNvSpPr/>
          <p:nvPr/>
        </p:nvSpPr>
        <p:spPr>
          <a:xfrm>
            <a:off x="762000" y="5279231"/>
            <a:ext cx="4589301" cy="563488"/>
          </a:xfrm>
          <a:prstGeom prst="rect">
            <a:avLst/>
          </a:prstGeom>
          <a:noFill/>
          <a:ln/>
        </p:spPr>
        <p:txBody>
          <a:bodyPr wrap="square" lIns="340191" tIns="0" rIns="0" bIns="0" rtlCol="0" anchor="t">
            <a:spAutoFit/>
          </a:bodyPr>
          <a:lstStyle/>
          <a:p>
            <a:pPr>
              <a:lnSpc>
                <a:spcPts val="2267"/>
              </a:lnSpc>
            </a:pPr>
            <a:r>
              <a:rPr lang="en-US" sz="1400" dirty="0">
                <a:solidFill>
                  <a:srgbClr val="555555"/>
                </a:solidFill>
              </a:rPr>
              <a:t>Explains </a:t>
            </a:r>
            <a:r>
              <a:rPr lang="en-US" sz="1400" i="1" dirty="0">
                <a:solidFill>
                  <a:srgbClr val="555555"/>
                </a:solidFill>
              </a:rPr>
              <a:t>what</a:t>
            </a:r>
            <a:r>
              <a:rPr lang="en-US" sz="1400" dirty="0">
                <a:solidFill>
                  <a:srgbClr val="555555"/>
                </a:solidFill>
              </a:rPr>
              <a:t> the class does and lists its attributes for other developers (and you).</a:t>
            </a:r>
            <a:endParaRPr lang="en-US" sz="1400" dirty="0"/>
          </a:p>
        </p:txBody>
      </p:sp>
      <p:sp>
        <p:nvSpPr>
          <p:cNvPr id="11" name="Shape 8"/>
          <p:cNvSpPr/>
          <p:nvPr/>
        </p:nvSpPr>
        <p:spPr>
          <a:xfrm>
            <a:off x="5922802" y="2011682"/>
            <a:ext cx="5507199" cy="3169845"/>
          </a:xfrm>
          <a:prstGeom prst="rect">
            <a:avLst/>
          </a:prstGeom>
          <a:solidFill>
            <a:srgbClr val="F5F5F5"/>
          </a:solidFill>
          <a:ln/>
        </p:spPr>
        <p:txBody>
          <a:bodyPr/>
          <a:lstStyle/>
          <a:p>
            <a:endParaRPr lang="en-US" sz="2400"/>
          </a:p>
        </p:txBody>
      </p:sp>
      <p:sp>
        <p:nvSpPr>
          <p:cNvPr id="12" name="Shape 9"/>
          <p:cNvSpPr/>
          <p:nvPr/>
        </p:nvSpPr>
        <p:spPr>
          <a:xfrm>
            <a:off x="5865652" y="2011682"/>
            <a:ext cx="114301" cy="3169845"/>
          </a:xfrm>
          <a:prstGeom prst="rect">
            <a:avLst/>
          </a:prstGeom>
          <a:solidFill>
            <a:srgbClr val="0055FF"/>
          </a:solidFill>
          <a:ln/>
        </p:spPr>
        <p:txBody>
          <a:bodyPr/>
          <a:lstStyle/>
          <a:p>
            <a:endParaRPr lang="en-US" sz="2400"/>
          </a:p>
        </p:txBody>
      </p:sp>
      <p:sp>
        <p:nvSpPr>
          <p:cNvPr id="13" name="Text 10"/>
          <p:cNvSpPr/>
          <p:nvPr/>
        </p:nvSpPr>
        <p:spPr>
          <a:xfrm>
            <a:off x="5979953" y="2066696"/>
            <a:ext cx="5507199" cy="3313749"/>
          </a:xfrm>
          <a:prstGeom prst="rect">
            <a:avLst/>
          </a:prstGeom>
          <a:noFill/>
          <a:ln/>
        </p:spPr>
        <p:txBody>
          <a:bodyPr wrap="square" lIns="294809" tIns="294809" rIns="294809" bIns="294809" rtlCol="0" anchor="t">
            <a:spAutoFit/>
          </a:bodyPr>
          <a:lstStyle/>
          <a:p>
            <a:pPr>
              <a:lnSpc>
                <a:spcPts val="2133"/>
              </a:lnSpc>
            </a:pPr>
            <a:r>
              <a:rPr lang="en-US" sz="1600" b="1" dirty="0">
                <a:solidFill>
                  <a:srgbClr val="0055FF"/>
                </a:solidFill>
              </a:rPr>
              <a:t>class </a:t>
            </a:r>
            <a:r>
              <a:rPr lang="en-US" sz="1600" b="1" dirty="0">
                <a:solidFill>
                  <a:srgbClr val="000000"/>
                </a:solidFill>
              </a:rPr>
              <a:t>Dog</a:t>
            </a:r>
            <a:r>
              <a:rPr lang="en-US" sz="1600" dirty="0">
                <a:solidFill>
                  <a:srgbClr val="333333"/>
                </a:solidFill>
              </a:rPr>
              <a:t>: </a:t>
            </a:r>
          </a:p>
          <a:p>
            <a:pPr>
              <a:lnSpc>
                <a:spcPts val="2133"/>
              </a:lnSpc>
            </a:pPr>
            <a:r>
              <a:rPr lang="en-US" sz="1600" i="1" dirty="0">
                <a:solidFill>
                  <a:srgbClr val="008000"/>
                </a:solidFill>
              </a:rPr>
              <a:t>""" Represents a dog in the system. Attributes: name (str): Dog’s age (int): </a:t>
            </a:r>
            <a:r>
              <a:rPr lang="en-US" sz="1600" i="1" dirty="0" err="1">
                <a:solidFill>
                  <a:srgbClr val="008000"/>
                </a:solidFill>
              </a:rPr>
              <a:t>Dob’s</a:t>
            </a:r>
            <a:r>
              <a:rPr lang="en-US" sz="1600" i="1" dirty="0">
                <a:solidFill>
                  <a:srgbClr val="008000"/>
                </a:solidFill>
              </a:rPr>
              <a:t> breed (str, etc.) ""”</a:t>
            </a:r>
          </a:p>
          <a:p>
            <a:pPr>
              <a:lnSpc>
                <a:spcPts val="2133"/>
              </a:lnSpc>
            </a:pPr>
            <a:endParaRPr lang="en-US" sz="1600" b="1" dirty="0">
              <a:solidFill>
                <a:srgbClr val="0055FF"/>
              </a:solidFill>
            </a:endParaRPr>
          </a:p>
          <a:p>
            <a:pPr>
              <a:lnSpc>
                <a:spcPts val="2667"/>
              </a:lnSpc>
            </a:pPr>
            <a:r>
              <a:rPr lang="en-US" sz="1467" b="1" dirty="0">
                <a:solidFill>
                  <a:srgbClr val="0055FF"/>
                </a:solidFill>
              </a:rPr>
              <a:t>              def</a:t>
            </a:r>
            <a:r>
              <a:rPr lang="en-US" sz="1467" b="1" dirty="0">
                <a:solidFill>
                  <a:srgbClr val="000000"/>
                </a:solidFill>
              </a:rPr>
              <a:t>__</a:t>
            </a:r>
            <a:r>
              <a:rPr lang="en-US" sz="1467" b="1" dirty="0" err="1">
                <a:solidFill>
                  <a:srgbClr val="000000"/>
                </a:solidFill>
              </a:rPr>
              <a:t>init</a:t>
            </a:r>
            <a:r>
              <a:rPr lang="en-US" sz="1467" b="1" dirty="0">
                <a:solidFill>
                  <a:srgbClr val="000000"/>
                </a:solidFill>
              </a:rPr>
              <a:t>__</a:t>
            </a:r>
            <a:r>
              <a:rPr lang="en-US" sz="1600" dirty="0">
                <a:solidFill>
                  <a:srgbClr val="333333"/>
                </a:solidFill>
              </a:rPr>
              <a:t>(</a:t>
            </a:r>
            <a:r>
              <a:rPr lang="en-US" sz="1600" dirty="0">
                <a:solidFill>
                  <a:srgbClr val="D32F2F"/>
                </a:solidFill>
              </a:rPr>
              <a:t>self</a:t>
            </a:r>
            <a:r>
              <a:rPr lang="en-US" sz="1600" dirty="0">
                <a:solidFill>
                  <a:srgbClr val="333333"/>
                </a:solidFill>
              </a:rPr>
              <a:t>, name, age, breed):</a:t>
            </a:r>
            <a:endParaRPr lang="en-US" sz="1600" i="1" dirty="0">
              <a:solidFill>
                <a:srgbClr val="888888"/>
              </a:solidFill>
            </a:endParaRPr>
          </a:p>
          <a:p>
            <a:pPr>
              <a:lnSpc>
                <a:spcPts val="2667"/>
              </a:lnSpc>
            </a:pPr>
            <a:r>
              <a:rPr lang="en-US" sz="1600" dirty="0">
                <a:solidFill>
                  <a:srgbClr val="D32F2F"/>
                </a:solidFill>
              </a:rPr>
              <a:t>                                 </a:t>
            </a:r>
            <a:r>
              <a:rPr lang="en-US" sz="1600" dirty="0" err="1">
                <a:solidFill>
                  <a:srgbClr val="D32F2F"/>
                </a:solidFill>
              </a:rPr>
              <a:t>self</a:t>
            </a:r>
            <a:r>
              <a:rPr lang="en-US" sz="1600" dirty="0" err="1">
                <a:solidFill>
                  <a:srgbClr val="333333"/>
                </a:solidFill>
              </a:rPr>
              <a:t>.name</a:t>
            </a:r>
            <a:r>
              <a:rPr lang="en-US" sz="1600" dirty="0">
                <a:solidFill>
                  <a:srgbClr val="333333"/>
                </a:solidFill>
              </a:rPr>
              <a:t> = name</a:t>
            </a:r>
          </a:p>
          <a:p>
            <a:pPr>
              <a:lnSpc>
                <a:spcPts val="2667"/>
              </a:lnSpc>
            </a:pPr>
            <a:r>
              <a:rPr lang="en-US" sz="1600" dirty="0">
                <a:solidFill>
                  <a:srgbClr val="D32F2F"/>
                </a:solidFill>
              </a:rPr>
              <a:t>                                  </a:t>
            </a:r>
            <a:r>
              <a:rPr lang="en-US" sz="1600" dirty="0" err="1">
                <a:solidFill>
                  <a:srgbClr val="D32F2F"/>
                </a:solidFill>
              </a:rPr>
              <a:t>self</a:t>
            </a:r>
            <a:r>
              <a:rPr lang="en-US" sz="1600" dirty="0" err="1">
                <a:solidFill>
                  <a:srgbClr val="333333"/>
                </a:solidFill>
              </a:rPr>
              <a:t>.age</a:t>
            </a:r>
            <a:r>
              <a:rPr lang="en-US" sz="1600" dirty="0">
                <a:solidFill>
                  <a:srgbClr val="333333"/>
                </a:solidFill>
              </a:rPr>
              <a:t> = age </a:t>
            </a:r>
          </a:p>
          <a:p>
            <a:pPr>
              <a:lnSpc>
                <a:spcPts val="2667"/>
              </a:lnSpc>
            </a:pPr>
            <a:r>
              <a:rPr lang="en-US" sz="1600" dirty="0">
                <a:solidFill>
                  <a:srgbClr val="D32F2F"/>
                </a:solidFill>
              </a:rPr>
              <a:t>                                   </a:t>
            </a:r>
            <a:r>
              <a:rPr lang="en-US" sz="1600" dirty="0" err="1">
                <a:solidFill>
                  <a:srgbClr val="D32F2F"/>
                </a:solidFill>
              </a:rPr>
              <a:t>self</a:t>
            </a:r>
            <a:r>
              <a:rPr lang="en-US" sz="1600" dirty="0" err="1">
                <a:solidFill>
                  <a:srgbClr val="333333"/>
                </a:solidFill>
              </a:rPr>
              <a:t>.breed</a:t>
            </a:r>
            <a:r>
              <a:rPr lang="en-US" sz="1600" dirty="0">
                <a:solidFill>
                  <a:srgbClr val="333333"/>
                </a:solidFill>
              </a:rPr>
              <a:t>= breed </a:t>
            </a:r>
          </a:p>
          <a:p>
            <a:pPr>
              <a:lnSpc>
                <a:spcPts val="2133"/>
              </a:lnSpc>
            </a:pPr>
            <a:r>
              <a:rPr lang="en-US" sz="1600" dirty="0">
                <a:solidFill>
                  <a:srgbClr val="333333"/>
                </a:solidFill>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62000" y="636985"/>
            <a:ext cx="2867580" cy="523541"/>
          </a:xfrm>
          <a:prstGeom prst="rect">
            <a:avLst/>
          </a:prstGeom>
          <a:noFill/>
          <a:ln/>
        </p:spPr>
        <p:txBody>
          <a:bodyPr wrap="none" lIns="0" tIns="0" rIns="0" bIns="0" rtlCol="0" anchor="t">
            <a:spAutoFit/>
          </a:bodyPr>
          <a:lstStyle/>
          <a:p>
            <a:pPr>
              <a:lnSpc>
                <a:spcPts val="4267"/>
              </a:lnSpc>
            </a:pPr>
            <a:r>
              <a:rPr lang="en-US" sz="3248" b="1" kern="0" spc="-1" dirty="0">
                <a:solidFill>
                  <a:srgbClr val="000000"/>
                </a:solidFill>
              </a:rPr>
              <a:t>Adding Methods</a:t>
            </a:r>
            <a:endParaRPr lang="en-US" sz="3248" dirty="0"/>
          </a:p>
        </p:txBody>
      </p:sp>
      <p:sp>
        <p:nvSpPr>
          <p:cNvPr id="4" name="Text 1"/>
          <p:cNvSpPr/>
          <p:nvPr/>
        </p:nvSpPr>
        <p:spPr>
          <a:xfrm>
            <a:off x="762000" y="1353740"/>
            <a:ext cx="2689134" cy="259238"/>
          </a:xfrm>
          <a:prstGeom prst="rect">
            <a:avLst/>
          </a:prstGeom>
          <a:noFill/>
          <a:ln/>
        </p:spPr>
        <p:txBody>
          <a:bodyPr wrap="none" lIns="0" tIns="0" rIns="0" bIns="0" rtlCol="0" anchor="t">
            <a:spAutoFit/>
          </a:bodyPr>
          <a:lstStyle/>
          <a:p>
            <a:pPr>
              <a:lnSpc>
                <a:spcPts val="2133"/>
              </a:lnSpc>
            </a:pPr>
            <a:r>
              <a:rPr lang="en-US" sz="1692" dirty="0">
                <a:solidFill>
                  <a:srgbClr val="666666"/>
                </a:solidFill>
              </a:rPr>
              <a:t>Defining What Objects Can DO</a:t>
            </a:r>
            <a:endParaRPr lang="en-US" sz="1692" dirty="0"/>
          </a:p>
        </p:txBody>
      </p:sp>
      <p:sp>
        <p:nvSpPr>
          <p:cNvPr id="5" name="Text 2"/>
          <p:cNvSpPr/>
          <p:nvPr/>
        </p:nvSpPr>
        <p:spPr>
          <a:xfrm>
            <a:off x="762000" y="2141935"/>
            <a:ext cx="1101264" cy="255839"/>
          </a:xfrm>
          <a:prstGeom prst="rect">
            <a:avLst/>
          </a:prstGeom>
          <a:noFill/>
          <a:ln/>
        </p:spPr>
        <p:txBody>
          <a:bodyPr wrap="none" lIns="0" tIns="0" rIns="0" bIns="0" rtlCol="0" anchor="t">
            <a:spAutoFit/>
          </a:bodyPr>
          <a:lstStyle/>
          <a:p>
            <a:pPr>
              <a:lnSpc>
                <a:spcPts val="2133"/>
              </a:lnSpc>
            </a:pPr>
            <a:r>
              <a:rPr lang="en-US" sz="1591" b="1" dirty="0">
                <a:solidFill>
                  <a:srgbClr val="000000"/>
                </a:solidFill>
              </a:rPr>
              <a:t>Functionality</a:t>
            </a:r>
            <a:endParaRPr lang="en-US" sz="1591" dirty="0"/>
          </a:p>
        </p:txBody>
      </p:sp>
      <p:sp>
        <p:nvSpPr>
          <p:cNvPr id="6" name="Text 3"/>
          <p:cNvSpPr/>
          <p:nvPr/>
        </p:nvSpPr>
        <p:spPr>
          <a:xfrm>
            <a:off x="762000" y="2549128"/>
            <a:ext cx="5048251" cy="563488"/>
          </a:xfrm>
          <a:prstGeom prst="rect">
            <a:avLst/>
          </a:prstGeom>
          <a:noFill/>
          <a:ln/>
        </p:spPr>
        <p:txBody>
          <a:bodyPr wrap="square" lIns="396917" tIns="0" rIns="0" bIns="0" rtlCol="0" anchor="t">
            <a:spAutoFit/>
          </a:bodyPr>
          <a:lstStyle/>
          <a:p>
            <a:pPr>
              <a:lnSpc>
                <a:spcPts val="2267"/>
              </a:lnSpc>
            </a:pPr>
            <a:r>
              <a:rPr lang="en-US" sz="1400" dirty="0">
                <a:solidFill>
                  <a:srgbClr val="555555"/>
                </a:solidFill>
              </a:rPr>
              <a:t>Methods are simply functions defined inside a class. They define behaviors.</a:t>
            </a:r>
            <a:endParaRPr lang="en-US" sz="1400" dirty="0"/>
          </a:p>
        </p:txBody>
      </p:sp>
      <p:sp>
        <p:nvSpPr>
          <p:cNvPr id="7" name="Text 4"/>
          <p:cNvSpPr/>
          <p:nvPr/>
        </p:nvSpPr>
        <p:spPr>
          <a:xfrm>
            <a:off x="762001" y="3501629"/>
            <a:ext cx="1391407" cy="255839"/>
          </a:xfrm>
          <a:prstGeom prst="rect">
            <a:avLst/>
          </a:prstGeom>
          <a:noFill/>
          <a:ln/>
        </p:spPr>
        <p:txBody>
          <a:bodyPr wrap="none" lIns="0" tIns="0" rIns="0" bIns="0" rtlCol="0" anchor="t">
            <a:spAutoFit/>
          </a:bodyPr>
          <a:lstStyle/>
          <a:p>
            <a:pPr>
              <a:lnSpc>
                <a:spcPts val="2133"/>
              </a:lnSpc>
            </a:pPr>
            <a:r>
              <a:rPr lang="en-US" sz="1591" b="1" dirty="0">
                <a:solidFill>
                  <a:srgbClr val="000000"/>
                </a:solidFill>
              </a:rPr>
              <a:t>The Golden Rule</a:t>
            </a:r>
            <a:endParaRPr lang="en-US" sz="1591" dirty="0"/>
          </a:p>
        </p:txBody>
      </p:sp>
      <p:sp>
        <p:nvSpPr>
          <p:cNvPr id="8" name="Text 5"/>
          <p:cNvSpPr/>
          <p:nvPr/>
        </p:nvSpPr>
        <p:spPr>
          <a:xfrm>
            <a:off x="762000" y="3908822"/>
            <a:ext cx="5048251" cy="563488"/>
          </a:xfrm>
          <a:prstGeom prst="rect">
            <a:avLst/>
          </a:prstGeom>
          <a:noFill/>
          <a:ln/>
        </p:spPr>
        <p:txBody>
          <a:bodyPr wrap="square" lIns="396917" tIns="0" rIns="0" bIns="0" rtlCol="0" anchor="t">
            <a:spAutoFit/>
          </a:bodyPr>
          <a:lstStyle/>
          <a:p>
            <a:pPr>
              <a:lnSpc>
                <a:spcPts val="2267"/>
              </a:lnSpc>
            </a:pPr>
            <a:r>
              <a:rPr lang="en-US" sz="1400" dirty="0">
                <a:solidFill>
                  <a:srgbClr val="555555"/>
                </a:solidFill>
              </a:rPr>
              <a:t>Always include </a:t>
            </a:r>
            <a:r>
              <a:rPr lang="en-US" sz="1316" b="1" dirty="0">
                <a:solidFill>
                  <a:srgbClr val="555555"/>
                </a:solidFill>
              </a:rPr>
              <a:t>self</a:t>
            </a:r>
            <a:r>
              <a:rPr lang="en-US" sz="1400" dirty="0">
                <a:solidFill>
                  <a:srgbClr val="555555"/>
                </a:solidFill>
              </a:rPr>
              <a:t> as the first parameter so the method can access the object's data.</a:t>
            </a:r>
            <a:endParaRPr lang="en-US" sz="1400" dirty="0"/>
          </a:p>
        </p:txBody>
      </p:sp>
      <p:sp>
        <p:nvSpPr>
          <p:cNvPr id="9" name="Text 6"/>
          <p:cNvSpPr/>
          <p:nvPr/>
        </p:nvSpPr>
        <p:spPr>
          <a:xfrm>
            <a:off x="762000" y="4861322"/>
            <a:ext cx="1257652" cy="255839"/>
          </a:xfrm>
          <a:prstGeom prst="rect">
            <a:avLst/>
          </a:prstGeom>
          <a:noFill/>
          <a:ln/>
        </p:spPr>
        <p:txBody>
          <a:bodyPr wrap="none" lIns="0" tIns="0" rIns="0" bIns="0" rtlCol="0" anchor="t">
            <a:spAutoFit/>
          </a:bodyPr>
          <a:lstStyle/>
          <a:p>
            <a:pPr>
              <a:lnSpc>
                <a:spcPts val="2133"/>
              </a:lnSpc>
            </a:pPr>
            <a:r>
              <a:rPr lang="en-US" sz="1591" b="1" dirty="0">
                <a:solidFill>
                  <a:srgbClr val="000000"/>
                </a:solidFill>
              </a:rPr>
              <a:t>Accessing Data</a:t>
            </a:r>
            <a:endParaRPr lang="en-US" sz="1591" dirty="0"/>
          </a:p>
        </p:txBody>
      </p:sp>
      <p:sp>
        <p:nvSpPr>
          <p:cNvPr id="10" name="Text 7"/>
          <p:cNvSpPr/>
          <p:nvPr/>
        </p:nvSpPr>
        <p:spPr>
          <a:xfrm>
            <a:off x="762000" y="5268516"/>
            <a:ext cx="5048251" cy="563488"/>
          </a:xfrm>
          <a:prstGeom prst="rect">
            <a:avLst/>
          </a:prstGeom>
          <a:noFill/>
          <a:ln/>
        </p:spPr>
        <p:txBody>
          <a:bodyPr wrap="square" lIns="396917" tIns="0" rIns="0" bIns="0" rtlCol="0" anchor="t">
            <a:spAutoFit/>
          </a:bodyPr>
          <a:lstStyle/>
          <a:p>
            <a:pPr>
              <a:lnSpc>
                <a:spcPts val="2267"/>
              </a:lnSpc>
            </a:pPr>
            <a:r>
              <a:rPr lang="en-US" sz="1400" dirty="0">
                <a:solidFill>
                  <a:srgbClr val="555555"/>
                </a:solidFill>
              </a:rPr>
              <a:t>Use self.attribute_name to read or modify the object's attributes.</a:t>
            </a:r>
            <a:endParaRPr lang="en-US" sz="1400" dirty="0"/>
          </a:p>
        </p:txBody>
      </p:sp>
      <p:sp>
        <p:nvSpPr>
          <p:cNvPr id="11" name="Shape 8"/>
          <p:cNvSpPr/>
          <p:nvPr/>
        </p:nvSpPr>
        <p:spPr>
          <a:xfrm>
            <a:off x="6096000" y="966745"/>
            <a:ext cx="4762501" cy="5187511"/>
          </a:xfrm>
          <a:prstGeom prst="rect">
            <a:avLst/>
          </a:prstGeom>
          <a:solidFill>
            <a:srgbClr val="F5F5F5"/>
          </a:solidFill>
          <a:ln/>
        </p:spPr>
        <p:txBody>
          <a:bodyPr/>
          <a:lstStyle/>
          <a:p>
            <a:pPr>
              <a:lnSpc>
                <a:spcPts val="2133"/>
              </a:lnSpc>
            </a:pPr>
            <a:r>
              <a:rPr lang="en-US" sz="1400" b="1" dirty="0">
                <a:solidFill>
                  <a:srgbClr val="0055FF"/>
                </a:solidFill>
              </a:rPr>
              <a:t>class </a:t>
            </a:r>
            <a:r>
              <a:rPr lang="en-US" sz="1400" b="1" dirty="0">
                <a:solidFill>
                  <a:srgbClr val="000000"/>
                </a:solidFill>
              </a:rPr>
              <a:t>Dog</a:t>
            </a:r>
            <a:r>
              <a:rPr lang="en-US" sz="1400" dirty="0">
                <a:solidFill>
                  <a:srgbClr val="333333"/>
                </a:solidFill>
              </a:rPr>
              <a:t>: </a:t>
            </a:r>
          </a:p>
          <a:p>
            <a:pPr>
              <a:lnSpc>
                <a:spcPts val="2133"/>
              </a:lnSpc>
            </a:pPr>
            <a:r>
              <a:rPr lang="en-US" sz="1400" i="1" dirty="0">
                <a:solidFill>
                  <a:srgbClr val="008000"/>
                </a:solidFill>
              </a:rPr>
              <a:t>""" Represents a dog in the system. Attributes: name (str): Dog’s age (int): Dog’s breed (str, etc.) ""”</a:t>
            </a:r>
          </a:p>
          <a:p>
            <a:pPr>
              <a:lnSpc>
                <a:spcPts val="2133"/>
              </a:lnSpc>
            </a:pPr>
            <a:r>
              <a:rPr lang="en-US" sz="1400" b="1" dirty="0">
                <a:solidFill>
                  <a:srgbClr val="0055FF"/>
                </a:solidFill>
              </a:rPr>
              <a:t>            def</a:t>
            </a:r>
            <a:r>
              <a:rPr lang="en-US" sz="1400" b="1" dirty="0">
                <a:solidFill>
                  <a:srgbClr val="000000"/>
                </a:solidFill>
              </a:rPr>
              <a:t>__</a:t>
            </a:r>
            <a:r>
              <a:rPr lang="en-US" sz="1400" b="1" dirty="0" err="1">
                <a:solidFill>
                  <a:srgbClr val="000000"/>
                </a:solidFill>
              </a:rPr>
              <a:t>init</a:t>
            </a:r>
            <a:r>
              <a:rPr lang="en-US" sz="1400" b="1" dirty="0">
                <a:solidFill>
                  <a:srgbClr val="000000"/>
                </a:solidFill>
              </a:rPr>
              <a:t>__</a:t>
            </a:r>
            <a:r>
              <a:rPr lang="en-US" sz="1400" dirty="0">
                <a:solidFill>
                  <a:srgbClr val="333333"/>
                </a:solidFill>
              </a:rPr>
              <a:t>(</a:t>
            </a:r>
            <a:r>
              <a:rPr lang="en-US" sz="1400" dirty="0">
                <a:solidFill>
                  <a:srgbClr val="D32F2F"/>
                </a:solidFill>
              </a:rPr>
              <a:t>self</a:t>
            </a:r>
            <a:r>
              <a:rPr lang="en-US" sz="1400" dirty="0">
                <a:solidFill>
                  <a:srgbClr val="333333"/>
                </a:solidFill>
              </a:rPr>
              <a:t>, name, age, breed</a:t>
            </a:r>
          </a:p>
          <a:p>
            <a:pPr>
              <a:lnSpc>
                <a:spcPts val="2133"/>
              </a:lnSpc>
            </a:pPr>
            <a:r>
              <a:rPr lang="en-US" sz="1400" dirty="0">
                <a:solidFill>
                  <a:srgbClr val="D32F2F"/>
                </a:solidFill>
              </a:rPr>
              <a:t>                                  </a:t>
            </a:r>
            <a:r>
              <a:rPr lang="en-US" sz="1400" dirty="0" err="1">
                <a:solidFill>
                  <a:srgbClr val="D32F2F"/>
                </a:solidFill>
              </a:rPr>
              <a:t>self</a:t>
            </a:r>
            <a:r>
              <a:rPr lang="en-US" sz="1400" dirty="0" err="1">
                <a:solidFill>
                  <a:srgbClr val="333333"/>
                </a:solidFill>
              </a:rPr>
              <a:t>.name</a:t>
            </a:r>
            <a:r>
              <a:rPr lang="en-US" sz="1400" dirty="0">
                <a:solidFill>
                  <a:srgbClr val="333333"/>
                </a:solidFill>
              </a:rPr>
              <a:t> = name</a:t>
            </a:r>
            <a:r>
              <a:rPr lang="en-US" sz="1400" dirty="0">
                <a:solidFill>
                  <a:srgbClr val="D32F2F"/>
                </a:solidFill>
              </a:rPr>
              <a:t>                                         </a:t>
            </a:r>
          </a:p>
          <a:p>
            <a:pPr>
              <a:lnSpc>
                <a:spcPts val="2133"/>
              </a:lnSpc>
            </a:pPr>
            <a:r>
              <a:rPr lang="en-US" sz="1400" dirty="0">
                <a:solidFill>
                  <a:srgbClr val="D32F2F"/>
                </a:solidFill>
              </a:rPr>
              <a:t>                                  </a:t>
            </a:r>
            <a:r>
              <a:rPr lang="en-US" sz="1400" dirty="0" err="1">
                <a:solidFill>
                  <a:srgbClr val="D32F2F"/>
                </a:solidFill>
              </a:rPr>
              <a:t>self</a:t>
            </a:r>
            <a:r>
              <a:rPr lang="en-US" sz="1400" dirty="0" err="1">
                <a:solidFill>
                  <a:srgbClr val="333333"/>
                </a:solidFill>
              </a:rPr>
              <a:t>.age</a:t>
            </a:r>
            <a:r>
              <a:rPr lang="en-US" sz="1400" dirty="0">
                <a:solidFill>
                  <a:srgbClr val="333333"/>
                </a:solidFill>
              </a:rPr>
              <a:t> = age </a:t>
            </a:r>
          </a:p>
          <a:p>
            <a:pPr>
              <a:lnSpc>
                <a:spcPts val="2133"/>
              </a:lnSpc>
            </a:pPr>
            <a:r>
              <a:rPr lang="en-US" sz="1400" dirty="0">
                <a:solidFill>
                  <a:srgbClr val="D32F2F"/>
                </a:solidFill>
              </a:rPr>
              <a:t>                                  </a:t>
            </a:r>
            <a:r>
              <a:rPr lang="en-US" sz="1400" dirty="0" err="1">
                <a:solidFill>
                  <a:srgbClr val="D32F2F"/>
                </a:solidFill>
              </a:rPr>
              <a:t>self</a:t>
            </a:r>
            <a:r>
              <a:rPr lang="en-US" sz="1400" dirty="0" err="1">
                <a:solidFill>
                  <a:srgbClr val="333333"/>
                </a:solidFill>
              </a:rPr>
              <a:t>.breed</a:t>
            </a:r>
            <a:r>
              <a:rPr lang="en-US" sz="1400" dirty="0">
                <a:solidFill>
                  <a:srgbClr val="333333"/>
                </a:solidFill>
              </a:rPr>
              <a:t>=breed</a:t>
            </a:r>
            <a:endParaRPr lang="en-US" sz="1333" b="1" dirty="0">
              <a:solidFill>
                <a:srgbClr val="0055FF"/>
              </a:solidFill>
            </a:endParaRPr>
          </a:p>
          <a:p>
            <a:pPr>
              <a:lnSpc>
                <a:spcPts val="2133"/>
              </a:lnSpc>
            </a:pPr>
            <a:r>
              <a:rPr lang="en-US" sz="1333" b="1" dirty="0">
                <a:solidFill>
                  <a:srgbClr val="0055FF"/>
                </a:solidFill>
              </a:rPr>
              <a:t>            def  </a:t>
            </a:r>
            <a:r>
              <a:rPr lang="en-US" sz="1333" b="1" dirty="0" err="1">
                <a:solidFill>
                  <a:srgbClr val="000000"/>
                </a:solidFill>
              </a:rPr>
              <a:t>get_username</a:t>
            </a:r>
            <a:r>
              <a:rPr lang="en-US" sz="1400" dirty="0">
                <a:solidFill>
                  <a:srgbClr val="333333"/>
                </a:solidFill>
              </a:rPr>
              <a:t>(</a:t>
            </a:r>
            <a:r>
              <a:rPr lang="en-US" sz="1400" dirty="0">
                <a:solidFill>
                  <a:srgbClr val="D32F2F"/>
                </a:solidFill>
              </a:rPr>
              <a:t>self</a:t>
            </a:r>
            <a:r>
              <a:rPr lang="en-US" sz="1400" dirty="0">
                <a:solidFill>
                  <a:srgbClr val="333333"/>
                </a:solidFill>
              </a:rPr>
              <a:t>):</a:t>
            </a:r>
          </a:p>
          <a:p>
            <a:pPr>
              <a:lnSpc>
                <a:spcPts val="2133"/>
              </a:lnSpc>
            </a:pPr>
            <a:r>
              <a:rPr lang="en-US" sz="1400" b="1" dirty="0">
                <a:solidFill>
                  <a:srgbClr val="333333"/>
                </a:solidFill>
              </a:rPr>
              <a:t>                 </a:t>
            </a:r>
            <a:r>
              <a:rPr lang="en-US" sz="1333" b="1" dirty="0">
                <a:solidFill>
                  <a:srgbClr val="0055FF"/>
                </a:solidFill>
              </a:rPr>
              <a:t>return </a:t>
            </a:r>
            <a:r>
              <a:rPr lang="en-US" sz="1400" dirty="0">
                <a:solidFill>
                  <a:srgbClr val="D32F2F"/>
                </a:solidFill>
              </a:rPr>
              <a:t>self.</a:t>
            </a:r>
            <a:r>
              <a:rPr lang="en-US" sz="1400" dirty="0">
                <a:solidFill>
                  <a:srgbClr val="333333"/>
                </a:solidFill>
              </a:rPr>
              <a:t> username</a:t>
            </a:r>
            <a:endParaRPr lang="en-US" sz="1400" dirty="0"/>
          </a:p>
          <a:p>
            <a:pPr>
              <a:lnSpc>
                <a:spcPts val="2133"/>
              </a:lnSpc>
            </a:pPr>
            <a:r>
              <a:rPr lang="en-US" sz="1200" b="1" dirty="0">
                <a:solidFill>
                  <a:srgbClr val="0055FF"/>
                </a:solidFill>
              </a:rPr>
              <a:t>              def  </a:t>
            </a:r>
            <a:r>
              <a:rPr lang="en-US" sz="1200" b="1" dirty="0" err="1">
                <a:solidFill>
                  <a:srgbClr val="000000"/>
                </a:solidFill>
              </a:rPr>
              <a:t>set_age</a:t>
            </a:r>
            <a:r>
              <a:rPr lang="en-US" sz="1333" dirty="0">
                <a:solidFill>
                  <a:srgbClr val="333333"/>
                </a:solidFill>
              </a:rPr>
              <a:t>(</a:t>
            </a:r>
            <a:r>
              <a:rPr lang="en-US" sz="1333" dirty="0">
                <a:solidFill>
                  <a:srgbClr val="D32F2F"/>
                </a:solidFill>
              </a:rPr>
              <a:t>self, </a:t>
            </a:r>
            <a:r>
              <a:rPr lang="en-US" sz="1333" dirty="0" err="1"/>
              <a:t>new_age</a:t>
            </a:r>
            <a:r>
              <a:rPr lang="en-US" sz="1333" dirty="0">
                <a:solidFill>
                  <a:srgbClr val="333333"/>
                </a:solidFill>
              </a:rPr>
              <a:t>):</a:t>
            </a:r>
          </a:p>
          <a:p>
            <a:pPr>
              <a:lnSpc>
                <a:spcPts val="2133"/>
              </a:lnSpc>
            </a:pPr>
            <a:r>
              <a:rPr lang="en-US" sz="1333" b="1" dirty="0">
                <a:solidFill>
                  <a:srgbClr val="333333"/>
                </a:solidFill>
              </a:rPr>
              <a:t>                    </a:t>
            </a:r>
            <a:r>
              <a:rPr lang="en-US" sz="1333" dirty="0">
                <a:solidFill>
                  <a:srgbClr val="D32F2F"/>
                </a:solidFill>
              </a:rPr>
              <a:t>self.</a:t>
            </a:r>
            <a:r>
              <a:rPr lang="en-US" sz="1333" dirty="0">
                <a:solidFill>
                  <a:srgbClr val="333333"/>
                </a:solidFill>
              </a:rPr>
              <a:t> age = </a:t>
            </a:r>
            <a:r>
              <a:rPr lang="en-US" sz="1333" dirty="0" err="1"/>
              <a:t>new_age</a:t>
            </a:r>
            <a:endParaRPr lang="en-US" sz="1333" dirty="0"/>
          </a:p>
          <a:p>
            <a:pPr>
              <a:lnSpc>
                <a:spcPts val="2133"/>
              </a:lnSpc>
            </a:pPr>
            <a:r>
              <a:rPr lang="en-US" sz="1200" b="1" dirty="0">
                <a:solidFill>
                  <a:srgbClr val="0055FF"/>
                </a:solidFill>
              </a:rPr>
              <a:t>               def  </a:t>
            </a:r>
            <a:r>
              <a:rPr lang="en-US" sz="1200" b="1" dirty="0" err="1">
                <a:solidFill>
                  <a:srgbClr val="000000"/>
                </a:solidFill>
              </a:rPr>
              <a:t>is_breed</a:t>
            </a:r>
            <a:r>
              <a:rPr lang="en-US" sz="1333" dirty="0">
                <a:solidFill>
                  <a:srgbClr val="333333"/>
                </a:solidFill>
              </a:rPr>
              <a:t>(</a:t>
            </a:r>
            <a:r>
              <a:rPr lang="en-US" sz="1333" dirty="0" err="1">
                <a:solidFill>
                  <a:srgbClr val="D32F2F"/>
                </a:solidFill>
              </a:rPr>
              <a:t>self,</a:t>
            </a:r>
            <a:r>
              <a:rPr lang="en-US" sz="1333" dirty="0" err="1"/>
              <a:t>new_breed</a:t>
            </a:r>
            <a:r>
              <a:rPr lang="en-US" sz="1333" dirty="0">
                <a:solidFill>
                  <a:srgbClr val="333333"/>
                </a:solidFill>
              </a:rPr>
              <a:t>):</a:t>
            </a:r>
          </a:p>
          <a:p>
            <a:pPr>
              <a:lnSpc>
                <a:spcPts val="2133"/>
              </a:lnSpc>
            </a:pPr>
            <a:r>
              <a:rPr lang="en-US" sz="1333" dirty="0">
                <a:solidFill>
                  <a:srgbClr val="333333"/>
                </a:solidFill>
              </a:rPr>
              <a:t>	if </a:t>
            </a:r>
            <a:r>
              <a:rPr lang="en-US" sz="1333" dirty="0" err="1">
                <a:solidFill>
                  <a:srgbClr val="333333"/>
                </a:solidFill>
              </a:rPr>
              <a:t>self.breed</a:t>
            </a:r>
            <a:r>
              <a:rPr lang="en-US" sz="1333" dirty="0">
                <a:solidFill>
                  <a:srgbClr val="333333"/>
                </a:solidFill>
              </a:rPr>
              <a:t> == breed: </a:t>
            </a:r>
          </a:p>
          <a:p>
            <a:pPr>
              <a:lnSpc>
                <a:spcPts val="2133"/>
              </a:lnSpc>
            </a:pPr>
            <a:r>
              <a:rPr lang="en-US" sz="1333" b="1" dirty="0">
                <a:solidFill>
                  <a:srgbClr val="333333"/>
                </a:solidFill>
              </a:rPr>
              <a:t>                                   </a:t>
            </a:r>
            <a:r>
              <a:rPr lang="en-US" sz="1333" b="1" dirty="0">
                <a:solidFill>
                  <a:srgbClr val="0055FF"/>
                </a:solidFill>
              </a:rPr>
              <a:t>return </a:t>
            </a:r>
            <a:r>
              <a:rPr lang="en-US" sz="1333" dirty="0">
                <a:solidFill>
                  <a:srgbClr val="D32F2F"/>
                </a:solidFill>
              </a:rPr>
              <a:t> True</a:t>
            </a:r>
          </a:p>
          <a:p>
            <a:pPr>
              <a:lnSpc>
                <a:spcPts val="2133"/>
              </a:lnSpc>
            </a:pPr>
            <a:r>
              <a:rPr lang="en-US" sz="1333" b="1" dirty="0">
                <a:solidFill>
                  <a:srgbClr val="0055FF"/>
                </a:solidFill>
              </a:rPr>
              <a:t>                            return </a:t>
            </a:r>
            <a:r>
              <a:rPr lang="en-US" sz="1333" dirty="0">
                <a:solidFill>
                  <a:srgbClr val="D32F2F"/>
                </a:solidFill>
              </a:rPr>
              <a:t> False</a:t>
            </a:r>
          </a:p>
          <a:p>
            <a:pPr>
              <a:lnSpc>
                <a:spcPts val="2133"/>
              </a:lnSpc>
            </a:pPr>
            <a:r>
              <a:rPr lang="en-US" sz="1200" b="1" dirty="0">
                <a:solidFill>
                  <a:srgbClr val="0055FF"/>
                </a:solidFill>
              </a:rPr>
              <a:t>               def  </a:t>
            </a:r>
            <a:r>
              <a:rPr lang="en-US" sz="1200" b="1" dirty="0">
                <a:solidFill>
                  <a:srgbClr val="000000"/>
                </a:solidFill>
              </a:rPr>
              <a:t>__str__</a:t>
            </a:r>
            <a:r>
              <a:rPr lang="en-US" sz="1333" dirty="0">
                <a:solidFill>
                  <a:srgbClr val="333333"/>
                </a:solidFill>
              </a:rPr>
              <a:t>(</a:t>
            </a:r>
            <a:r>
              <a:rPr lang="en-US" sz="1333" dirty="0">
                <a:solidFill>
                  <a:srgbClr val="D32F2F"/>
                </a:solidFill>
              </a:rPr>
              <a:t>self,</a:t>
            </a:r>
            <a:r>
              <a:rPr lang="en-US" sz="1333" dirty="0">
                <a:solidFill>
                  <a:srgbClr val="333333"/>
                </a:solidFill>
              </a:rPr>
              <a:t>):</a:t>
            </a:r>
          </a:p>
          <a:p>
            <a:pPr>
              <a:lnSpc>
                <a:spcPts val="2133"/>
              </a:lnSpc>
            </a:pPr>
            <a:r>
              <a:rPr lang="en-US" sz="1333" b="1" dirty="0">
                <a:solidFill>
                  <a:srgbClr val="333333"/>
                </a:solidFill>
              </a:rPr>
              <a:t>                      </a:t>
            </a:r>
            <a:r>
              <a:rPr lang="en-US" sz="1333" b="1" dirty="0">
                <a:solidFill>
                  <a:srgbClr val="0055FF"/>
                </a:solidFill>
              </a:rPr>
              <a:t>return </a:t>
            </a:r>
            <a:r>
              <a:rPr lang="en-US" sz="1333" dirty="0">
                <a:solidFill>
                  <a:srgbClr val="D32F2F"/>
                </a:solidFill>
              </a:rPr>
              <a:t> </a:t>
            </a:r>
            <a:r>
              <a:rPr lang="en-US" sz="1333" dirty="0" err="1">
                <a:solidFill>
                  <a:srgbClr val="D32F2F"/>
                </a:solidFill>
              </a:rPr>
              <a:t>f‘The</a:t>
            </a:r>
            <a:r>
              <a:rPr lang="en-US" sz="1333" dirty="0">
                <a:solidFill>
                  <a:srgbClr val="D32F2F"/>
                </a:solidFill>
              </a:rPr>
              <a:t> user id is {</a:t>
            </a:r>
            <a:r>
              <a:rPr lang="en-US" sz="1333" dirty="0" err="1">
                <a:solidFill>
                  <a:srgbClr val="D32F2F"/>
                </a:solidFill>
              </a:rPr>
              <a:t>self.name</a:t>
            </a:r>
            <a:r>
              <a:rPr lang="en-US" sz="1333" dirty="0">
                <a:solidFill>
                  <a:srgbClr val="D32F2F"/>
                </a:solidFill>
              </a:rPr>
              <a:t>}, name {</a:t>
            </a:r>
            <a:r>
              <a:rPr lang="en-US" sz="1333" dirty="0" err="1">
                <a:solidFill>
                  <a:srgbClr val="D32F2F"/>
                </a:solidFill>
              </a:rPr>
              <a:t>self.name</a:t>
            </a:r>
            <a:r>
              <a:rPr lang="en-US" sz="1333" dirty="0">
                <a:solidFill>
                  <a:srgbClr val="D32F2F"/>
                </a:solidFill>
              </a:rPr>
              <a:t>}’</a:t>
            </a:r>
          </a:p>
          <a:p>
            <a:pPr>
              <a:lnSpc>
                <a:spcPts val="2133"/>
              </a:lnSpc>
            </a:pPr>
            <a:endParaRPr lang="en-US" sz="1333" dirty="0">
              <a:solidFill>
                <a:srgbClr val="D32F2F"/>
              </a:solidFill>
            </a:endParaRPr>
          </a:p>
          <a:p>
            <a:pPr>
              <a:lnSpc>
                <a:spcPts val="2133"/>
              </a:lnSpc>
            </a:pPr>
            <a:endParaRPr lang="en-US" sz="1333" dirty="0"/>
          </a:p>
          <a:p>
            <a:pPr>
              <a:lnSpc>
                <a:spcPts val="2133"/>
              </a:lnSpc>
            </a:pPr>
            <a:endParaRPr lang="en-US" sz="1333" dirty="0"/>
          </a:p>
          <a:p>
            <a:pPr>
              <a:lnSpc>
                <a:spcPts val="2133"/>
              </a:lnSpc>
            </a:pPr>
            <a:endParaRPr lang="en-US" sz="1333" dirty="0"/>
          </a:p>
          <a:p>
            <a:pPr>
              <a:lnSpc>
                <a:spcPts val="2133"/>
              </a:lnSpc>
            </a:pPr>
            <a:endParaRPr lang="en-US" sz="1400" dirty="0"/>
          </a:p>
        </p:txBody>
      </p:sp>
      <p:sp>
        <p:nvSpPr>
          <p:cNvPr id="12" name="Shape 9"/>
          <p:cNvSpPr/>
          <p:nvPr/>
        </p:nvSpPr>
        <p:spPr>
          <a:xfrm>
            <a:off x="6065521" y="966744"/>
            <a:ext cx="60959" cy="5254272"/>
          </a:xfrm>
          <a:prstGeom prst="rect">
            <a:avLst/>
          </a:prstGeom>
          <a:solidFill>
            <a:srgbClr val="0055FF"/>
          </a:solidFill>
          <a:ln/>
        </p:spPr>
        <p:txBody>
          <a:bodyPr/>
          <a:lstStyle/>
          <a:p>
            <a:endParaRPr lang="en-US" sz="2400"/>
          </a:p>
        </p:txBody>
      </p:sp>
      <p:sp>
        <p:nvSpPr>
          <p:cNvPr id="31" name="Text 28"/>
          <p:cNvSpPr/>
          <p:nvPr/>
        </p:nvSpPr>
        <p:spPr>
          <a:xfrm>
            <a:off x="6381751" y="4592912"/>
            <a:ext cx="687091" cy="241861"/>
          </a:xfrm>
          <a:prstGeom prst="rect">
            <a:avLst/>
          </a:prstGeom>
          <a:noFill/>
          <a:ln/>
        </p:spPr>
        <p:txBody>
          <a:bodyPr wrap="none" lIns="340191" tIns="0" rIns="340191" bIns="0" rtlCol="0" anchor="t">
            <a:spAutoFit/>
          </a:bodyPr>
          <a:lstStyle/>
          <a:p>
            <a:pPr>
              <a:lnSpc>
                <a:spcPts val="2133"/>
              </a:lnSpc>
            </a:pPr>
            <a:endParaRPr lang="en-US" sz="11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Shape 0"/>
          <p:cNvSpPr/>
          <p:nvPr/>
        </p:nvSpPr>
        <p:spPr>
          <a:xfrm>
            <a:off x="0" y="-231428"/>
            <a:ext cx="12192000" cy="7320856"/>
          </a:xfrm>
          <a:prstGeom prst="rect">
            <a:avLst/>
          </a:prstGeom>
          <a:solidFill>
            <a:srgbClr val="FFFFFF"/>
          </a:solidFill>
          <a:ln/>
        </p:spPr>
        <p:txBody>
          <a:bodyPr/>
          <a:lstStyle/>
          <a:p>
            <a:endParaRPr lang="en-US" sz="2400"/>
          </a:p>
        </p:txBody>
      </p:sp>
      <p:sp>
        <p:nvSpPr>
          <p:cNvPr id="4" name="Text 1"/>
          <p:cNvSpPr/>
          <p:nvPr/>
        </p:nvSpPr>
        <p:spPr>
          <a:xfrm>
            <a:off x="762001" y="530573"/>
            <a:ext cx="2609625" cy="523541"/>
          </a:xfrm>
          <a:prstGeom prst="rect">
            <a:avLst/>
          </a:prstGeom>
          <a:noFill/>
          <a:ln/>
        </p:spPr>
        <p:txBody>
          <a:bodyPr wrap="none" lIns="0" tIns="0" rIns="0" bIns="0" rtlCol="0" anchor="t">
            <a:spAutoFit/>
          </a:bodyPr>
          <a:lstStyle/>
          <a:p>
            <a:pPr>
              <a:lnSpc>
                <a:spcPts val="4267"/>
              </a:lnSpc>
            </a:pPr>
            <a:r>
              <a:rPr lang="en-US" sz="3248" b="1" kern="0" spc="-1" dirty="0">
                <a:solidFill>
                  <a:srgbClr val="000000"/>
                </a:solidFill>
              </a:rPr>
              <a:t>Using Methods</a:t>
            </a:r>
            <a:endParaRPr lang="en-US" sz="3248" dirty="0"/>
          </a:p>
        </p:txBody>
      </p:sp>
      <p:sp>
        <p:nvSpPr>
          <p:cNvPr id="5" name="Text 2"/>
          <p:cNvSpPr/>
          <p:nvPr/>
        </p:nvSpPr>
        <p:spPr>
          <a:xfrm>
            <a:off x="762000" y="1247328"/>
            <a:ext cx="2104038" cy="259238"/>
          </a:xfrm>
          <a:prstGeom prst="rect">
            <a:avLst/>
          </a:prstGeom>
          <a:noFill/>
          <a:ln/>
        </p:spPr>
        <p:txBody>
          <a:bodyPr wrap="none" lIns="0" tIns="0" rIns="0" bIns="0" rtlCol="0" anchor="t">
            <a:spAutoFit/>
          </a:bodyPr>
          <a:lstStyle/>
          <a:p>
            <a:pPr>
              <a:lnSpc>
                <a:spcPts val="2133"/>
              </a:lnSpc>
            </a:pPr>
            <a:r>
              <a:rPr lang="en-US" sz="1692" dirty="0">
                <a:solidFill>
                  <a:srgbClr val="666666"/>
                </a:solidFill>
              </a:rPr>
              <a:t>Interacting with Objects</a:t>
            </a:r>
            <a:endParaRPr lang="en-US" sz="1692" dirty="0"/>
          </a:p>
        </p:txBody>
      </p:sp>
      <p:sp>
        <p:nvSpPr>
          <p:cNvPr id="6" name="Shape 3"/>
          <p:cNvSpPr/>
          <p:nvPr/>
        </p:nvSpPr>
        <p:spPr>
          <a:xfrm>
            <a:off x="762000" y="2035524"/>
            <a:ext cx="5553075" cy="4291905"/>
          </a:xfrm>
          <a:prstGeom prst="rect">
            <a:avLst/>
          </a:prstGeom>
          <a:solidFill>
            <a:srgbClr val="F5F5F5"/>
          </a:solidFill>
          <a:ln/>
        </p:spPr>
        <p:txBody>
          <a:bodyPr/>
          <a:lstStyle/>
          <a:p>
            <a:endParaRPr lang="en-US" sz="2400">
              <a:solidFill>
                <a:srgbClr val="F5F5F5"/>
              </a:solidFill>
            </a:endParaRPr>
          </a:p>
        </p:txBody>
      </p:sp>
      <p:sp>
        <p:nvSpPr>
          <p:cNvPr id="7" name="Shape 4"/>
          <p:cNvSpPr/>
          <p:nvPr/>
        </p:nvSpPr>
        <p:spPr>
          <a:xfrm>
            <a:off x="762001" y="2035524"/>
            <a:ext cx="57151" cy="4291905"/>
          </a:xfrm>
          <a:prstGeom prst="rect">
            <a:avLst/>
          </a:prstGeom>
          <a:solidFill>
            <a:srgbClr val="0055FF"/>
          </a:solidFill>
          <a:ln/>
        </p:spPr>
        <p:txBody>
          <a:bodyPr/>
          <a:lstStyle/>
          <a:p>
            <a:endParaRPr lang="en-US" sz="2400"/>
          </a:p>
        </p:txBody>
      </p:sp>
      <p:sp>
        <p:nvSpPr>
          <p:cNvPr id="8" name="Text 5"/>
          <p:cNvSpPr/>
          <p:nvPr/>
        </p:nvSpPr>
        <p:spPr>
          <a:xfrm>
            <a:off x="762000" y="2035523"/>
            <a:ext cx="5553075" cy="3860203"/>
          </a:xfrm>
          <a:prstGeom prst="rect">
            <a:avLst/>
          </a:prstGeom>
          <a:noFill/>
          <a:ln/>
        </p:spPr>
        <p:txBody>
          <a:bodyPr wrap="square" lIns="340191" tIns="340191" rIns="340191" bIns="340191" rtlCol="0" anchor="t">
            <a:spAutoFit/>
          </a:bodyPr>
          <a:lstStyle/>
          <a:p>
            <a:pPr>
              <a:lnSpc>
                <a:spcPts val="2533"/>
              </a:lnSpc>
            </a:pPr>
            <a:r>
              <a:rPr lang="en-US" sz="1400" i="1" dirty="0">
                <a:solidFill>
                  <a:srgbClr val="888888"/>
                </a:solidFill>
              </a:rPr>
              <a:t># 1. Create an instance</a:t>
            </a:r>
            <a:r>
              <a:rPr lang="en-US" sz="1400" dirty="0">
                <a:solidFill>
                  <a:srgbClr val="333333"/>
                </a:solidFill>
              </a:rPr>
              <a:t> </a:t>
            </a:r>
          </a:p>
          <a:p>
            <a:pPr>
              <a:lnSpc>
                <a:spcPts val="2533"/>
              </a:lnSpc>
            </a:pPr>
            <a:r>
              <a:rPr lang="en-US" sz="1400" dirty="0" err="1">
                <a:solidFill>
                  <a:srgbClr val="333333"/>
                </a:solidFill>
              </a:rPr>
              <a:t>alice</a:t>
            </a:r>
            <a:r>
              <a:rPr lang="en-US" sz="1400" dirty="0">
                <a:solidFill>
                  <a:srgbClr val="333333"/>
                </a:solidFill>
              </a:rPr>
              <a:t> = User(1, </a:t>
            </a:r>
            <a:r>
              <a:rPr lang="en-US" sz="1400" dirty="0">
                <a:solidFill>
                  <a:srgbClr val="008000"/>
                </a:solidFill>
              </a:rPr>
              <a:t>"alice"</a:t>
            </a:r>
            <a:r>
              <a:rPr lang="en-US" sz="1400" dirty="0">
                <a:solidFill>
                  <a:srgbClr val="333333"/>
                </a:solidFill>
              </a:rPr>
              <a:t>, </a:t>
            </a:r>
            <a:r>
              <a:rPr lang="en-US" sz="1400" dirty="0">
                <a:solidFill>
                  <a:srgbClr val="008000"/>
                </a:solidFill>
              </a:rPr>
              <a:t>"alice123vbnghgh"</a:t>
            </a:r>
            <a:r>
              <a:rPr lang="en-US" sz="1400" dirty="0">
                <a:solidFill>
                  <a:srgbClr val="333333"/>
                </a:solidFill>
              </a:rPr>
              <a:t>) </a:t>
            </a:r>
          </a:p>
          <a:p>
            <a:pPr>
              <a:lnSpc>
                <a:spcPts val="2533"/>
              </a:lnSpc>
            </a:pPr>
            <a:r>
              <a:rPr lang="en-US" sz="1400" i="1" dirty="0">
                <a:solidFill>
                  <a:srgbClr val="888888"/>
                </a:solidFill>
              </a:rPr>
              <a:t># 2. Call a method that returns a value</a:t>
            </a:r>
          </a:p>
          <a:p>
            <a:pPr>
              <a:lnSpc>
                <a:spcPts val="2533"/>
              </a:lnSpc>
            </a:pPr>
            <a:endParaRPr lang="en-US" sz="1400" b="1" i="1" dirty="0">
              <a:solidFill>
                <a:srgbClr val="888888"/>
              </a:solidFill>
            </a:endParaRPr>
          </a:p>
          <a:p>
            <a:pPr>
              <a:lnSpc>
                <a:spcPts val="2533"/>
              </a:lnSpc>
            </a:pPr>
            <a:r>
              <a:rPr lang="en-US" sz="1316" b="1" dirty="0">
                <a:solidFill>
                  <a:srgbClr val="0055FF"/>
                </a:solidFill>
              </a:rPr>
              <a:t>if</a:t>
            </a:r>
            <a:r>
              <a:rPr lang="en-US" sz="1400" dirty="0">
                <a:solidFill>
                  <a:srgbClr val="333333"/>
                </a:solidFill>
              </a:rPr>
              <a:t> </a:t>
            </a:r>
            <a:r>
              <a:rPr lang="en-US" sz="1316" b="1" dirty="0" err="1">
                <a:solidFill>
                  <a:srgbClr val="000000"/>
                </a:solidFill>
              </a:rPr>
              <a:t>is_breed</a:t>
            </a:r>
            <a:r>
              <a:rPr lang="en-US" sz="1400" dirty="0">
                <a:solidFill>
                  <a:srgbClr val="333333"/>
                </a:solidFill>
              </a:rPr>
              <a:t>(‘Poodle’): </a:t>
            </a:r>
          </a:p>
          <a:p>
            <a:pPr>
              <a:lnSpc>
                <a:spcPts val="2533"/>
              </a:lnSpc>
            </a:pPr>
            <a:r>
              <a:rPr lang="en-US" sz="1316" b="1" dirty="0">
                <a:solidFill>
                  <a:srgbClr val="0055FF"/>
                </a:solidFill>
              </a:rPr>
              <a:t>               print</a:t>
            </a:r>
            <a:r>
              <a:rPr lang="en-US" sz="1400" dirty="0">
                <a:solidFill>
                  <a:srgbClr val="333333"/>
                </a:solidFill>
              </a:rPr>
              <a:t>(</a:t>
            </a:r>
            <a:r>
              <a:rPr lang="en-US" sz="1400" dirty="0">
                <a:solidFill>
                  <a:srgbClr val="008000"/>
                </a:solidFill>
              </a:rPr>
              <a:t>”It’s a Poodle”</a:t>
            </a:r>
            <a:endParaRPr lang="en-US" sz="1400" dirty="0">
              <a:solidFill>
                <a:srgbClr val="333333"/>
              </a:solidFill>
            </a:endParaRPr>
          </a:p>
          <a:p>
            <a:pPr>
              <a:lnSpc>
                <a:spcPts val="2533"/>
              </a:lnSpc>
            </a:pPr>
            <a:r>
              <a:rPr lang="en-US" sz="1400" i="1" dirty="0">
                <a:solidFill>
                  <a:srgbClr val="888888"/>
                </a:solidFill>
              </a:rPr>
              <a:t># 3. Call a method that changes state</a:t>
            </a:r>
            <a:r>
              <a:rPr lang="en-US" sz="1400" dirty="0">
                <a:solidFill>
                  <a:srgbClr val="333333"/>
                </a:solidFill>
              </a:rPr>
              <a:t> </a:t>
            </a:r>
          </a:p>
          <a:p>
            <a:pPr>
              <a:lnSpc>
                <a:spcPts val="2533"/>
              </a:lnSpc>
            </a:pPr>
            <a:r>
              <a:rPr lang="en-US" sz="1400" dirty="0" err="1">
                <a:solidFill>
                  <a:srgbClr val="333333"/>
                </a:solidFill>
              </a:rPr>
              <a:t>alice.</a:t>
            </a:r>
            <a:r>
              <a:rPr lang="en-US" sz="1316" b="1" dirty="0" err="1">
                <a:solidFill>
                  <a:srgbClr val="000000"/>
                </a:solidFill>
              </a:rPr>
              <a:t>set_name</a:t>
            </a:r>
            <a:r>
              <a:rPr lang="en-US" sz="1400" dirty="0">
                <a:solidFill>
                  <a:srgbClr val="333333"/>
                </a:solidFill>
              </a:rPr>
              <a:t>(</a:t>
            </a:r>
            <a:r>
              <a:rPr lang="en-US" sz="1400" dirty="0">
                <a:solidFill>
                  <a:srgbClr val="008000"/>
                </a:solidFill>
              </a:rPr>
              <a:t>”Alice12"</a:t>
            </a:r>
            <a:r>
              <a:rPr lang="en-US" sz="1400" dirty="0">
                <a:solidFill>
                  <a:srgbClr val="333333"/>
                </a:solidFill>
              </a:rPr>
              <a:t>)</a:t>
            </a:r>
          </a:p>
          <a:p>
            <a:pPr>
              <a:lnSpc>
                <a:spcPts val="2533"/>
              </a:lnSpc>
            </a:pPr>
            <a:r>
              <a:rPr lang="en-US" sz="1400" dirty="0">
                <a:solidFill>
                  <a:srgbClr val="333333"/>
                </a:solidFill>
              </a:rPr>
              <a:t> </a:t>
            </a:r>
            <a:r>
              <a:rPr lang="en-US" sz="1400" i="1" dirty="0">
                <a:solidFill>
                  <a:srgbClr val="888888"/>
                </a:solidFill>
              </a:rPr>
              <a:t># 4. Call a method to get data</a:t>
            </a:r>
            <a:r>
              <a:rPr lang="en-US" sz="1400" dirty="0">
                <a:solidFill>
                  <a:srgbClr val="333333"/>
                </a:solidFill>
              </a:rPr>
              <a:t> </a:t>
            </a:r>
          </a:p>
          <a:p>
            <a:pPr>
              <a:lnSpc>
                <a:spcPts val="2533"/>
              </a:lnSpc>
            </a:pPr>
            <a:r>
              <a:rPr lang="en-US" sz="1316" b="1" dirty="0">
                <a:solidFill>
                  <a:srgbClr val="0055FF"/>
                </a:solidFill>
              </a:rPr>
              <a:t>print</a:t>
            </a:r>
            <a:r>
              <a:rPr lang="en-US" sz="1400" dirty="0">
                <a:solidFill>
                  <a:srgbClr val="333333"/>
                </a:solidFill>
              </a:rPr>
              <a:t>(</a:t>
            </a:r>
            <a:r>
              <a:rPr lang="en-US" sz="1400" dirty="0" err="1">
                <a:solidFill>
                  <a:srgbClr val="333333"/>
                </a:solidFill>
              </a:rPr>
              <a:t>alice</a:t>
            </a:r>
            <a:r>
              <a:rPr lang="en-US" sz="1400" dirty="0">
                <a:solidFill>
                  <a:srgbClr val="333333"/>
                </a:solidFill>
              </a:rPr>
              <a:t>)</a:t>
            </a:r>
            <a:endParaRPr lang="en-US" sz="1400" dirty="0"/>
          </a:p>
        </p:txBody>
      </p:sp>
      <p:sp>
        <p:nvSpPr>
          <p:cNvPr id="9" name="Text 6"/>
          <p:cNvSpPr/>
          <p:nvPr/>
        </p:nvSpPr>
        <p:spPr>
          <a:xfrm>
            <a:off x="7115176" y="2226023"/>
            <a:ext cx="918457" cy="227242"/>
          </a:xfrm>
          <a:prstGeom prst="rect">
            <a:avLst/>
          </a:prstGeom>
          <a:noFill/>
          <a:ln/>
        </p:spPr>
        <p:txBody>
          <a:bodyPr wrap="none" lIns="0" tIns="0" rIns="0" bIns="0" rtlCol="0" anchor="t">
            <a:spAutoFit/>
          </a:bodyPr>
          <a:lstStyle/>
          <a:p>
            <a:pPr>
              <a:lnSpc>
                <a:spcPts val="1867"/>
              </a:lnSpc>
            </a:pPr>
            <a:r>
              <a:rPr lang="en-US" sz="1316" b="1" kern="0" spc="1" dirty="0">
                <a:solidFill>
                  <a:srgbClr val="0055FF"/>
                </a:solidFill>
              </a:rPr>
              <a:t>Dot Notation</a:t>
            </a:r>
            <a:endParaRPr lang="en-US" sz="1316" dirty="0"/>
          </a:p>
        </p:txBody>
      </p:sp>
      <p:sp>
        <p:nvSpPr>
          <p:cNvPr id="10" name="Text 7"/>
          <p:cNvSpPr/>
          <p:nvPr/>
        </p:nvSpPr>
        <p:spPr>
          <a:xfrm>
            <a:off x="7115176" y="2533205"/>
            <a:ext cx="4314825" cy="225254"/>
          </a:xfrm>
          <a:prstGeom prst="rect">
            <a:avLst/>
          </a:prstGeom>
          <a:noFill/>
          <a:ln/>
        </p:spPr>
        <p:txBody>
          <a:bodyPr wrap="square" lIns="0" tIns="0" rIns="0" bIns="0" rtlCol="0" anchor="t">
            <a:spAutoFit/>
          </a:bodyPr>
          <a:lstStyle/>
          <a:p>
            <a:pPr>
              <a:lnSpc>
                <a:spcPts val="1867"/>
              </a:lnSpc>
            </a:pPr>
            <a:r>
              <a:rPr lang="en-US" sz="1256" dirty="0">
                <a:solidFill>
                  <a:srgbClr val="555555"/>
                </a:solidFill>
              </a:rPr>
              <a:t>Use object.method() to tell the object to do something.</a:t>
            </a:r>
            <a:endParaRPr lang="en-US" sz="1256" dirty="0"/>
          </a:p>
        </p:txBody>
      </p:sp>
      <p:sp>
        <p:nvSpPr>
          <p:cNvPr id="11" name="Text 8"/>
          <p:cNvSpPr/>
          <p:nvPr/>
        </p:nvSpPr>
        <p:spPr>
          <a:xfrm>
            <a:off x="7115176" y="3203748"/>
            <a:ext cx="982705" cy="227242"/>
          </a:xfrm>
          <a:prstGeom prst="rect">
            <a:avLst/>
          </a:prstGeom>
          <a:noFill/>
          <a:ln/>
        </p:spPr>
        <p:txBody>
          <a:bodyPr wrap="none" lIns="0" tIns="0" rIns="0" bIns="0" rtlCol="0" anchor="t">
            <a:spAutoFit/>
          </a:bodyPr>
          <a:lstStyle/>
          <a:p>
            <a:pPr>
              <a:lnSpc>
                <a:spcPts val="1867"/>
              </a:lnSpc>
            </a:pPr>
            <a:r>
              <a:rPr lang="en-US" sz="1316" b="1" kern="0" spc="1" dirty="0">
                <a:solidFill>
                  <a:srgbClr val="0055FF"/>
                </a:solidFill>
              </a:rPr>
              <a:t>Return Values</a:t>
            </a:r>
            <a:endParaRPr lang="en-US" sz="1316" dirty="0"/>
          </a:p>
        </p:txBody>
      </p:sp>
      <p:sp>
        <p:nvSpPr>
          <p:cNvPr id="12" name="Text 9"/>
          <p:cNvSpPr/>
          <p:nvPr/>
        </p:nvSpPr>
        <p:spPr>
          <a:xfrm>
            <a:off x="7115176" y="3510930"/>
            <a:ext cx="4314825" cy="468911"/>
          </a:xfrm>
          <a:prstGeom prst="rect">
            <a:avLst/>
          </a:prstGeom>
          <a:noFill/>
          <a:ln/>
        </p:spPr>
        <p:txBody>
          <a:bodyPr wrap="square" lIns="0" tIns="0" rIns="0" bIns="0" rtlCol="0" anchor="t">
            <a:spAutoFit/>
          </a:bodyPr>
          <a:lstStyle/>
          <a:p>
            <a:pPr>
              <a:lnSpc>
                <a:spcPts val="1867"/>
              </a:lnSpc>
            </a:pPr>
            <a:r>
              <a:rPr lang="en-US" sz="1256" dirty="0">
                <a:solidFill>
                  <a:srgbClr val="555555"/>
                </a:solidFill>
              </a:rPr>
              <a:t>Methods like </a:t>
            </a:r>
            <a:r>
              <a:rPr lang="en-US" sz="1256" dirty="0" err="1">
                <a:solidFill>
                  <a:srgbClr val="555555"/>
                </a:solidFill>
              </a:rPr>
              <a:t>is_valid_hash</a:t>
            </a:r>
            <a:r>
              <a:rPr lang="en-US" sz="1256" dirty="0">
                <a:solidFill>
                  <a:srgbClr val="555555"/>
                </a:solidFill>
              </a:rPr>
              <a:t>() give back an answer (True/False) that you can use in logic.</a:t>
            </a:r>
            <a:endParaRPr lang="en-US" sz="1256" dirty="0"/>
          </a:p>
        </p:txBody>
      </p:sp>
      <p:sp>
        <p:nvSpPr>
          <p:cNvPr id="13" name="Text 10"/>
          <p:cNvSpPr/>
          <p:nvPr/>
        </p:nvSpPr>
        <p:spPr>
          <a:xfrm>
            <a:off x="7115176" y="4181475"/>
            <a:ext cx="1119217" cy="227242"/>
          </a:xfrm>
          <a:prstGeom prst="rect">
            <a:avLst/>
          </a:prstGeom>
          <a:noFill/>
          <a:ln/>
        </p:spPr>
        <p:txBody>
          <a:bodyPr wrap="none" lIns="0" tIns="0" rIns="0" bIns="0" rtlCol="0" anchor="t">
            <a:spAutoFit/>
          </a:bodyPr>
          <a:lstStyle/>
          <a:p>
            <a:pPr>
              <a:lnSpc>
                <a:spcPts val="1867"/>
              </a:lnSpc>
            </a:pPr>
            <a:r>
              <a:rPr lang="en-US" sz="1316" b="1" kern="0" spc="1" dirty="0">
                <a:solidFill>
                  <a:srgbClr val="0055FF"/>
                </a:solidFill>
              </a:rPr>
              <a:t>Modifying State</a:t>
            </a:r>
            <a:endParaRPr lang="en-US" sz="1316" dirty="0"/>
          </a:p>
        </p:txBody>
      </p:sp>
      <p:sp>
        <p:nvSpPr>
          <p:cNvPr id="14" name="Text 11"/>
          <p:cNvSpPr/>
          <p:nvPr/>
        </p:nvSpPr>
        <p:spPr>
          <a:xfrm>
            <a:off x="7115176" y="4488657"/>
            <a:ext cx="4314825" cy="468911"/>
          </a:xfrm>
          <a:prstGeom prst="rect">
            <a:avLst/>
          </a:prstGeom>
          <a:noFill/>
          <a:ln/>
        </p:spPr>
        <p:txBody>
          <a:bodyPr wrap="square" lIns="0" tIns="0" rIns="0" bIns="0" rtlCol="0" anchor="t">
            <a:spAutoFit/>
          </a:bodyPr>
          <a:lstStyle/>
          <a:p>
            <a:pPr>
              <a:lnSpc>
                <a:spcPts val="1867"/>
              </a:lnSpc>
            </a:pPr>
            <a:r>
              <a:rPr lang="en-US" sz="1256" dirty="0">
                <a:solidFill>
                  <a:srgbClr val="555555"/>
                </a:solidFill>
              </a:rPr>
              <a:t>Methods like </a:t>
            </a:r>
            <a:r>
              <a:rPr lang="en-US" sz="1256" dirty="0" err="1">
                <a:solidFill>
                  <a:srgbClr val="555555"/>
                </a:solidFill>
              </a:rPr>
              <a:t>set_name</a:t>
            </a:r>
            <a:r>
              <a:rPr lang="en-US" sz="1256" dirty="0">
                <a:solidFill>
                  <a:srgbClr val="555555"/>
                </a:solidFill>
              </a:rPr>
              <a:t>() change the internal data (attributes) of the object.</a:t>
            </a:r>
            <a:endParaRPr lang="en-US" sz="1256" dirty="0"/>
          </a:p>
        </p:txBody>
      </p:sp>
      <p:sp>
        <p:nvSpPr>
          <p:cNvPr id="15" name="Text 12"/>
          <p:cNvSpPr/>
          <p:nvPr/>
        </p:nvSpPr>
        <p:spPr>
          <a:xfrm>
            <a:off x="7115175" y="5159202"/>
            <a:ext cx="979499" cy="227242"/>
          </a:xfrm>
          <a:prstGeom prst="rect">
            <a:avLst/>
          </a:prstGeom>
          <a:noFill/>
          <a:ln/>
        </p:spPr>
        <p:txBody>
          <a:bodyPr wrap="none" lIns="0" tIns="0" rIns="0" bIns="0" rtlCol="0" anchor="t">
            <a:spAutoFit/>
          </a:bodyPr>
          <a:lstStyle/>
          <a:p>
            <a:pPr>
              <a:lnSpc>
                <a:spcPts val="1867"/>
              </a:lnSpc>
            </a:pPr>
            <a:r>
              <a:rPr lang="en-US" sz="1316" b="1" kern="0" spc="1" dirty="0">
                <a:solidFill>
                  <a:srgbClr val="0055FF"/>
                </a:solidFill>
              </a:rPr>
              <a:t>Encapsulation</a:t>
            </a:r>
            <a:endParaRPr lang="en-US" sz="1316" dirty="0"/>
          </a:p>
        </p:txBody>
      </p:sp>
      <p:sp>
        <p:nvSpPr>
          <p:cNvPr id="16" name="Text 13"/>
          <p:cNvSpPr/>
          <p:nvPr/>
        </p:nvSpPr>
        <p:spPr>
          <a:xfrm>
            <a:off x="7115176" y="5466383"/>
            <a:ext cx="4314825" cy="468911"/>
          </a:xfrm>
          <a:prstGeom prst="rect">
            <a:avLst/>
          </a:prstGeom>
          <a:noFill/>
          <a:ln/>
        </p:spPr>
        <p:txBody>
          <a:bodyPr wrap="square" lIns="0" tIns="0" rIns="0" bIns="0" rtlCol="0" anchor="t">
            <a:spAutoFit/>
          </a:bodyPr>
          <a:lstStyle/>
          <a:p>
            <a:pPr>
              <a:lnSpc>
                <a:spcPts val="1867"/>
              </a:lnSpc>
            </a:pPr>
            <a:r>
              <a:rPr lang="en-US" sz="1256" dirty="0">
                <a:solidFill>
                  <a:srgbClr val="555555"/>
                </a:solidFill>
              </a:rPr>
              <a:t>You don't need to know </a:t>
            </a:r>
            <a:r>
              <a:rPr lang="en-US" sz="1256" i="1" dirty="0">
                <a:solidFill>
                  <a:srgbClr val="555555"/>
                </a:solidFill>
              </a:rPr>
              <a:t>how __str__</a:t>
            </a:r>
            <a:r>
              <a:rPr lang="en-US" sz="1256" dirty="0">
                <a:solidFill>
                  <a:srgbClr val="555555"/>
                </a:solidFill>
              </a:rPr>
              <a:t>() builds the string, representation of the object</a:t>
            </a:r>
            <a:endParaRPr lang="en-US" sz="1256"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F94AC-0A93-E64F-863D-098802F10029}"/>
              </a:ext>
            </a:extLst>
          </p:cNvPr>
          <p:cNvSpPr>
            <a:spLocks noGrp="1"/>
          </p:cNvSpPr>
          <p:nvPr>
            <p:ph type="title"/>
          </p:nvPr>
        </p:nvSpPr>
        <p:spPr/>
        <p:txBody>
          <a:bodyPr/>
          <a:lstStyle/>
          <a:p>
            <a:r>
              <a:rPr lang="en-US" b="1" dirty="0">
                <a:latin typeface="+mn-lt"/>
                <a:cs typeface="Arial" panose="020B0604020202020204" pitchFamily="34" charset="0"/>
              </a:rPr>
              <a:t>Hands-On Activity</a:t>
            </a:r>
            <a:endParaRPr lang="en-US" dirty="0">
              <a:latin typeface="+mn-lt"/>
            </a:endParaRPr>
          </a:p>
        </p:txBody>
      </p:sp>
      <p:pic>
        <p:nvPicPr>
          <p:cNvPr id="6" name="Graphic 5" descr="Car">
            <a:extLst>
              <a:ext uri="{FF2B5EF4-FFF2-40B4-BE49-F238E27FC236}">
                <a16:creationId xmlns:a16="http://schemas.microsoft.com/office/drawing/2014/main" id="{3B8A8AE9-996A-4B4A-92AB-F36A483F78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18449" y="3514166"/>
            <a:ext cx="914400" cy="914400"/>
          </a:xfrm>
          <a:prstGeom prst="rect">
            <a:avLst/>
          </a:prstGeom>
        </p:spPr>
      </p:pic>
      <p:pic>
        <p:nvPicPr>
          <p:cNvPr id="8" name="Graphic 7" descr="Car">
            <a:extLst>
              <a:ext uri="{FF2B5EF4-FFF2-40B4-BE49-F238E27FC236}">
                <a16:creationId xmlns:a16="http://schemas.microsoft.com/office/drawing/2014/main" id="{784F78AF-E6BB-9746-B80D-781E9084C30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66766" y="3550462"/>
            <a:ext cx="914400" cy="914400"/>
          </a:xfrm>
          <a:prstGeom prst="rect">
            <a:avLst/>
          </a:prstGeom>
        </p:spPr>
      </p:pic>
      <p:pic>
        <p:nvPicPr>
          <p:cNvPr id="9" name="Graphic 8" descr="Car">
            <a:extLst>
              <a:ext uri="{FF2B5EF4-FFF2-40B4-BE49-F238E27FC236}">
                <a16:creationId xmlns:a16="http://schemas.microsoft.com/office/drawing/2014/main" id="{0723DFF8-5AC5-7A46-8184-5F7A8B1EA2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11862" y="3514166"/>
            <a:ext cx="914400" cy="914400"/>
          </a:xfrm>
          <a:prstGeom prst="rect">
            <a:avLst/>
          </a:prstGeom>
        </p:spPr>
      </p:pic>
      <p:pic>
        <p:nvPicPr>
          <p:cNvPr id="10" name="Graphic 9" descr="Car">
            <a:extLst>
              <a:ext uri="{FF2B5EF4-FFF2-40B4-BE49-F238E27FC236}">
                <a16:creationId xmlns:a16="http://schemas.microsoft.com/office/drawing/2014/main" id="{FF0696DD-2A1A-AE4E-98F1-2F58E391817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46544" y="3487271"/>
            <a:ext cx="914400" cy="914400"/>
          </a:xfrm>
          <a:prstGeom prst="rect">
            <a:avLst/>
          </a:prstGeom>
        </p:spPr>
      </p:pic>
      <p:sp>
        <p:nvSpPr>
          <p:cNvPr id="11" name="TextBox 10">
            <a:extLst>
              <a:ext uri="{FF2B5EF4-FFF2-40B4-BE49-F238E27FC236}">
                <a16:creationId xmlns:a16="http://schemas.microsoft.com/office/drawing/2014/main" id="{48BDD44F-0D1A-4941-8D20-FD6E9C7F8460}"/>
              </a:ext>
            </a:extLst>
          </p:cNvPr>
          <p:cNvSpPr txBox="1"/>
          <p:nvPr/>
        </p:nvSpPr>
        <p:spPr>
          <a:xfrm>
            <a:off x="1104860" y="3971366"/>
            <a:ext cx="1394613" cy="646331"/>
          </a:xfrm>
          <a:prstGeom prst="rect">
            <a:avLst/>
          </a:prstGeom>
          <a:noFill/>
        </p:spPr>
        <p:txBody>
          <a:bodyPr wrap="none" rtlCol="0">
            <a:spAutoFit/>
          </a:bodyPr>
          <a:lstStyle/>
          <a:p>
            <a:r>
              <a:rPr lang="en-US" dirty="0"/>
              <a:t>Class:</a:t>
            </a:r>
          </a:p>
          <a:p>
            <a:r>
              <a:rPr lang="en-US" dirty="0"/>
              <a:t>	car</a:t>
            </a:r>
          </a:p>
        </p:txBody>
      </p:sp>
      <p:sp>
        <p:nvSpPr>
          <p:cNvPr id="12" name="TextBox 11">
            <a:extLst>
              <a:ext uri="{FF2B5EF4-FFF2-40B4-BE49-F238E27FC236}">
                <a16:creationId xmlns:a16="http://schemas.microsoft.com/office/drawing/2014/main" id="{A165C9B7-5284-E641-8A13-3719A2F5EDD1}"/>
              </a:ext>
            </a:extLst>
          </p:cNvPr>
          <p:cNvSpPr txBox="1"/>
          <p:nvPr/>
        </p:nvSpPr>
        <p:spPr>
          <a:xfrm>
            <a:off x="4453555" y="3854390"/>
            <a:ext cx="1537600" cy="646331"/>
          </a:xfrm>
          <a:prstGeom prst="rect">
            <a:avLst/>
          </a:prstGeom>
          <a:noFill/>
        </p:spPr>
        <p:txBody>
          <a:bodyPr wrap="none" rtlCol="0">
            <a:spAutoFit/>
          </a:bodyPr>
          <a:lstStyle/>
          <a:p>
            <a:r>
              <a:rPr lang="en-US" dirty="0"/>
              <a:t>Object:</a:t>
            </a:r>
          </a:p>
          <a:p>
            <a:r>
              <a:rPr lang="en-US" dirty="0"/>
              <a:t>	Audi</a:t>
            </a:r>
          </a:p>
        </p:txBody>
      </p:sp>
      <p:sp>
        <p:nvSpPr>
          <p:cNvPr id="13" name="TextBox 12">
            <a:extLst>
              <a:ext uri="{FF2B5EF4-FFF2-40B4-BE49-F238E27FC236}">
                <a16:creationId xmlns:a16="http://schemas.microsoft.com/office/drawing/2014/main" id="{96543375-C7F3-C545-AC22-3268F68F8093}"/>
              </a:ext>
            </a:extLst>
          </p:cNvPr>
          <p:cNvSpPr txBox="1"/>
          <p:nvPr/>
        </p:nvSpPr>
        <p:spPr>
          <a:xfrm>
            <a:off x="6753490" y="3818531"/>
            <a:ext cx="1628394" cy="646331"/>
          </a:xfrm>
          <a:prstGeom prst="rect">
            <a:avLst/>
          </a:prstGeom>
          <a:noFill/>
        </p:spPr>
        <p:txBody>
          <a:bodyPr wrap="none" rtlCol="0">
            <a:spAutoFit/>
          </a:bodyPr>
          <a:lstStyle/>
          <a:p>
            <a:r>
              <a:rPr lang="en-US" dirty="0"/>
              <a:t>Object:</a:t>
            </a:r>
          </a:p>
          <a:p>
            <a:r>
              <a:rPr lang="en-US" dirty="0"/>
              <a:t>	Volvo</a:t>
            </a:r>
          </a:p>
        </p:txBody>
      </p:sp>
      <p:sp>
        <p:nvSpPr>
          <p:cNvPr id="14" name="TextBox 13">
            <a:extLst>
              <a:ext uri="{FF2B5EF4-FFF2-40B4-BE49-F238E27FC236}">
                <a16:creationId xmlns:a16="http://schemas.microsoft.com/office/drawing/2014/main" id="{46DB8586-7ACB-9B47-BCE9-DA2B569AA1D1}"/>
              </a:ext>
            </a:extLst>
          </p:cNvPr>
          <p:cNvSpPr txBox="1"/>
          <p:nvPr/>
        </p:nvSpPr>
        <p:spPr>
          <a:xfrm>
            <a:off x="9232347" y="3818531"/>
            <a:ext cx="1628394" cy="646331"/>
          </a:xfrm>
          <a:prstGeom prst="rect">
            <a:avLst/>
          </a:prstGeom>
          <a:noFill/>
        </p:spPr>
        <p:txBody>
          <a:bodyPr wrap="none" rtlCol="0">
            <a:spAutoFit/>
          </a:bodyPr>
          <a:lstStyle/>
          <a:p>
            <a:r>
              <a:rPr lang="en-US" dirty="0"/>
              <a:t>Object:</a:t>
            </a:r>
          </a:p>
          <a:p>
            <a:r>
              <a:rPr lang="en-US" dirty="0"/>
              <a:t>	Volvo</a:t>
            </a:r>
          </a:p>
        </p:txBody>
      </p:sp>
      <p:sp>
        <p:nvSpPr>
          <p:cNvPr id="15" name="TextBox 14">
            <a:extLst>
              <a:ext uri="{FF2B5EF4-FFF2-40B4-BE49-F238E27FC236}">
                <a16:creationId xmlns:a16="http://schemas.microsoft.com/office/drawing/2014/main" id="{D26326CF-D252-D543-853C-D7C57E169D64}"/>
              </a:ext>
            </a:extLst>
          </p:cNvPr>
          <p:cNvSpPr txBox="1"/>
          <p:nvPr/>
        </p:nvSpPr>
        <p:spPr>
          <a:xfrm>
            <a:off x="709291" y="1655543"/>
            <a:ext cx="10029349" cy="830997"/>
          </a:xfrm>
          <a:prstGeom prst="rect">
            <a:avLst/>
          </a:prstGeom>
          <a:noFill/>
        </p:spPr>
        <p:txBody>
          <a:bodyPr wrap="none" rtlCol="0">
            <a:spAutoFit/>
          </a:bodyPr>
          <a:lstStyle/>
          <a:p>
            <a:r>
              <a:rPr lang="en-US" sz="2400" dirty="0"/>
              <a:t>Create a Class of a Car as the UML diagram below and three object of the class.</a:t>
            </a:r>
          </a:p>
          <a:p>
            <a:r>
              <a:rPr lang="en-US" sz="2400" dirty="0"/>
              <a:t> </a:t>
            </a:r>
          </a:p>
        </p:txBody>
      </p:sp>
      <p:pic>
        <p:nvPicPr>
          <p:cNvPr id="16" name="Picture 15">
            <a:extLst>
              <a:ext uri="{FF2B5EF4-FFF2-40B4-BE49-F238E27FC236}">
                <a16:creationId xmlns:a16="http://schemas.microsoft.com/office/drawing/2014/main" id="{EAD15C9C-6AA9-2943-8D3F-CB71F743A831}"/>
              </a:ext>
            </a:extLst>
          </p:cNvPr>
          <p:cNvPicPr>
            <a:picLocks noChangeAspect="1"/>
          </p:cNvPicPr>
          <p:nvPr/>
        </p:nvPicPr>
        <p:blipFill>
          <a:blip r:embed="rId10"/>
          <a:stretch>
            <a:fillRect/>
          </a:stretch>
        </p:blipFill>
        <p:spPr>
          <a:xfrm>
            <a:off x="1211740" y="2308740"/>
            <a:ext cx="1587500" cy="1270000"/>
          </a:xfrm>
          <a:prstGeom prst="rect">
            <a:avLst/>
          </a:prstGeom>
        </p:spPr>
      </p:pic>
      <p:sp>
        <p:nvSpPr>
          <p:cNvPr id="17" name="TextBox 16">
            <a:extLst>
              <a:ext uri="{FF2B5EF4-FFF2-40B4-BE49-F238E27FC236}">
                <a16:creationId xmlns:a16="http://schemas.microsoft.com/office/drawing/2014/main" id="{C459BEA4-E54D-2F44-A034-2C44E90C7032}"/>
              </a:ext>
            </a:extLst>
          </p:cNvPr>
          <p:cNvSpPr txBox="1"/>
          <p:nvPr/>
        </p:nvSpPr>
        <p:spPr>
          <a:xfrm>
            <a:off x="258664" y="5513378"/>
            <a:ext cx="11674671" cy="369332"/>
          </a:xfrm>
          <a:prstGeom prst="rect">
            <a:avLst/>
          </a:prstGeom>
          <a:noFill/>
        </p:spPr>
        <p:txBody>
          <a:bodyPr wrap="none" rtlCol="0">
            <a:spAutoFit/>
          </a:bodyPr>
          <a:lstStyle/>
          <a:p>
            <a:r>
              <a:rPr lang="en-US" dirty="0"/>
              <a:t>Change the make year, model, and fuel type into private attributes and create accessor methods to be able to get the data   </a:t>
            </a:r>
          </a:p>
        </p:txBody>
      </p:sp>
    </p:spTree>
    <p:extLst>
      <p:ext uri="{BB962C8B-B14F-4D97-AF65-F5344CB8AC3E}">
        <p14:creationId xmlns:p14="http://schemas.microsoft.com/office/powerpoint/2010/main" val="2041378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DAA74-ADF1-4D4F-B766-5CB83A726B46}"/>
              </a:ext>
            </a:extLst>
          </p:cNvPr>
          <p:cNvSpPr>
            <a:spLocks noGrp="1"/>
          </p:cNvSpPr>
          <p:nvPr>
            <p:ph type="title"/>
          </p:nvPr>
        </p:nvSpPr>
        <p:spPr/>
        <p:txBody>
          <a:bodyPr/>
          <a:lstStyle/>
          <a:p>
            <a:r>
              <a:rPr lang="en-US" b="1" dirty="0">
                <a:latin typeface="+mn-lt"/>
                <a:cs typeface="Arial" panose="020B0604020202020204" pitchFamily="34" charset="0"/>
              </a:rPr>
              <a:t>Inheritance Basics</a:t>
            </a:r>
          </a:p>
        </p:txBody>
      </p:sp>
      <p:sp>
        <p:nvSpPr>
          <p:cNvPr id="3" name="Content Placeholder 2">
            <a:extLst>
              <a:ext uri="{FF2B5EF4-FFF2-40B4-BE49-F238E27FC236}">
                <a16:creationId xmlns:a16="http://schemas.microsoft.com/office/drawing/2014/main" id="{A4DE65DF-24CF-F740-9C9B-A504D0307688}"/>
              </a:ext>
            </a:extLst>
          </p:cNvPr>
          <p:cNvSpPr>
            <a:spLocks noGrp="1"/>
          </p:cNvSpPr>
          <p:nvPr>
            <p:ph idx="1"/>
          </p:nvPr>
        </p:nvSpPr>
        <p:spPr/>
        <p:txBody>
          <a:bodyPr>
            <a:normAutofit/>
          </a:bodyPr>
          <a:lstStyle/>
          <a:p>
            <a:r>
              <a:rPr lang="en-GB" sz="2400" dirty="0"/>
              <a:t> Object-oriented programming (OOP) allows you to define new classes from existing classes.</a:t>
            </a:r>
          </a:p>
          <a:p>
            <a:r>
              <a:rPr lang="en-GB" sz="2400" dirty="0"/>
              <a:t> </a:t>
            </a:r>
            <a:r>
              <a:rPr lang="en-GB" sz="2400" b="1" dirty="0"/>
              <a:t>Inheritance</a:t>
            </a:r>
            <a:r>
              <a:rPr lang="en-GB" sz="2400" dirty="0"/>
              <a:t> enables you to define a general class (</a:t>
            </a:r>
            <a:r>
              <a:rPr lang="en-GB" sz="2400" b="1" dirty="0"/>
              <a:t>a superclass</a:t>
            </a:r>
            <a:r>
              <a:rPr lang="en-GB" sz="2400" dirty="0"/>
              <a:t>) and later extend it to more specialized classes (</a:t>
            </a:r>
            <a:r>
              <a:rPr lang="en-GB" sz="2400" b="1" dirty="0"/>
              <a:t>subclasses</a:t>
            </a:r>
            <a:r>
              <a:rPr lang="en-GB" sz="2400" dirty="0"/>
              <a:t>).</a:t>
            </a:r>
          </a:p>
          <a:p>
            <a:r>
              <a:rPr lang="en-GB" sz="2400" u="sng" dirty="0"/>
              <a:t> A subclass </a:t>
            </a:r>
            <a:r>
              <a:rPr lang="en-GB" sz="2400" i="1" u="sng" dirty="0"/>
              <a:t>inherits</a:t>
            </a:r>
            <a:r>
              <a:rPr lang="en-GB" sz="2400" u="sng" dirty="0"/>
              <a:t> accessible </a:t>
            </a:r>
            <a:r>
              <a:rPr lang="en-GB" sz="2400" i="1" u="sng" dirty="0"/>
              <a:t>data fields </a:t>
            </a:r>
            <a:r>
              <a:rPr lang="en-GB" sz="2400" u="sng" dirty="0"/>
              <a:t>and </a:t>
            </a:r>
            <a:r>
              <a:rPr lang="en-GB" sz="2400" i="1" u="sng" dirty="0"/>
              <a:t>methods</a:t>
            </a:r>
            <a:r>
              <a:rPr lang="en-GB" sz="2400" u="sng" dirty="0"/>
              <a:t> </a:t>
            </a:r>
            <a:r>
              <a:rPr lang="en-GB" sz="2400" dirty="0"/>
              <a:t>from its superclass, but it can also have other data fields and methods. </a:t>
            </a:r>
          </a:p>
          <a:p>
            <a:endParaRPr lang="en-GB" sz="2400" dirty="0"/>
          </a:p>
          <a:p>
            <a:endParaRPr lang="en-US" sz="2400" dirty="0"/>
          </a:p>
        </p:txBody>
      </p:sp>
    </p:spTree>
    <p:extLst>
      <p:ext uri="{BB962C8B-B14F-4D97-AF65-F5344CB8AC3E}">
        <p14:creationId xmlns:p14="http://schemas.microsoft.com/office/powerpoint/2010/main" val="3105544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5565C-7019-4249-B76D-E531654F8CE4}"/>
              </a:ext>
            </a:extLst>
          </p:cNvPr>
          <p:cNvSpPr>
            <a:spLocks noGrp="1"/>
          </p:cNvSpPr>
          <p:nvPr>
            <p:ph type="title"/>
          </p:nvPr>
        </p:nvSpPr>
        <p:spPr/>
        <p:txBody>
          <a:bodyPr/>
          <a:lstStyle/>
          <a:p>
            <a:r>
              <a:rPr lang="en-US" b="1" dirty="0">
                <a:latin typeface="+mn-lt"/>
                <a:cs typeface="Arial" panose="020B0604020202020204" pitchFamily="34" charset="0"/>
              </a:rPr>
              <a:t>Inheritance Examples</a:t>
            </a:r>
          </a:p>
        </p:txBody>
      </p:sp>
      <p:pic>
        <p:nvPicPr>
          <p:cNvPr id="5" name="Content Placeholder 4" descr="Diagram&#10;&#10;Description automatically generated">
            <a:extLst>
              <a:ext uri="{FF2B5EF4-FFF2-40B4-BE49-F238E27FC236}">
                <a16:creationId xmlns:a16="http://schemas.microsoft.com/office/drawing/2014/main" id="{20811A6D-DD88-334F-9C85-B5226896886B}"/>
              </a:ext>
            </a:extLst>
          </p:cNvPr>
          <p:cNvPicPr>
            <a:picLocks noGrp="1" noChangeAspect="1"/>
          </p:cNvPicPr>
          <p:nvPr>
            <p:ph idx="1"/>
          </p:nvPr>
        </p:nvPicPr>
        <p:blipFill>
          <a:blip r:embed="rId2"/>
          <a:stretch>
            <a:fillRect/>
          </a:stretch>
        </p:blipFill>
        <p:spPr>
          <a:xfrm>
            <a:off x="979715" y="1960377"/>
            <a:ext cx="3038403" cy="2885045"/>
          </a:xfrm>
        </p:spPr>
      </p:pic>
      <p:pic>
        <p:nvPicPr>
          <p:cNvPr id="7" name="Picture 6" descr="Diagram&#10;&#10;Description automatically generated">
            <a:extLst>
              <a:ext uri="{FF2B5EF4-FFF2-40B4-BE49-F238E27FC236}">
                <a16:creationId xmlns:a16="http://schemas.microsoft.com/office/drawing/2014/main" id="{5822B95C-807B-E942-BFD4-FBC0DF67C2FE}"/>
              </a:ext>
            </a:extLst>
          </p:cNvPr>
          <p:cNvPicPr>
            <a:picLocks noChangeAspect="1"/>
          </p:cNvPicPr>
          <p:nvPr/>
        </p:nvPicPr>
        <p:blipFill>
          <a:blip r:embed="rId3"/>
          <a:stretch>
            <a:fillRect/>
          </a:stretch>
        </p:blipFill>
        <p:spPr>
          <a:xfrm>
            <a:off x="7613224" y="2299732"/>
            <a:ext cx="4288971" cy="3243095"/>
          </a:xfrm>
          <a:prstGeom prst="rect">
            <a:avLst/>
          </a:prstGeom>
        </p:spPr>
      </p:pic>
      <p:sp>
        <p:nvSpPr>
          <p:cNvPr id="8" name="TextBox 7">
            <a:extLst>
              <a:ext uri="{FF2B5EF4-FFF2-40B4-BE49-F238E27FC236}">
                <a16:creationId xmlns:a16="http://schemas.microsoft.com/office/drawing/2014/main" id="{6FEF6305-E25A-AF40-A606-EA46626E747A}"/>
              </a:ext>
            </a:extLst>
          </p:cNvPr>
          <p:cNvSpPr txBox="1"/>
          <p:nvPr/>
        </p:nvSpPr>
        <p:spPr>
          <a:xfrm>
            <a:off x="561949" y="2200646"/>
            <a:ext cx="1147109" cy="369332"/>
          </a:xfrm>
          <a:prstGeom prst="rect">
            <a:avLst/>
          </a:prstGeom>
          <a:noFill/>
        </p:spPr>
        <p:txBody>
          <a:bodyPr wrap="none" rtlCol="0">
            <a:spAutoFit/>
          </a:bodyPr>
          <a:lstStyle/>
          <a:p>
            <a:r>
              <a:rPr lang="en-US" dirty="0">
                <a:solidFill>
                  <a:schemeClr val="bg1">
                    <a:lumMod val="50000"/>
                  </a:schemeClr>
                </a:solidFill>
              </a:rPr>
              <a:t>Example 1</a:t>
            </a:r>
          </a:p>
        </p:txBody>
      </p:sp>
      <p:sp>
        <p:nvSpPr>
          <p:cNvPr id="9" name="TextBox 8">
            <a:extLst>
              <a:ext uri="{FF2B5EF4-FFF2-40B4-BE49-F238E27FC236}">
                <a16:creationId xmlns:a16="http://schemas.microsoft.com/office/drawing/2014/main" id="{37FFE63C-EBE8-6044-BDE5-FA71E46D2299}"/>
              </a:ext>
            </a:extLst>
          </p:cNvPr>
          <p:cNvSpPr txBox="1"/>
          <p:nvPr/>
        </p:nvSpPr>
        <p:spPr>
          <a:xfrm>
            <a:off x="7600329" y="2195121"/>
            <a:ext cx="1147109" cy="369332"/>
          </a:xfrm>
          <a:prstGeom prst="rect">
            <a:avLst/>
          </a:prstGeom>
          <a:noFill/>
        </p:spPr>
        <p:txBody>
          <a:bodyPr wrap="none" rtlCol="0">
            <a:spAutoFit/>
          </a:bodyPr>
          <a:lstStyle/>
          <a:p>
            <a:r>
              <a:rPr lang="en-US" dirty="0">
                <a:solidFill>
                  <a:schemeClr val="bg1">
                    <a:lumMod val="50000"/>
                  </a:schemeClr>
                </a:solidFill>
              </a:rPr>
              <a:t>Example 2</a:t>
            </a:r>
          </a:p>
        </p:txBody>
      </p:sp>
      <p:sp>
        <p:nvSpPr>
          <p:cNvPr id="10" name="TextBox 9">
            <a:extLst>
              <a:ext uri="{FF2B5EF4-FFF2-40B4-BE49-F238E27FC236}">
                <a16:creationId xmlns:a16="http://schemas.microsoft.com/office/drawing/2014/main" id="{0A265B6D-7464-7848-ADE0-700C186B4657}"/>
              </a:ext>
            </a:extLst>
          </p:cNvPr>
          <p:cNvSpPr txBox="1"/>
          <p:nvPr/>
        </p:nvSpPr>
        <p:spPr>
          <a:xfrm>
            <a:off x="7820330" y="6119712"/>
            <a:ext cx="4360489" cy="830997"/>
          </a:xfrm>
          <a:prstGeom prst="rect">
            <a:avLst/>
          </a:prstGeom>
          <a:noFill/>
        </p:spPr>
        <p:txBody>
          <a:bodyPr wrap="none" rtlCol="0">
            <a:spAutoFit/>
          </a:bodyPr>
          <a:lstStyle/>
          <a:p>
            <a:r>
              <a:rPr lang="en-GB" sz="2400" dirty="0">
                <a:solidFill>
                  <a:srgbClr val="0A007A"/>
                </a:solidFill>
                <a:latin typeface="Arial" panose="020B0604020202020204" pitchFamily="34" charset="0"/>
                <a:cs typeface="Arial" panose="020B0604020202020204" pitchFamily="34" charset="0"/>
              </a:rPr>
              <a:t>class</a:t>
            </a:r>
            <a:r>
              <a:rPr lang="en-GB" sz="2400" dirty="0">
                <a:latin typeface="Arial" panose="020B0604020202020204" pitchFamily="34" charset="0"/>
                <a:cs typeface="Arial" panose="020B0604020202020204" pitchFamily="34" charset="0"/>
              </a:rPr>
              <a:t> Circle(</a:t>
            </a:r>
            <a:r>
              <a:rPr lang="en-GB" sz="2400" dirty="0" err="1">
                <a:latin typeface="Arial" panose="020B0604020202020204" pitchFamily="34" charset="0"/>
                <a:cs typeface="Arial" panose="020B0604020202020204" pitchFamily="34" charset="0"/>
              </a:rPr>
              <a:t>GeometricObject</a:t>
            </a:r>
            <a:r>
              <a:rPr lang="en-GB" sz="2400" dirty="0">
                <a:latin typeface="Arial" panose="020B0604020202020204" pitchFamily="34" charset="0"/>
                <a:cs typeface="Arial" panose="020B0604020202020204" pitchFamily="34" charset="0"/>
              </a:rPr>
              <a:t>):</a:t>
            </a:r>
          </a:p>
          <a:p>
            <a:endParaRPr lang="en-US" sz="24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48417BA-DF3C-B64F-8C86-40191C9F5C13}"/>
              </a:ext>
            </a:extLst>
          </p:cNvPr>
          <p:cNvSpPr txBox="1"/>
          <p:nvPr/>
        </p:nvSpPr>
        <p:spPr>
          <a:xfrm>
            <a:off x="507851" y="6077376"/>
            <a:ext cx="3396640" cy="830997"/>
          </a:xfrm>
          <a:prstGeom prst="rect">
            <a:avLst/>
          </a:prstGeom>
          <a:noFill/>
        </p:spPr>
        <p:txBody>
          <a:bodyPr wrap="square" rtlCol="0">
            <a:spAutoFit/>
          </a:bodyPr>
          <a:lstStyle/>
          <a:p>
            <a:r>
              <a:rPr lang="en-GB" sz="2400" dirty="0">
                <a:solidFill>
                  <a:srgbClr val="0A007A"/>
                </a:solidFill>
                <a:latin typeface="Arial" panose="020B0604020202020204" pitchFamily="34" charset="0"/>
                <a:cs typeface="Arial" panose="020B0604020202020204" pitchFamily="34" charset="0"/>
              </a:rPr>
              <a:t>class</a:t>
            </a:r>
            <a:r>
              <a:rPr lang="en-GB" sz="2400" dirty="0">
                <a:latin typeface="Arial" panose="020B0604020202020204" pitchFamily="34" charset="0"/>
                <a:cs typeface="Arial" panose="020B0604020202020204" pitchFamily="34" charset="0"/>
              </a:rPr>
              <a:t> Dog(Animal):</a:t>
            </a:r>
          </a:p>
          <a:p>
            <a:endParaRPr lang="en-US" sz="2400" dirty="0">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A43AEB7E-AF87-5A41-95C8-12E53F50D9AD}"/>
              </a:ext>
            </a:extLst>
          </p:cNvPr>
          <p:cNvSpPr/>
          <p:nvPr/>
        </p:nvSpPr>
        <p:spPr>
          <a:xfrm>
            <a:off x="689427" y="5428359"/>
            <a:ext cx="1312095" cy="369332"/>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dirty="0"/>
              <a:t>subclass</a:t>
            </a:r>
            <a:endParaRPr lang="en-US" dirty="0"/>
          </a:p>
        </p:txBody>
      </p:sp>
      <p:sp>
        <p:nvSpPr>
          <p:cNvPr id="15" name="Rounded Rectangle 14">
            <a:extLst>
              <a:ext uri="{FF2B5EF4-FFF2-40B4-BE49-F238E27FC236}">
                <a16:creationId xmlns:a16="http://schemas.microsoft.com/office/drawing/2014/main" id="{CA19833E-D466-EE47-9321-9E5B19BEDBB3}"/>
              </a:ext>
            </a:extLst>
          </p:cNvPr>
          <p:cNvSpPr/>
          <p:nvPr/>
        </p:nvSpPr>
        <p:spPr>
          <a:xfrm>
            <a:off x="2498916" y="5442634"/>
            <a:ext cx="1312095" cy="369332"/>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dirty="0"/>
              <a:t>superclass</a:t>
            </a:r>
            <a:endParaRPr lang="en-US" dirty="0"/>
          </a:p>
        </p:txBody>
      </p:sp>
      <p:cxnSp>
        <p:nvCxnSpPr>
          <p:cNvPr id="17" name="Straight Arrow Connector 16">
            <a:extLst>
              <a:ext uri="{FF2B5EF4-FFF2-40B4-BE49-F238E27FC236}">
                <a16:creationId xmlns:a16="http://schemas.microsoft.com/office/drawing/2014/main" id="{577B6FB2-F2A0-D84B-8A42-206DF122BD97}"/>
              </a:ext>
            </a:extLst>
          </p:cNvPr>
          <p:cNvCxnSpPr>
            <a:cxnSpLocks/>
            <a:stCxn id="14" idx="2"/>
          </p:cNvCxnSpPr>
          <p:nvPr/>
        </p:nvCxnSpPr>
        <p:spPr>
          <a:xfrm>
            <a:off x="1345475" y="5797691"/>
            <a:ext cx="238893" cy="39351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1" name="Straight Arrow Connector 20">
            <a:extLst>
              <a:ext uri="{FF2B5EF4-FFF2-40B4-BE49-F238E27FC236}">
                <a16:creationId xmlns:a16="http://schemas.microsoft.com/office/drawing/2014/main" id="{6AFF29EC-ECF5-D240-88B3-A501D00BF161}"/>
              </a:ext>
            </a:extLst>
          </p:cNvPr>
          <p:cNvCxnSpPr>
            <a:cxnSpLocks/>
          </p:cNvCxnSpPr>
          <p:nvPr/>
        </p:nvCxnSpPr>
        <p:spPr>
          <a:xfrm flipH="1">
            <a:off x="2624983" y="5811966"/>
            <a:ext cx="364960" cy="379239"/>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4" name="Rounded Rectangle 23">
            <a:extLst>
              <a:ext uri="{FF2B5EF4-FFF2-40B4-BE49-F238E27FC236}">
                <a16:creationId xmlns:a16="http://schemas.microsoft.com/office/drawing/2014/main" id="{3E12F019-78FF-E747-8DF5-7999FE2F9544}"/>
              </a:ext>
            </a:extLst>
          </p:cNvPr>
          <p:cNvSpPr/>
          <p:nvPr/>
        </p:nvSpPr>
        <p:spPr>
          <a:xfrm>
            <a:off x="4182258" y="2580013"/>
            <a:ext cx="1312095" cy="369332"/>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dirty="0"/>
              <a:t>superclass</a:t>
            </a:r>
            <a:endParaRPr lang="en-US" dirty="0"/>
          </a:p>
        </p:txBody>
      </p:sp>
      <p:sp>
        <p:nvSpPr>
          <p:cNvPr id="25" name="Rounded Rectangle 24">
            <a:extLst>
              <a:ext uri="{FF2B5EF4-FFF2-40B4-BE49-F238E27FC236}">
                <a16:creationId xmlns:a16="http://schemas.microsoft.com/office/drawing/2014/main" id="{3F4CA6F8-329E-3B4A-90F5-BE39B19A247D}"/>
              </a:ext>
            </a:extLst>
          </p:cNvPr>
          <p:cNvSpPr/>
          <p:nvPr/>
        </p:nvSpPr>
        <p:spPr>
          <a:xfrm>
            <a:off x="4218613" y="3971535"/>
            <a:ext cx="1312095" cy="369332"/>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dirty="0"/>
              <a:t>subclass</a:t>
            </a:r>
            <a:endParaRPr lang="en-US" dirty="0"/>
          </a:p>
        </p:txBody>
      </p:sp>
      <p:sp>
        <p:nvSpPr>
          <p:cNvPr id="28" name="Right Brace 27">
            <a:extLst>
              <a:ext uri="{FF2B5EF4-FFF2-40B4-BE49-F238E27FC236}">
                <a16:creationId xmlns:a16="http://schemas.microsoft.com/office/drawing/2014/main" id="{0F734FA8-502D-3549-9DB5-6CB4A1A24B07}"/>
              </a:ext>
            </a:extLst>
          </p:cNvPr>
          <p:cNvSpPr/>
          <p:nvPr/>
        </p:nvSpPr>
        <p:spPr>
          <a:xfrm>
            <a:off x="3904491" y="2200646"/>
            <a:ext cx="113627" cy="1202253"/>
          </a:xfrm>
          <a:prstGeom prst="righ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Right Brace 28">
            <a:extLst>
              <a:ext uri="{FF2B5EF4-FFF2-40B4-BE49-F238E27FC236}">
                <a16:creationId xmlns:a16="http://schemas.microsoft.com/office/drawing/2014/main" id="{D15696F4-E997-BE46-A7F9-85A3268980F6}"/>
              </a:ext>
            </a:extLst>
          </p:cNvPr>
          <p:cNvSpPr/>
          <p:nvPr/>
        </p:nvSpPr>
        <p:spPr>
          <a:xfrm>
            <a:off x="3975516" y="3763305"/>
            <a:ext cx="45719" cy="785792"/>
          </a:xfrm>
          <a:prstGeom prst="righ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1E406637-C4F5-F141-AD15-721951EEFB25}"/>
              </a:ext>
            </a:extLst>
          </p:cNvPr>
          <p:cNvSpPr txBox="1"/>
          <p:nvPr/>
        </p:nvSpPr>
        <p:spPr>
          <a:xfrm>
            <a:off x="7820330" y="6535210"/>
            <a:ext cx="1601721" cy="584775"/>
          </a:xfrm>
          <a:prstGeom prst="rect">
            <a:avLst/>
          </a:prstGeom>
          <a:noFill/>
        </p:spPr>
        <p:txBody>
          <a:bodyPr wrap="none" rtlCol="0">
            <a:spAutoFit/>
          </a:bodyPr>
          <a:lstStyle/>
          <a:p>
            <a:r>
              <a:rPr lang="en-US" sz="1600" dirty="0">
                <a:solidFill>
                  <a:schemeClr val="bg1">
                    <a:lumMod val="50000"/>
                  </a:schemeClr>
                </a:solidFill>
              </a:rPr>
              <a:t>Liang book p.401</a:t>
            </a:r>
          </a:p>
          <a:p>
            <a:endParaRPr lang="en-US" sz="1600" dirty="0"/>
          </a:p>
        </p:txBody>
      </p:sp>
    </p:spTree>
    <p:extLst>
      <p:ext uri="{BB962C8B-B14F-4D97-AF65-F5344CB8AC3E}">
        <p14:creationId xmlns:p14="http://schemas.microsoft.com/office/powerpoint/2010/main" val="493509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8">
            <a:extLst>
              <a:ext uri="{FF2B5EF4-FFF2-40B4-BE49-F238E27FC236}">
                <a16:creationId xmlns:a16="http://schemas.microsoft.com/office/drawing/2014/main" id="{1FFB77F0-01C6-DD9B-27DF-989EEE2B6D91}"/>
              </a:ext>
            </a:extLst>
          </p:cNvPr>
          <p:cNvSpPr/>
          <p:nvPr/>
        </p:nvSpPr>
        <p:spPr>
          <a:xfrm>
            <a:off x="6121399" y="2683681"/>
            <a:ext cx="5232401" cy="1901182"/>
          </a:xfrm>
          <a:prstGeom prst="rect">
            <a:avLst/>
          </a:prstGeom>
          <a:solidFill>
            <a:srgbClr val="F5F5F5"/>
          </a:solidFill>
          <a:ln/>
        </p:spPr>
        <p:txBody>
          <a:bodyPr/>
          <a:lstStyle/>
          <a:p>
            <a:endParaRPr lang="en-US" sz="2400"/>
          </a:p>
        </p:txBody>
      </p:sp>
      <p:sp>
        <p:nvSpPr>
          <p:cNvPr id="4" name="Shape 8">
            <a:extLst>
              <a:ext uri="{FF2B5EF4-FFF2-40B4-BE49-F238E27FC236}">
                <a16:creationId xmlns:a16="http://schemas.microsoft.com/office/drawing/2014/main" id="{9EA3C116-4298-EA76-8890-D878FCAD2F16}"/>
              </a:ext>
            </a:extLst>
          </p:cNvPr>
          <p:cNvSpPr/>
          <p:nvPr/>
        </p:nvSpPr>
        <p:spPr>
          <a:xfrm>
            <a:off x="611697" y="2578418"/>
            <a:ext cx="4598934" cy="2120899"/>
          </a:xfrm>
          <a:prstGeom prst="rect">
            <a:avLst/>
          </a:prstGeom>
          <a:solidFill>
            <a:srgbClr val="F5F5F5"/>
          </a:solidFill>
          <a:ln/>
        </p:spPr>
        <p:txBody>
          <a:bodyPr/>
          <a:lstStyle/>
          <a:p>
            <a:endParaRPr lang="en-US" sz="2400"/>
          </a:p>
        </p:txBody>
      </p:sp>
      <p:sp>
        <p:nvSpPr>
          <p:cNvPr id="2" name="Title 1">
            <a:extLst>
              <a:ext uri="{FF2B5EF4-FFF2-40B4-BE49-F238E27FC236}">
                <a16:creationId xmlns:a16="http://schemas.microsoft.com/office/drawing/2014/main" id="{329130B9-9D79-B64E-84EF-1FC1FF5390F6}"/>
              </a:ext>
            </a:extLst>
          </p:cNvPr>
          <p:cNvSpPr>
            <a:spLocks noGrp="1"/>
          </p:cNvSpPr>
          <p:nvPr>
            <p:ph type="title"/>
          </p:nvPr>
        </p:nvSpPr>
        <p:spPr/>
        <p:txBody>
          <a:bodyPr/>
          <a:lstStyle/>
          <a:p>
            <a:r>
              <a:rPr lang="en-US" b="1" dirty="0">
                <a:latin typeface="+mn-lt"/>
                <a:cs typeface="Arial" panose="020B0604020202020204" pitchFamily="34" charset="0"/>
              </a:rPr>
              <a:t>Using super() in Subclasses</a:t>
            </a:r>
          </a:p>
        </p:txBody>
      </p:sp>
      <p:sp>
        <p:nvSpPr>
          <p:cNvPr id="6" name="TextBox 5">
            <a:extLst>
              <a:ext uri="{FF2B5EF4-FFF2-40B4-BE49-F238E27FC236}">
                <a16:creationId xmlns:a16="http://schemas.microsoft.com/office/drawing/2014/main" id="{606F89B8-DF07-FA42-970F-A98F6C0E0CCD}"/>
              </a:ext>
            </a:extLst>
          </p:cNvPr>
          <p:cNvSpPr txBox="1"/>
          <p:nvPr/>
        </p:nvSpPr>
        <p:spPr>
          <a:xfrm>
            <a:off x="6386286" y="3011859"/>
            <a:ext cx="6115673" cy="1569660"/>
          </a:xfrm>
          <a:prstGeom prst="rect">
            <a:avLst/>
          </a:prstGeom>
          <a:noFill/>
        </p:spPr>
        <p:txBody>
          <a:bodyPr wrap="square" rtlCol="0">
            <a:spAutoFit/>
          </a:bodyPr>
          <a:lstStyle/>
          <a:p>
            <a:r>
              <a:rPr lang="en-GB" b="1" dirty="0">
                <a:solidFill>
                  <a:srgbClr val="0A007A"/>
                </a:solidFill>
                <a:latin typeface="Arial" panose="020B0604020202020204" pitchFamily="34" charset="0"/>
                <a:cs typeface="Arial" panose="020B0604020202020204" pitchFamily="34" charset="0"/>
              </a:rPr>
              <a:t>class</a:t>
            </a:r>
            <a:r>
              <a:rPr lang="en-GB" dirty="0">
                <a:latin typeface="Arial" panose="020B0604020202020204" pitchFamily="34" charset="0"/>
                <a:cs typeface="Arial" panose="020B0604020202020204" pitchFamily="34" charset="0"/>
              </a:rPr>
              <a:t> Dog(Animal):</a:t>
            </a:r>
          </a:p>
          <a:p>
            <a:r>
              <a:rPr lang="en-GB" b="1" dirty="0">
                <a:latin typeface="Arial" panose="020B0604020202020204" pitchFamily="34" charset="0"/>
                <a:cs typeface="Arial" panose="020B0604020202020204" pitchFamily="34" charset="0"/>
              </a:rPr>
              <a:t>       </a:t>
            </a:r>
            <a:r>
              <a:rPr lang="en-GB" b="1" dirty="0">
                <a:solidFill>
                  <a:srgbClr val="0A007A"/>
                </a:solidFill>
                <a:latin typeface="Arial" panose="020B0604020202020204" pitchFamily="34" charset="0"/>
                <a:cs typeface="Arial" panose="020B0604020202020204" pitchFamily="34" charset="0"/>
              </a:rPr>
              <a:t>def</a:t>
            </a:r>
            <a:r>
              <a:rPr lang="en-GB" b="1" dirty="0">
                <a:latin typeface="Arial" panose="020B0604020202020204" pitchFamily="34" charset="0"/>
                <a:cs typeface="Arial" panose="020B0604020202020204" pitchFamily="34" charset="0"/>
              </a:rPr>
              <a:t> </a:t>
            </a:r>
            <a:r>
              <a:rPr lang="en-GB" dirty="0">
                <a:solidFill>
                  <a:srgbClr val="C300B8"/>
                </a:solidFill>
                <a:latin typeface="Arial" panose="020B0604020202020204" pitchFamily="34" charset="0"/>
                <a:cs typeface="Arial" panose="020B0604020202020204" pitchFamily="34" charset="0"/>
              </a:rPr>
              <a:t>__</a:t>
            </a:r>
            <a:r>
              <a:rPr lang="en-GB" dirty="0" err="1">
                <a:solidFill>
                  <a:srgbClr val="C300B8"/>
                </a:solidFill>
                <a:latin typeface="Arial" panose="020B0604020202020204" pitchFamily="34" charset="0"/>
                <a:cs typeface="Arial" panose="020B0604020202020204" pitchFamily="34" charset="0"/>
              </a:rPr>
              <a:t>init</a:t>
            </a:r>
            <a:r>
              <a:rPr lang="en-GB" dirty="0">
                <a:solidFill>
                  <a:srgbClr val="C300B8"/>
                </a:solidFill>
                <a:latin typeface="Arial" panose="020B0604020202020204" pitchFamily="34" charset="0"/>
                <a:cs typeface="Arial" panose="020B0604020202020204" pitchFamily="34" charset="0"/>
              </a:rPr>
              <a:t>__</a:t>
            </a:r>
            <a:r>
              <a:rPr lang="en-GB" dirty="0">
                <a:latin typeface="Arial" panose="020B0604020202020204" pitchFamily="34" charset="0"/>
                <a:cs typeface="Arial" panose="020B0604020202020204" pitchFamily="34" charset="0"/>
              </a:rPr>
              <a:t>(</a:t>
            </a:r>
            <a:r>
              <a:rPr lang="en-GB" dirty="0">
                <a:solidFill>
                  <a:srgbClr val="9E4F90"/>
                </a:solidFill>
                <a:latin typeface="Arial" panose="020B0604020202020204" pitchFamily="34" charset="0"/>
                <a:cs typeface="Arial" panose="020B0604020202020204" pitchFamily="34" charset="0"/>
              </a:rPr>
              <a:t>self</a:t>
            </a:r>
            <a:r>
              <a:rPr lang="en-GB" dirty="0">
                <a:latin typeface="Arial" panose="020B0604020202020204" pitchFamily="34" charset="0"/>
                <a:cs typeface="Arial" panose="020B0604020202020204" pitchFamily="34" charset="0"/>
              </a:rPr>
              <a:t>, name, age, breed), </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super</a:t>
            </a:r>
            <a:r>
              <a:rPr lang="en-GB" dirty="0">
                <a:latin typeface="Arial" panose="020B0604020202020204" pitchFamily="34" charset="0"/>
                <a:cs typeface="Arial" panose="020B0604020202020204" pitchFamily="34" charset="0"/>
              </a:rPr>
              <a:t>().</a:t>
            </a:r>
            <a:r>
              <a:rPr lang="en-GB" dirty="0">
                <a:solidFill>
                  <a:srgbClr val="C300B8"/>
                </a:solidFill>
                <a:latin typeface="Arial" panose="020B0604020202020204" pitchFamily="34" charset="0"/>
                <a:cs typeface="Arial" panose="020B0604020202020204" pitchFamily="34" charset="0"/>
              </a:rPr>
              <a:t>__</a:t>
            </a:r>
            <a:r>
              <a:rPr lang="en-GB" dirty="0" err="1">
                <a:solidFill>
                  <a:srgbClr val="C300B8"/>
                </a:solidFill>
                <a:latin typeface="Arial" panose="020B0604020202020204" pitchFamily="34" charset="0"/>
                <a:cs typeface="Arial" panose="020B0604020202020204" pitchFamily="34" charset="0"/>
              </a:rPr>
              <a:t>init</a:t>
            </a:r>
            <a:r>
              <a:rPr lang="en-GB" dirty="0">
                <a:solidFill>
                  <a:srgbClr val="C300B8"/>
                </a:solidFill>
                <a:latin typeface="Arial" panose="020B0604020202020204" pitchFamily="34" charset="0"/>
                <a:cs typeface="Arial" panose="020B0604020202020204" pitchFamily="34" charset="0"/>
              </a:rPr>
              <a:t>__(</a:t>
            </a:r>
            <a:r>
              <a:rPr lang="en-GB" dirty="0">
                <a:latin typeface="Arial" panose="020B0604020202020204" pitchFamily="34" charset="0"/>
                <a:cs typeface="Arial" panose="020B0604020202020204" pitchFamily="34" charset="0"/>
              </a:rPr>
              <a:t>name, age, breed)</a:t>
            </a:r>
          </a:p>
          <a:p>
            <a:r>
              <a:rPr lang="en-GB" dirty="0">
                <a:solidFill>
                  <a:srgbClr val="9E4F90"/>
                </a:solidFill>
              </a:rPr>
              <a:t>                  </a:t>
            </a:r>
            <a:r>
              <a:rPr lang="en-GB" dirty="0" err="1">
                <a:solidFill>
                  <a:srgbClr val="9E4F90"/>
                </a:solidFill>
              </a:rPr>
              <a:t>self</a:t>
            </a:r>
            <a:r>
              <a:rPr lang="en-GB" dirty="0" err="1"/>
              <a:t>.__id</a:t>
            </a:r>
            <a:r>
              <a:rPr lang="en-GB" dirty="0"/>
              <a:t> = id</a:t>
            </a:r>
            <a:r>
              <a:rPr lang="en-GB" dirty="0">
                <a:latin typeface="Arial" panose="020B0604020202020204" pitchFamily="34" charset="0"/>
                <a:cs typeface="Arial" panose="020B0604020202020204" pitchFamily="34" charset="0"/>
              </a:rPr>
              <a:t> </a:t>
            </a:r>
          </a:p>
          <a:p>
            <a:endParaRPr lang="en-US" sz="2400"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7E8BCE19-29B7-9847-AC0B-E7E2159B5C28}"/>
              </a:ext>
            </a:extLst>
          </p:cNvPr>
          <p:cNvSpPr/>
          <p:nvPr/>
        </p:nvSpPr>
        <p:spPr>
          <a:xfrm>
            <a:off x="913944" y="2832101"/>
            <a:ext cx="6096000" cy="2739211"/>
          </a:xfrm>
          <a:prstGeom prst="rect">
            <a:avLst/>
          </a:prstGeom>
        </p:spPr>
        <p:txBody>
          <a:bodyPr>
            <a:spAutoFit/>
          </a:bodyPr>
          <a:lstStyle/>
          <a:p>
            <a:r>
              <a:rPr lang="en-GB" sz="2000" b="1" dirty="0">
                <a:solidFill>
                  <a:srgbClr val="0A007A"/>
                </a:solidFill>
              </a:rPr>
              <a:t>class</a:t>
            </a:r>
            <a:r>
              <a:rPr lang="en-GB" sz="2000" b="1" dirty="0"/>
              <a:t> </a:t>
            </a:r>
            <a:r>
              <a:rPr lang="en-GB" sz="2000" dirty="0"/>
              <a:t>Animal:</a:t>
            </a:r>
            <a:br>
              <a:rPr lang="en-GB" sz="2000" dirty="0"/>
            </a:br>
            <a:r>
              <a:rPr lang="en-GB" sz="2000" dirty="0"/>
              <a:t>    </a:t>
            </a:r>
            <a:r>
              <a:rPr lang="en-GB" sz="2000" b="1" dirty="0">
                <a:solidFill>
                  <a:srgbClr val="0A007A"/>
                </a:solidFill>
              </a:rPr>
              <a:t>def</a:t>
            </a:r>
            <a:r>
              <a:rPr lang="en-GB" sz="2000" b="1" dirty="0"/>
              <a:t> </a:t>
            </a:r>
            <a:r>
              <a:rPr lang="en-GB" sz="2000" dirty="0">
                <a:solidFill>
                  <a:srgbClr val="C300B8"/>
                </a:solidFill>
              </a:rPr>
              <a:t>__</a:t>
            </a:r>
            <a:r>
              <a:rPr lang="en-GB" sz="2000" dirty="0" err="1">
                <a:solidFill>
                  <a:srgbClr val="C300B8"/>
                </a:solidFill>
              </a:rPr>
              <a:t>init</a:t>
            </a:r>
            <a:r>
              <a:rPr lang="en-GB" sz="2000" dirty="0">
                <a:solidFill>
                  <a:srgbClr val="C300B8"/>
                </a:solidFill>
              </a:rPr>
              <a:t>__</a:t>
            </a:r>
            <a:r>
              <a:rPr lang="en-GB" sz="2000" dirty="0">
                <a:solidFill>
                  <a:schemeClr val="tx1">
                    <a:lumMod val="95000"/>
                    <a:lumOff val="5000"/>
                  </a:schemeClr>
                </a:solidFill>
              </a:rPr>
              <a:t>(</a:t>
            </a:r>
            <a:r>
              <a:rPr lang="en-GB" sz="2000" dirty="0">
                <a:solidFill>
                  <a:srgbClr val="9E4F90"/>
                </a:solidFill>
              </a:rPr>
              <a:t>self</a:t>
            </a:r>
            <a:r>
              <a:rPr lang="en-GB" sz="2000" dirty="0"/>
              <a:t>, name, </a:t>
            </a:r>
            <a:r>
              <a:rPr lang="en-GB" sz="2000" dirty="0" err="1"/>
              <a:t>age,breed</a:t>
            </a:r>
            <a:r>
              <a:rPr lang="en-GB" sz="2000" dirty="0"/>
              <a:t>):</a:t>
            </a:r>
            <a:br>
              <a:rPr lang="en-GB" sz="2000" dirty="0"/>
            </a:br>
            <a:r>
              <a:rPr lang="en-GB" sz="2000" dirty="0"/>
              <a:t>        </a:t>
            </a:r>
            <a:r>
              <a:rPr lang="en-GB" sz="2000" dirty="0" err="1">
                <a:solidFill>
                  <a:srgbClr val="9E4F90"/>
                </a:solidFill>
              </a:rPr>
              <a:t>self</a:t>
            </a:r>
            <a:r>
              <a:rPr lang="en-GB" sz="2000" dirty="0" err="1"/>
              <a:t>.__name</a:t>
            </a:r>
            <a:r>
              <a:rPr lang="en-GB" sz="2000" dirty="0"/>
              <a:t> = name</a:t>
            </a:r>
            <a:br>
              <a:rPr lang="en-GB" sz="2000" dirty="0"/>
            </a:br>
            <a:r>
              <a:rPr lang="en-GB" sz="2000" dirty="0"/>
              <a:t>        </a:t>
            </a:r>
            <a:r>
              <a:rPr lang="en-GB" sz="2000" dirty="0" err="1">
                <a:solidFill>
                  <a:srgbClr val="9E4F90"/>
                </a:solidFill>
              </a:rPr>
              <a:t>self</a:t>
            </a:r>
            <a:r>
              <a:rPr lang="en-GB" sz="2000" dirty="0" err="1"/>
              <a:t>.__age</a:t>
            </a:r>
            <a:r>
              <a:rPr lang="en-GB" sz="2000" dirty="0"/>
              <a:t> = age</a:t>
            </a:r>
          </a:p>
          <a:p>
            <a:r>
              <a:rPr lang="en-GB" sz="2000" dirty="0">
                <a:solidFill>
                  <a:srgbClr val="9E4F90"/>
                </a:solidFill>
              </a:rPr>
              <a:t>        </a:t>
            </a:r>
            <a:r>
              <a:rPr lang="en-GB" sz="2000" dirty="0" err="1">
                <a:solidFill>
                  <a:srgbClr val="9E4F90"/>
                </a:solidFill>
              </a:rPr>
              <a:t>self</a:t>
            </a:r>
            <a:r>
              <a:rPr lang="en-GB" sz="2000" dirty="0" err="1"/>
              <a:t>.__breed</a:t>
            </a:r>
            <a:r>
              <a:rPr lang="en-GB" sz="2000" dirty="0"/>
              <a:t> = breed</a:t>
            </a:r>
          </a:p>
          <a:p>
            <a:endParaRPr lang="en-GB" sz="2400" dirty="0"/>
          </a:p>
          <a:p>
            <a:endParaRPr lang="en-GB" sz="2400" dirty="0"/>
          </a:p>
          <a:p>
            <a:r>
              <a:rPr lang="en-GB" sz="2400" dirty="0">
                <a:solidFill>
                  <a:srgbClr val="9E4F90"/>
                </a:solidFill>
              </a:rPr>
              <a:t>        </a:t>
            </a:r>
            <a:endParaRPr lang="en-US" sz="2400" dirty="0"/>
          </a:p>
        </p:txBody>
      </p:sp>
      <p:sp>
        <p:nvSpPr>
          <p:cNvPr id="9" name="Rounded Rectangle 8">
            <a:extLst>
              <a:ext uri="{FF2B5EF4-FFF2-40B4-BE49-F238E27FC236}">
                <a16:creationId xmlns:a16="http://schemas.microsoft.com/office/drawing/2014/main" id="{C82E1EA0-4AAF-EA4F-A676-93BCD6DDE87C}"/>
              </a:ext>
            </a:extLst>
          </p:cNvPr>
          <p:cNvSpPr/>
          <p:nvPr/>
        </p:nvSpPr>
        <p:spPr>
          <a:xfrm>
            <a:off x="5634201" y="4699318"/>
            <a:ext cx="1798649" cy="874040"/>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b="1" dirty="0"/>
              <a:t>super</a:t>
            </a:r>
            <a:r>
              <a:rPr lang="en-GB" sz="1200" dirty="0"/>
              <a:t> ()</a:t>
            </a:r>
          </a:p>
          <a:p>
            <a:pPr algn="ctr"/>
            <a:r>
              <a:rPr lang="en-GB" sz="1200" dirty="0"/>
              <a:t>calls constructor from the superclass</a:t>
            </a:r>
            <a:endParaRPr lang="en-US" sz="1200" dirty="0"/>
          </a:p>
        </p:txBody>
      </p:sp>
      <p:cxnSp>
        <p:nvCxnSpPr>
          <p:cNvPr id="10" name="Straight Arrow Connector 9">
            <a:extLst>
              <a:ext uri="{FF2B5EF4-FFF2-40B4-BE49-F238E27FC236}">
                <a16:creationId xmlns:a16="http://schemas.microsoft.com/office/drawing/2014/main" id="{727AC1BB-3348-E54D-9482-34B40165281E}"/>
              </a:ext>
            </a:extLst>
          </p:cNvPr>
          <p:cNvCxnSpPr>
            <a:cxnSpLocks/>
          </p:cNvCxnSpPr>
          <p:nvPr/>
        </p:nvCxnSpPr>
        <p:spPr>
          <a:xfrm flipV="1">
            <a:off x="6981371" y="3893972"/>
            <a:ext cx="632557" cy="86037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2" name="Straight Arrow Connector 11">
            <a:extLst>
              <a:ext uri="{FF2B5EF4-FFF2-40B4-BE49-F238E27FC236}">
                <a16:creationId xmlns:a16="http://schemas.microsoft.com/office/drawing/2014/main" id="{EE406257-6027-894A-9621-771D46808802}"/>
              </a:ext>
            </a:extLst>
          </p:cNvPr>
          <p:cNvCxnSpPr>
            <a:cxnSpLocks/>
          </p:cNvCxnSpPr>
          <p:nvPr/>
        </p:nvCxnSpPr>
        <p:spPr>
          <a:xfrm>
            <a:off x="6386286" y="1284642"/>
            <a:ext cx="1227642" cy="1359527"/>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5" name="Straight Arrow Connector 14">
            <a:extLst>
              <a:ext uri="{FF2B5EF4-FFF2-40B4-BE49-F238E27FC236}">
                <a16:creationId xmlns:a16="http://schemas.microsoft.com/office/drawing/2014/main" id="{BE00CD1F-799B-1244-A3EA-7FACD4C3DCBC}"/>
              </a:ext>
            </a:extLst>
          </p:cNvPr>
          <p:cNvCxnSpPr>
            <a:cxnSpLocks/>
          </p:cNvCxnSpPr>
          <p:nvPr/>
        </p:nvCxnSpPr>
        <p:spPr>
          <a:xfrm flipH="1">
            <a:off x="2569029" y="1284642"/>
            <a:ext cx="740228" cy="1318548"/>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3" name="Shape 9">
            <a:extLst>
              <a:ext uri="{FF2B5EF4-FFF2-40B4-BE49-F238E27FC236}">
                <a16:creationId xmlns:a16="http://schemas.microsoft.com/office/drawing/2014/main" id="{113C3F71-E974-0CFF-5046-20279FD2ACF0}"/>
              </a:ext>
            </a:extLst>
          </p:cNvPr>
          <p:cNvSpPr/>
          <p:nvPr/>
        </p:nvSpPr>
        <p:spPr>
          <a:xfrm>
            <a:off x="587858" y="2578418"/>
            <a:ext cx="45719" cy="2175927"/>
          </a:xfrm>
          <a:prstGeom prst="rect">
            <a:avLst/>
          </a:prstGeom>
          <a:solidFill>
            <a:srgbClr val="0055FF"/>
          </a:solidFill>
          <a:ln/>
        </p:spPr>
        <p:txBody>
          <a:bodyPr/>
          <a:lstStyle/>
          <a:p>
            <a:endParaRPr lang="en-US" sz="2400"/>
          </a:p>
        </p:txBody>
      </p:sp>
      <p:sp>
        <p:nvSpPr>
          <p:cNvPr id="14" name="Shape 9">
            <a:extLst>
              <a:ext uri="{FF2B5EF4-FFF2-40B4-BE49-F238E27FC236}">
                <a16:creationId xmlns:a16="http://schemas.microsoft.com/office/drawing/2014/main" id="{31646BA6-1058-0F86-4B3E-2D6AFAF86AF6}"/>
              </a:ext>
            </a:extLst>
          </p:cNvPr>
          <p:cNvSpPr/>
          <p:nvPr/>
        </p:nvSpPr>
        <p:spPr>
          <a:xfrm>
            <a:off x="6095999" y="2683681"/>
            <a:ext cx="45719" cy="1897838"/>
          </a:xfrm>
          <a:prstGeom prst="rect">
            <a:avLst/>
          </a:prstGeom>
          <a:solidFill>
            <a:srgbClr val="0055FF"/>
          </a:solidFill>
          <a:ln/>
        </p:spPr>
        <p:txBody>
          <a:bodyPr/>
          <a:lstStyle/>
          <a:p>
            <a:endParaRPr lang="en-US" sz="2400"/>
          </a:p>
        </p:txBody>
      </p:sp>
    </p:spTree>
    <p:extLst>
      <p:ext uri="{BB962C8B-B14F-4D97-AF65-F5344CB8AC3E}">
        <p14:creationId xmlns:p14="http://schemas.microsoft.com/office/powerpoint/2010/main" val="1714451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D41F8-1EEC-FC4B-8BEA-D387798E6CB0}"/>
              </a:ext>
            </a:extLst>
          </p:cNvPr>
          <p:cNvSpPr>
            <a:spLocks noGrp="1"/>
          </p:cNvSpPr>
          <p:nvPr>
            <p:ph type="title"/>
          </p:nvPr>
        </p:nvSpPr>
        <p:spPr/>
        <p:txBody>
          <a:bodyPr/>
          <a:lstStyle/>
          <a:p>
            <a:r>
              <a:rPr lang="en-GB" b="1" dirty="0">
                <a:latin typeface="+mn-lt"/>
                <a:cs typeface="Arial" panose="020B0604020202020204" pitchFamily="34" charset="0"/>
              </a:rPr>
              <a:t>Overriding Methods</a:t>
            </a:r>
            <a:endParaRPr lang="en-US" b="1" dirty="0">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CB0B2AD5-A60C-7D4E-B982-61920A1291CE}"/>
              </a:ext>
            </a:extLst>
          </p:cNvPr>
          <p:cNvSpPr>
            <a:spLocks noGrp="1"/>
          </p:cNvSpPr>
          <p:nvPr>
            <p:ph idx="1"/>
          </p:nvPr>
        </p:nvSpPr>
        <p:spPr/>
        <p:txBody>
          <a:bodyPr>
            <a:normAutofit/>
          </a:bodyPr>
          <a:lstStyle/>
          <a:p>
            <a:r>
              <a:rPr lang="en-GB" sz="2400" dirty="0"/>
              <a:t> To override a method, the method must be defined in the subclass using the same header as in its superclass.</a:t>
            </a:r>
          </a:p>
          <a:p>
            <a:endParaRPr lang="en-US" sz="2400" dirty="0"/>
          </a:p>
        </p:txBody>
      </p:sp>
      <p:graphicFrame>
        <p:nvGraphicFramePr>
          <p:cNvPr id="4" name="Table 7">
            <a:extLst>
              <a:ext uri="{FF2B5EF4-FFF2-40B4-BE49-F238E27FC236}">
                <a16:creationId xmlns:a16="http://schemas.microsoft.com/office/drawing/2014/main" id="{E31BF450-4A57-7F4E-A08C-1F1177685CB6}"/>
              </a:ext>
            </a:extLst>
          </p:cNvPr>
          <p:cNvGraphicFramePr>
            <a:graphicFrameLocks noGrp="1"/>
          </p:cNvGraphicFramePr>
          <p:nvPr/>
        </p:nvGraphicFramePr>
        <p:xfrm>
          <a:off x="283832" y="2695186"/>
          <a:ext cx="5775088" cy="3305902"/>
        </p:xfrm>
        <a:graphic>
          <a:graphicData uri="http://schemas.openxmlformats.org/drawingml/2006/table">
            <a:tbl>
              <a:tblPr firstRow="1" bandRow="1">
                <a:tableStyleId>{5C22544A-7EE6-4342-B048-85BDC9FD1C3A}</a:tableStyleId>
              </a:tblPr>
              <a:tblGrid>
                <a:gridCol w="5775088">
                  <a:extLst>
                    <a:ext uri="{9D8B030D-6E8A-4147-A177-3AD203B41FA5}">
                      <a16:colId xmlns:a16="http://schemas.microsoft.com/office/drawing/2014/main" val="381975002"/>
                    </a:ext>
                  </a:extLst>
                </a:gridCol>
              </a:tblGrid>
              <a:tr h="3305902">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5" name="TextBox 4">
            <a:extLst>
              <a:ext uri="{FF2B5EF4-FFF2-40B4-BE49-F238E27FC236}">
                <a16:creationId xmlns:a16="http://schemas.microsoft.com/office/drawing/2014/main" id="{AD6B0183-7F0C-7544-935C-46B377FBCED3}"/>
              </a:ext>
            </a:extLst>
          </p:cNvPr>
          <p:cNvSpPr txBox="1"/>
          <p:nvPr/>
        </p:nvSpPr>
        <p:spPr>
          <a:xfrm>
            <a:off x="644751" y="2877068"/>
            <a:ext cx="5999252" cy="2893100"/>
          </a:xfrm>
          <a:prstGeom prst="rect">
            <a:avLst/>
          </a:prstGeom>
          <a:noFill/>
        </p:spPr>
        <p:txBody>
          <a:bodyPr wrap="square" rtlCol="0">
            <a:spAutoFit/>
          </a:bodyPr>
          <a:lstStyle/>
          <a:p>
            <a:r>
              <a:rPr lang="en-GB" sz="1400" b="1" dirty="0">
                <a:solidFill>
                  <a:srgbClr val="0A007A"/>
                </a:solidFill>
              </a:rPr>
              <a:t>class</a:t>
            </a:r>
            <a:r>
              <a:rPr lang="en-GB" sz="1400" b="1" dirty="0"/>
              <a:t> </a:t>
            </a:r>
            <a:r>
              <a:rPr lang="en-GB" sz="1400" dirty="0"/>
              <a:t>Animal:</a:t>
            </a:r>
            <a:br>
              <a:rPr lang="en-GB" sz="1400" dirty="0"/>
            </a:br>
            <a:r>
              <a:rPr lang="en-GB" sz="1400" dirty="0"/>
              <a:t>    </a:t>
            </a:r>
            <a:r>
              <a:rPr lang="en-GB" sz="1400" b="1" dirty="0">
                <a:solidFill>
                  <a:srgbClr val="0A007A"/>
                </a:solidFill>
              </a:rPr>
              <a:t>def</a:t>
            </a:r>
            <a:r>
              <a:rPr lang="en-GB" sz="1400" b="1" dirty="0"/>
              <a:t> </a:t>
            </a:r>
            <a:r>
              <a:rPr lang="en-GB" sz="1400" dirty="0">
                <a:solidFill>
                  <a:srgbClr val="C300B8"/>
                </a:solidFill>
              </a:rPr>
              <a:t>__</a:t>
            </a:r>
            <a:r>
              <a:rPr lang="en-GB" sz="1400" dirty="0" err="1">
                <a:solidFill>
                  <a:srgbClr val="C300B8"/>
                </a:solidFill>
              </a:rPr>
              <a:t>init</a:t>
            </a:r>
            <a:r>
              <a:rPr lang="en-GB" sz="1400" dirty="0">
                <a:solidFill>
                  <a:srgbClr val="C300B8"/>
                </a:solidFill>
              </a:rPr>
              <a:t>__</a:t>
            </a:r>
            <a:r>
              <a:rPr lang="en-GB" sz="1400" dirty="0">
                <a:solidFill>
                  <a:schemeClr val="tx1">
                    <a:lumMod val="95000"/>
                    <a:lumOff val="5000"/>
                  </a:schemeClr>
                </a:solidFill>
              </a:rPr>
              <a:t>(</a:t>
            </a:r>
            <a:r>
              <a:rPr lang="en-GB" sz="1400" dirty="0">
                <a:solidFill>
                  <a:srgbClr val="9E4F90"/>
                </a:solidFill>
              </a:rPr>
              <a:t>self</a:t>
            </a:r>
            <a:r>
              <a:rPr lang="en-GB" sz="1400" dirty="0"/>
              <a:t>, name, age):</a:t>
            </a:r>
            <a:br>
              <a:rPr lang="en-GB" sz="1400" dirty="0"/>
            </a:br>
            <a:r>
              <a:rPr lang="en-GB" sz="1400" dirty="0"/>
              <a:t>        </a:t>
            </a:r>
            <a:r>
              <a:rPr lang="en-GB" sz="1400" dirty="0" err="1">
                <a:solidFill>
                  <a:srgbClr val="9E4F90"/>
                </a:solidFill>
              </a:rPr>
              <a:t>self</a:t>
            </a:r>
            <a:r>
              <a:rPr lang="en-GB" sz="1400" dirty="0" err="1"/>
              <a:t>.__name</a:t>
            </a:r>
            <a:r>
              <a:rPr lang="en-GB" sz="1400" dirty="0"/>
              <a:t> = name</a:t>
            </a:r>
            <a:br>
              <a:rPr lang="en-GB" sz="1400" dirty="0"/>
            </a:br>
            <a:r>
              <a:rPr lang="en-GB" sz="1400" dirty="0"/>
              <a:t>        </a:t>
            </a:r>
            <a:r>
              <a:rPr lang="en-GB" sz="1400" dirty="0" err="1">
                <a:solidFill>
                  <a:srgbClr val="9E4F90"/>
                </a:solidFill>
              </a:rPr>
              <a:t>self</a:t>
            </a:r>
            <a:r>
              <a:rPr lang="en-GB" sz="1400" dirty="0" err="1"/>
              <a:t>.__age</a:t>
            </a:r>
            <a:r>
              <a:rPr lang="en-GB" sz="1400" dirty="0"/>
              <a:t> = age</a:t>
            </a:r>
          </a:p>
          <a:p>
            <a:r>
              <a:rPr lang="en-GB" sz="1400" dirty="0">
                <a:solidFill>
                  <a:srgbClr val="9E4F90"/>
                </a:solidFill>
              </a:rPr>
              <a:t>        </a:t>
            </a:r>
            <a:br>
              <a:rPr lang="en-GB" sz="1400" dirty="0"/>
            </a:br>
            <a:r>
              <a:rPr lang="en-GB" sz="1400" dirty="0"/>
              <a:t>    </a:t>
            </a:r>
            <a:r>
              <a:rPr lang="en-GB" sz="1400" b="1" dirty="0">
                <a:solidFill>
                  <a:srgbClr val="0A007A"/>
                </a:solidFill>
              </a:rPr>
              <a:t>def</a:t>
            </a:r>
            <a:r>
              <a:rPr lang="en-GB" sz="1400" b="1" dirty="0"/>
              <a:t> </a:t>
            </a:r>
            <a:r>
              <a:rPr lang="en-GB" sz="1400" dirty="0" err="1"/>
              <a:t>get_name</a:t>
            </a:r>
            <a:r>
              <a:rPr lang="en-GB" sz="1400" dirty="0"/>
              <a:t>(</a:t>
            </a:r>
            <a:r>
              <a:rPr lang="en-GB" sz="1400" dirty="0">
                <a:solidFill>
                  <a:srgbClr val="9E4F90"/>
                </a:solidFill>
              </a:rPr>
              <a:t>self</a:t>
            </a:r>
            <a:r>
              <a:rPr lang="en-GB" sz="1400" dirty="0"/>
              <a:t>):</a:t>
            </a:r>
            <a:br>
              <a:rPr lang="en-GB" sz="1400" dirty="0"/>
            </a:br>
            <a:r>
              <a:rPr lang="en-GB" sz="1400" dirty="0"/>
              <a:t>        </a:t>
            </a:r>
            <a:r>
              <a:rPr lang="en-GB" sz="1400" b="1" dirty="0">
                <a:solidFill>
                  <a:srgbClr val="0A007A"/>
                </a:solidFill>
              </a:rPr>
              <a:t>return</a:t>
            </a:r>
            <a:r>
              <a:rPr lang="en-GB" sz="1400" b="1" dirty="0"/>
              <a:t> </a:t>
            </a:r>
            <a:r>
              <a:rPr lang="en-GB" sz="1400" dirty="0" err="1">
                <a:solidFill>
                  <a:srgbClr val="9E4F90"/>
                </a:solidFill>
              </a:rPr>
              <a:t>self</a:t>
            </a:r>
            <a:r>
              <a:rPr lang="en-GB" sz="1400" dirty="0" err="1"/>
              <a:t>.__name</a:t>
            </a:r>
            <a:br>
              <a:rPr lang="en-GB" sz="1400" dirty="0"/>
            </a:br>
            <a:br>
              <a:rPr lang="en-GB" sz="1400" dirty="0"/>
            </a:br>
            <a:r>
              <a:rPr lang="en-GB" sz="1400" dirty="0"/>
              <a:t>    </a:t>
            </a:r>
            <a:r>
              <a:rPr lang="en-GB" sz="1400" b="1" dirty="0">
                <a:solidFill>
                  <a:srgbClr val="0A007A"/>
                </a:solidFill>
              </a:rPr>
              <a:t>def</a:t>
            </a:r>
            <a:r>
              <a:rPr lang="en-GB" sz="1400" b="1" dirty="0"/>
              <a:t> </a:t>
            </a:r>
            <a:r>
              <a:rPr lang="en-GB" sz="1400" dirty="0" err="1"/>
              <a:t>get_age</a:t>
            </a:r>
            <a:r>
              <a:rPr lang="en-GB" sz="1400" dirty="0"/>
              <a:t>(self):</a:t>
            </a:r>
            <a:br>
              <a:rPr lang="en-GB" sz="1400" dirty="0"/>
            </a:br>
            <a:r>
              <a:rPr lang="en-GB" sz="1400" dirty="0"/>
              <a:t>        </a:t>
            </a:r>
            <a:r>
              <a:rPr lang="en-GB" sz="1400" b="1" dirty="0">
                <a:solidFill>
                  <a:srgbClr val="0A007A"/>
                </a:solidFill>
              </a:rPr>
              <a:t>return</a:t>
            </a:r>
            <a:r>
              <a:rPr lang="en-GB" sz="1400" b="1" dirty="0"/>
              <a:t> </a:t>
            </a:r>
            <a:r>
              <a:rPr lang="en-GB" sz="1400" dirty="0" err="1">
                <a:solidFill>
                  <a:srgbClr val="9E4F90"/>
                </a:solidFill>
              </a:rPr>
              <a:t>self</a:t>
            </a:r>
            <a:r>
              <a:rPr lang="en-GB" sz="1400" dirty="0" err="1"/>
              <a:t>.__age</a:t>
            </a:r>
            <a:br>
              <a:rPr lang="en-GB" sz="1400" dirty="0"/>
            </a:br>
            <a:br>
              <a:rPr lang="en-GB" sz="1400" dirty="0"/>
            </a:br>
            <a:r>
              <a:rPr lang="en-GB" sz="1400" dirty="0"/>
              <a:t>    </a:t>
            </a:r>
            <a:r>
              <a:rPr lang="en-GB" sz="1400" b="1" dirty="0">
                <a:solidFill>
                  <a:srgbClr val="0A007A"/>
                </a:solidFill>
              </a:rPr>
              <a:t>def</a:t>
            </a:r>
            <a:r>
              <a:rPr lang="en-GB" sz="1400" b="1" dirty="0"/>
              <a:t> </a:t>
            </a:r>
            <a:r>
              <a:rPr lang="en-GB" sz="1400" dirty="0">
                <a:solidFill>
                  <a:srgbClr val="C300B8"/>
                </a:solidFill>
              </a:rPr>
              <a:t>__str__</a:t>
            </a:r>
            <a:r>
              <a:rPr lang="en-GB" sz="1400" dirty="0"/>
              <a:t>(</a:t>
            </a:r>
            <a:r>
              <a:rPr lang="en-GB" sz="1400" dirty="0">
                <a:solidFill>
                  <a:srgbClr val="9E4F90"/>
                </a:solidFill>
              </a:rPr>
              <a:t>self</a:t>
            </a:r>
            <a:r>
              <a:rPr lang="en-GB" sz="1400" dirty="0"/>
              <a:t>):</a:t>
            </a:r>
            <a:br>
              <a:rPr lang="en-GB" sz="1400" dirty="0"/>
            </a:br>
            <a:r>
              <a:rPr lang="en-GB" sz="1400" dirty="0"/>
              <a:t>        </a:t>
            </a:r>
            <a:r>
              <a:rPr lang="en-GB" sz="1400" b="1" dirty="0">
                <a:solidFill>
                  <a:srgbClr val="0A007A"/>
                </a:solidFill>
              </a:rPr>
              <a:t>return</a:t>
            </a:r>
            <a:r>
              <a:rPr lang="en-GB" sz="1400" b="1" dirty="0"/>
              <a:t> </a:t>
            </a:r>
            <a:r>
              <a:rPr lang="en-GB" sz="1400" dirty="0" err="1">
                <a:solidFill>
                  <a:srgbClr val="008180"/>
                </a:solidFill>
              </a:rPr>
              <a:t>f'the</a:t>
            </a:r>
            <a:r>
              <a:rPr lang="en-GB" sz="1400" dirty="0">
                <a:solidFill>
                  <a:srgbClr val="008180"/>
                </a:solidFill>
              </a:rPr>
              <a:t> Animal name is: </a:t>
            </a:r>
            <a:r>
              <a:rPr lang="en-GB" sz="1400" dirty="0"/>
              <a:t>{</a:t>
            </a:r>
            <a:r>
              <a:rPr lang="en-GB" sz="1400" dirty="0" err="1">
                <a:solidFill>
                  <a:srgbClr val="9E4F90"/>
                </a:solidFill>
              </a:rPr>
              <a:t>self</a:t>
            </a:r>
            <a:r>
              <a:rPr lang="en-GB" sz="1400" dirty="0" err="1"/>
              <a:t>.__name</a:t>
            </a:r>
            <a:r>
              <a:rPr lang="en-GB" sz="1400" dirty="0"/>
              <a:t>} </a:t>
            </a:r>
            <a:r>
              <a:rPr lang="en-GB" sz="1400" dirty="0">
                <a:solidFill>
                  <a:srgbClr val="008180"/>
                </a:solidFill>
              </a:rPr>
              <a:t>and he is: </a:t>
            </a:r>
            <a:r>
              <a:rPr lang="en-GB" sz="1400" dirty="0"/>
              <a:t>{</a:t>
            </a:r>
            <a:r>
              <a:rPr lang="en-GB" sz="1400" dirty="0" err="1">
                <a:solidFill>
                  <a:srgbClr val="9E4F90"/>
                </a:solidFill>
              </a:rPr>
              <a:t>self</a:t>
            </a:r>
            <a:r>
              <a:rPr lang="en-GB" sz="1400" dirty="0" err="1"/>
              <a:t>.__age</a:t>
            </a:r>
            <a:r>
              <a:rPr lang="en-GB" sz="1400" dirty="0"/>
              <a:t>} </a:t>
            </a:r>
            <a:r>
              <a:rPr lang="en-GB" sz="1400" dirty="0">
                <a:solidFill>
                  <a:srgbClr val="008180"/>
                </a:solidFill>
              </a:rPr>
              <a:t>years old'</a:t>
            </a:r>
            <a:endParaRPr lang="en-US" sz="1400" dirty="0">
              <a:solidFill>
                <a:srgbClr val="008180"/>
              </a:solidFill>
            </a:endParaRPr>
          </a:p>
        </p:txBody>
      </p:sp>
      <p:graphicFrame>
        <p:nvGraphicFramePr>
          <p:cNvPr id="6" name="Table 7">
            <a:extLst>
              <a:ext uri="{FF2B5EF4-FFF2-40B4-BE49-F238E27FC236}">
                <a16:creationId xmlns:a16="http://schemas.microsoft.com/office/drawing/2014/main" id="{AF6A9A9E-FF11-FB42-913A-8F1BDAA26C35}"/>
              </a:ext>
            </a:extLst>
          </p:cNvPr>
          <p:cNvGraphicFramePr>
            <a:graphicFrameLocks noGrp="1"/>
          </p:cNvGraphicFramePr>
          <p:nvPr/>
        </p:nvGraphicFramePr>
        <p:xfrm>
          <a:off x="7087402" y="2940729"/>
          <a:ext cx="4266398" cy="2505586"/>
        </p:xfrm>
        <a:graphic>
          <a:graphicData uri="http://schemas.openxmlformats.org/drawingml/2006/table">
            <a:tbl>
              <a:tblPr firstRow="1" bandRow="1">
                <a:tableStyleId>{5C22544A-7EE6-4342-B048-85BDC9FD1C3A}</a:tableStyleId>
              </a:tblPr>
              <a:tblGrid>
                <a:gridCol w="4266398">
                  <a:extLst>
                    <a:ext uri="{9D8B030D-6E8A-4147-A177-3AD203B41FA5}">
                      <a16:colId xmlns:a16="http://schemas.microsoft.com/office/drawing/2014/main" val="381975002"/>
                    </a:ext>
                  </a:extLst>
                </a:gridCol>
              </a:tblGrid>
              <a:tr h="2505586">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7" name="TextBox 6">
            <a:extLst>
              <a:ext uri="{FF2B5EF4-FFF2-40B4-BE49-F238E27FC236}">
                <a16:creationId xmlns:a16="http://schemas.microsoft.com/office/drawing/2014/main" id="{CBFF8CDD-F156-A744-82D1-35EAD26FB6FB}"/>
              </a:ext>
            </a:extLst>
          </p:cNvPr>
          <p:cNvSpPr txBox="1"/>
          <p:nvPr/>
        </p:nvSpPr>
        <p:spPr>
          <a:xfrm>
            <a:off x="7232546" y="2984102"/>
            <a:ext cx="3236335" cy="2462213"/>
          </a:xfrm>
          <a:prstGeom prst="rect">
            <a:avLst/>
          </a:prstGeom>
          <a:noFill/>
        </p:spPr>
        <p:txBody>
          <a:bodyPr wrap="none" rtlCol="0">
            <a:spAutoFit/>
          </a:bodyPr>
          <a:lstStyle/>
          <a:p>
            <a:r>
              <a:rPr lang="en-GB" sz="1400" b="1" dirty="0">
                <a:solidFill>
                  <a:srgbClr val="0A007A"/>
                </a:solidFill>
              </a:rPr>
              <a:t>class</a:t>
            </a:r>
            <a:r>
              <a:rPr lang="en-GB" sz="1400" b="1" dirty="0"/>
              <a:t> </a:t>
            </a:r>
            <a:r>
              <a:rPr lang="en-GB" sz="1400" dirty="0"/>
              <a:t>Cat(Animal):</a:t>
            </a:r>
            <a:br>
              <a:rPr lang="en-GB" sz="1400" b="1" dirty="0"/>
            </a:br>
            <a:r>
              <a:rPr lang="en-GB" sz="1400" b="1" dirty="0"/>
              <a:t>    </a:t>
            </a:r>
          </a:p>
          <a:p>
            <a:r>
              <a:rPr lang="en-GB" sz="1400" b="1" dirty="0"/>
              <a:t>    </a:t>
            </a:r>
            <a:r>
              <a:rPr lang="en-GB" sz="1400" b="1" dirty="0">
                <a:solidFill>
                  <a:srgbClr val="0A007A"/>
                </a:solidFill>
              </a:rPr>
              <a:t>def</a:t>
            </a:r>
            <a:r>
              <a:rPr lang="en-GB" sz="1400" b="1" dirty="0"/>
              <a:t> </a:t>
            </a:r>
            <a:r>
              <a:rPr lang="en-GB" sz="1400" dirty="0">
                <a:solidFill>
                  <a:srgbClr val="C300B8"/>
                </a:solidFill>
              </a:rPr>
              <a:t>__</a:t>
            </a:r>
            <a:r>
              <a:rPr lang="en-GB" sz="1400" dirty="0" err="1">
                <a:solidFill>
                  <a:srgbClr val="C300B8"/>
                </a:solidFill>
              </a:rPr>
              <a:t>init</a:t>
            </a:r>
            <a:r>
              <a:rPr lang="en-GB" sz="1400" dirty="0">
                <a:solidFill>
                  <a:srgbClr val="C300B8"/>
                </a:solidFill>
              </a:rPr>
              <a:t>__</a:t>
            </a:r>
            <a:r>
              <a:rPr lang="en-GB" sz="1400" dirty="0"/>
              <a:t>(</a:t>
            </a:r>
            <a:r>
              <a:rPr lang="en-GB" sz="1400" dirty="0">
                <a:solidFill>
                  <a:srgbClr val="9E4F90"/>
                </a:solidFill>
              </a:rPr>
              <a:t>self</a:t>
            </a:r>
            <a:r>
              <a:rPr lang="en-GB" sz="1400" dirty="0"/>
              <a:t>, name, age, id):</a:t>
            </a:r>
            <a:br>
              <a:rPr lang="en-GB" sz="1400" dirty="0"/>
            </a:br>
            <a:r>
              <a:rPr lang="en-GB" sz="1400" dirty="0"/>
              <a:t>          </a:t>
            </a:r>
            <a:r>
              <a:rPr lang="en-GB" sz="1400" b="1" dirty="0"/>
              <a:t>super</a:t>
            </a:r>
            <a:r>
              <a:rPr lang="en-GB" sz="1400" dirty="0"/>
              <a:t>().__</a:t>
            </a:r>
            <a:r>
              <a:rPr lang="en-GB" sz="1400" dirty="0" err="1"/>
              <a:t>init</a:t>
            </a:r>
            <a:r>
              <a:rPr lang="en-GB" sz="1400" dirty="0"/>
              <a:t>__(name, age)  </a:t>
            </a:r>
          </a:p>
          <a:p>
            <a:r>
              <a:rPr lang="en-GB" sz="1400" dirty="0">
                <a:solidFill>
                  <a:srgbClr val="9E4F90"/>
                </a:solidFill>
              </a:rPr>
              <a:t>          </a:t>
            </a:r>
            <a:r>
              <a:rPr lang="en-GB" sz="1400" dirty="0" err="1">
                <a:solidFill>
                  <a:srgbClr val="9E4F90"/>
                </a:solidFill>
              </a:rPr>
              <a:t>self</a:t>
            </a:r>
            <a:r>
              <a:rPr lang="en-GB" sz="1400" dirty="0" err="1"/>
              <a:t>.__id</a:t>
            </a:r>
            <a:r>
              <a:rPr lang="en-GB" sz="1400" dirty="0"/>
              <a:t> = id</a:t>
            </a:r>
            <a:br>
              <a:rPr lang="en-GB" sz="1400" i="1" dirty="0"/>
            </a:br>
            <a:br>
              <a:rPr lang="en-GB" sz="1400" i="1" dirty="0"/>
            </a:br>
            <a:r>
              <a:rPr lang="en-GB" sz="1400" i="1" dirty="0"/>
              <a:t>    </a:t>
            </a:r>
            <a:r>
              <a:rPr lang="en-GB" sz="1400" b="1" dirty="0">
                <a:solidFill>
                  <a:srgbClr val="0A007A"/>
                </a:solidFill>
              </a:rPr>
              <a:t>def</a:t>
            </a:r>
            <a:r>
              <a:rPr lang="en-GB" sz="1400" b="1" dirty="0"/>
              <a:t> </a:t>
            </a:r>
            <a:r>
              <a:rPr lang="en-GB" sz="1400" dirty="0"/>
              <a:t>hunts(</a:t>
            </a:r>
            <a:r>
              <a:rPr lang="en-GB" sz="1400" dirty="0">
                <a:solidFill>
                  <a:srgbClr val="9E4F90"/>
                </a:solidFill>
              </a:rPr>
              <a:t>self</a:t>
            </a:r>
            <a:r>
              <a:rPr lang="en-GB" sz="1400" dirty="0"/>
              <a:t>):</a:t>
            </a:r>
            <a:br>
              <a:rPr lang="en-GB" sz="1400" dirty="0"/>
            </a:br>
            <a:r>
              <a:rPr lang="en-GB" sz="1400" dirty="0"/>
              <a:t>        </a:t>
            </a:r>
            <a:r>
              <a:rPr lang="en-GB" sz="1400" b="1" dirty="0">
                <a:solidFill>
                  <a:srgbClr val="0A007A"/>
                </a:solidFill>
              </a:rPr>
              <a:t>return</a:t>
            </a:r>
            <a:r>
              <a:rPr lang="en-GB" sz="1400" b="1" dirty="0"/>
              <a:t> </a:t>
            </a:r>
            <a:r>
              <a:rPr lang="en-GB" sz="1400" dirty="0">
                <a:solidFill>
                  <a:srgbClr val="008180"/>
                </a:solidFill>
              </a:rPr>
              <a:t>f' it is:</a:t>
            </a:r>
            <a:r>
              <a:rPr lang="en-GB" sz="1400" dirty="0"/>
              <a:t> {</a:t>
            </a:r>
            <a:r>
              <a:rPr lang="en-GB" sz="1400" b="1" dirty="0">
                <a:solidFill>
                  <a:srgbClr val="0A007A"/>
                </a:solidFill>
              </a:rPr>
              <a:t>True</a:t>
            </a:r>
            <a:r>
              <a:rPr lang="en-GB" sz="1400" dirty="0"/>
              <a:t>} </a:t>
            </a:r>
            <a:r>
              <a:rPr lang="en-GB" sz="1400" dirty="0">
                <a:solidFill>
                  <a:srgbClr val="008180"/>
                </a:solidFill>
              </a:rPr>
              <a:t>cuts are hunting '</a:t>
            </a:r>
            <a:br>
              <a:rPr lang="en-GB" sz="1400" dirty="0"/>
            </a:br>
            <a:br>
              <a:rPr lang="en-GB" sz="1400" dirty="0"/>
            </a:br>
            <a:r>
              <a:rPr lang="en-GB" sz="1400" b="1" dirty="0"/>
              <a:t>    </a:t>
            </a:r>
            <a:r>
              <a:rPr lang="en-GB" sz="1400" b="1" dirty="0">
                <a:solidFill>
                  <a:srgbClr val="0A007A"/>
                </a:solidFill>
              </a:rPr>
              <a:t>def</a:t>
            </a:r>
            <a:r>
              <a:rPr lang="en-GB" sz="1400" b="1" dirty="0"/>
              <a:t> </a:t>
            </a:r>
            <a:r>
              <a:rPr lang="en-GB" sz="1400" dirty="0">
                <a:solidFill>
                  <a:srgbClr val="C300B8"/>
                </a:solidFill>
              </a:rPr>
              <a:t>__str__</a:t>
            </a:r>
            <a:r>
              <a:rPr lang="en-GB" sz="1400" dirty="0"/>
              <a:t>(</a:t>
            </a:r>
            <a:r>
              <a:rPr lang="en-GB" sz="1400" dirty="0">
                <a:solidFill>
                  <a:srgbClr val="9E4F90"/>
                </a:solidFill>
              </a:rPr>
              <a:t>self</a:t>
            </a:r>
            <a:r>
              <a:rPr lang="en-GB" sz="1400" dirty="0"/>
              <a:t>):</a:t>
            </a:r>
            <a:br>
              <a:rPr lang="en-GB" sz="1400" dirty="0"/>
            </a:br>
            <a:r>
              <a:rPr lang="en-GB" sz="1400" dirty="0"/>
              <a:t>        </a:t>
            </a:r>
            <a:r>
              <a:rPr lang="en-GB" sz="1400" b="1" dirty="0"/>
              <a:t>return </a:t>
            </a:r>
            <a:r>
              <a:rPr lang="en-GB" sz="1400" dirty="0"/>
              <a:t>super().</a:t>
            </a:r>
            <a:r>
              <a:rPr lang="en-GB" sz="1400" dirty="0">
                <a:solidFill>
                  <a:srgbClr val="C300B8"/>
                </a:solidFill>
              </a:rPr>
              <a:t>__str__</a:t>
            </a:r>
            <a:r>
              <a:rPr lang="en-GB" sz="1400" dirty="0"/>
              <a:t>() + </a:t>
            </a:r>
            <a:r>
              <a:rPr lang="en-GB" sz="1400" dirty="0" err="1">
                <a:solidFill>
                  <a:srgbClr val="9E4F90"/>
                </a:solidFill>
              </a:rPr>
              <a:t>self</a:t>
            </a:r>
            <a:r>
              <a:rPr lang="en-GB" sz="1400" dirty="0" err="1"/>
              <a:t>.hunts</a:t>
            </a:r>
            <a:r>
              <a:rPr lang="en-GB" sz="1400" dirty="0"/>
              <a:t>()</a:t>
            </a:r>
            <a:endParaRPr lang="en-US" sz="1400" dirty="0"/>
          </a:p>
        </p:txBody>
      </p:sp>
      <p:sp>
        <p:nvSpPr>
          <p:cNvPr id="8" name="Rounded Rectangle 7">
            <a:extLst>
              <a:ext uri="{FF2B5EF4-FFF2-40B4-BE49-F238E27FC236}">
                <a16:creationId xmlns:a16="http://schemas.microsoft.com/office/drawing/2014/main" id="{0DDC63FF-02EF-1840-9932-32C485F01888}"/>
              </a:ext>
            </a:extLst>
          </p:cNvPr>
          <p:cNvSpPr/>
          <p:nvPr/>
        </p:nvSpPr>
        <p:spPr>
          <a:xfrm>
            <a:off x="308833" y="5263418"/>
            <a:ext cx="5725086" cy="702920"/>
          </a:xfrm>
          <a:prstGeom prst="roundRect">
            <a:avLst/>
          </a:prstGeom>
          <a:solidFill>
            <a:schemeClr val="accent3">
              <a:alpha val="21000"/>
            </a:schemeClr>
          </a:solidFill>
          <a:ln>
            <a:solidFill>
              <a:schemeClr val="accent3">
                <a:shade val="50000"/>
                <a:alpha val="8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AC6CC140-8382-0948-A04E-896207B78EE5}"/>
              </a:ext>
            </a:extLst>
          </p:cNvPr>
          <p:cNvSpPr/>
          <p:nvPr/>
        </p:nvSpPr>
        <p:spPr>
          <a:xfrm>
            <a:off x="7087402" y="4667871"/>
            <a:ext cx="4266398" cy="762512"/>
          </a:xfrm>
          <a:prstGeom prst="roundRect">
            <a:avLst/>
          </a:prstGeom>
          <a:solidFill>
            <a:schemeClr val="accent3">
              <a:alpha val="21000"/>
            </a:schemeClr>
          </a:solidFill>
          <a:ln>
            <a:solidFill>
              <a:schemeClr val="accent3">
                <a:shade val="50000"/>
                <a:alpha val="8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B1015CF5-7C62-5244-BBB8-C61E9B65F50B}"/>
              </a:ext>
            </a:extLst>
          </p:cNvPr>
          <p:cNvCxnSpPr>
            <a:cxnSpLocks/>
          </p:cNvCxnSpPr>
          <p:nvPr/>
        </p:nvCxnSpPr>
        <p:spPr>
          <a:xfrm flipV="1">
            <a:off x="6083921" y="5241597"/>
            <a:ext cx="1173871" cy="373281"/>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1" name="Shape 9">
            <a:extLst>
              <a:ext uri="{FF2B5EF4-FFF2-40B4-BE49-F238E27FC236}">
                <a16:creationId xmlns:a16="http://schemas.microsoft.com/office/drawing/2014/main" id="{B7484DA5-A87E-F222-90ED-E88C229D9147}"/>
              </a:ext>
            </a:extLst>
          </p:cNvPr>
          <p:cNvSpPr/>
          <p:nvPr/>
        </p:nvSpPr>
        <p:spPr>
          <a:xfrm>
            <a:off x="283831" y="2692990"/>
            <a:ext cx="45719" cy="3273348"/>
          </a:xfrm>
          <a:prstGeom prst="rect">
            <a:avLst/>
          </a:prstGeom>
          <a:solidFill>
            <a:srgbClr val="0055FF"/>
          </a:solidFill>
          <a:ln/>
        </p:spPr>
        <p:txBody>
          <a:bodyPr/>
          <a:lstStyle/>
          <a:p>
            <a:endParaRPr lang="en-US" sz="2400"/>
          </a:p>
        </p:txBody>
      </p:sp>
      <p:sp>
        <p:nvSpPr>
          <p:cNvPr id="12" name="Shape 9">
            <a:extLst>
              <a:ext uri="{FF2B5EF4-FFF2-40B4-BE49-F238E27FC236}">
                <a16:creationId xmlns:a16="http://schemas.microsoft.com/office/drawing/2014/main" id="{57C0B773-49E6-8CFE-7303-81C0E3AF5092}"/>
              </a:ext>
            </a:extLst>
          </p:cNvPr>
          <p:cNvSpPr/>
          <p:nvPr/>
        </p:nvSpPr>
        <p:spPr>
          <a:xfrm>
            <a:off x="7025566" y="2877068"/>
            <a:ext cx="45719" cy="1897838"/>
          </a:xfrm>
          <a:prstGeom prst="rect">
            <a:avLst/>
          </a:prstGeom>
          <a:solidFill>
            <a:srgbClr val="0055FF"/>
          </a:solidFill>
          <a:ln/>
        </p:spPr>
        <p:txBody>
          <a:bodyPr/>
          <a:lstStyle/>
          <a:p>
            <a:endParaRPr lang="en-US" sz="2400"/>
          </a:p>
        </p:txBody>
      </p:sp>
    </p:spTree>
    <p:extLst>
      <p:ext uri="{BB962C8B-B14F-4D97-AF65-F5344CB8AC3E}">
        <p14:creationId xmlns:p14="http://schemas.microsoft.com/office/powerpoint/2010/main" val="2970240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45A7-8E4C-4340-A3F9-B782F250CC26}"/>
              </a:ext>
            </a:extLst>
          </p:cNvPr>
          <p:cNvSpPr>
            <a:spLocks noGrp="1"/>
          </p:cNvSpPr>
          <p:nvPr>
            <p:ph type="title"/>
          </p:nvPr>
        </p:nvSpPr>
        <p:spPr/>
        <p:txBody>
          <a:bodyPr/>
          <a:lstStyle/>
          <a:p>
            <a:r>
              <a:rPr lang="en-US" b="1" dirty="0">
                <a:latin typeface="+mn-lt"/>
                <a:cs typeface="Arial" panose="020B0604020202020204" pitchFamily="34" charset="0"/>
              </a:rPr>
              <a:t>The Python Object Class</a:t>
            </a:r>
          </a:p>
        </p:txBody>
      </p:sp>
      <p:sp>
        <p:nvSpPr>
          <p:cNvPr id="3" name="Content Placeholder 2">
            <a:extLst>
              <a:ext uri="{FF2B5EF4-FFF2-40B4-BE49-F238E27FC236}">
                <a16:creationId xmlns:a16="http://schemas.microsoft.com/office/drawing/2014/main" id="{F4EBC88D-D241-EB47-9B53-DD9276F965AE}"/>
              </a:ext>
            </a:extLst>
          </p:cNvPr>
          <p:cNvSpPr>
            <a:spLocks noGrp="1"/>
          </p:cNvSpPr>
          <p:nvPr>
            <p:ph idx="1"/>
          </p:nvPr>
        </p:nvSpPr>
        <p:spPr/>
        <p:txBody>
          <a:bodyPr>
            <a:normAutofit/>
          </a:bodyPr>
          <a:lstStyle/>
          <a:p>
            <a:r>
              <a:rPr lang="en-GB" sz="2400" dirty="0"/>
              <a:t>Every class in Python is descended from the object class.</a:t>
            </a:r>
          </a:p>
          <a:p>
            <a:r>
              <a:rPr lang="en-GB" sz="2400" dirty="0"/>
              <a:t>The object  class is defined in the Python library. If no inheritance is specified when a class is defined, its superclass is object  by default. </a:t>
            </a:r>
          </a:p>
          <a:p>
            <a:endParaRPr lang="en-GB" sz="2400" dirty="0"/>
          </a:p>
          <a:p>
            <a:pPr lvl="1"/>
            <a:r>
              <a:rPr lang="en-GB" sz="2000" dirty="0"/>
              <a:t> The </a:t>
            </a:r>
            <a:r>
              <a:rPr lang="en-GB" sz="2000" dirty="0">
                <a:solidFill>
                  <a:srgbClr val="C300B8"/>
                </a:solidFill>
              </a:rPr>
              <a:t>__new__()  </a:t>
            </a:r>
            <a:r>
              <a:rPr lang="en-GB" sz="2000" dirty="0"/>
              <a:t>method is automatically invoked when an object is constructed.</a:t>
            </a:r>
          </a:p>
          <a:p>
            <a:pPr lvl="1"/>
            <a:endParaRPr lang="en-GB" sz="2000" dirty="0"/>
          </a:p>
          <a:p>
            <a:pPr lvl="1"/>
            <a:r>
              <a:rPr lang="en-GB" sz="2000" dirty="0"/>
              <a:t>This method then invokes the </a:t>
            </a:r>
            <a:r>
              <a:rPr lang="en-GB" sz="2000" dirty="0">
                <a:solidFill>
                  <a:srgbClr val="C300B8"/>
                </a:solidFill>
              </a:rPr>
              <a:t>__</a:t>
            </a:r>
            <a:r>
              <a:rPr lang="en-GB" sz="2000" dirty="0" err="1">
                <a:solidFill>
                  <a:srgbClr val="C300B8"/>
                </a:solidFill>
              </a:rPr>
              <a:t>init</a:t>
            </a:r>
            <a:r>
              <a:rPr lang="en-GB" sz="2000" dirty="0">
                <a:solidFill>
                  <a:srgbClr val="C300B8"/>
                </a:solidFill>
              </a:rPr>
              <a:t>__()  </a:t>
            </a:r>
            <a:r>
              <a:rPr lang="en-GB" sz="2000" dirty="0"/>
              <a:t>method to initialize the object. </a:t>
            </a:r>
            <a:r>
              <a:rPr lang="en-GB" sz="1400" dirty="0"/>
              <a:t>Normally we only override the </a:t>
            </a:r>
            <a:r>
              <a:rPr lang="en-GB" sz="1400" dirty="0">
                <a:solidFill>
                  <a:srgbClr val="C300B8"/>
                </a:solidFill>
              </a:rPr>
              <a:t>__</a:t>
            </a:r>
            <a:r>
              <a:rPr lang="en-GB" sz="1400" dirty="0" err="1">
                <a:solidFill>
                  <a:srgbClr val="C300B8"/>
                </a:solidFill>
              </a:rPr>
              <a:t>init</a:t>
            </a:r>
            <a:r>
              <a:rPr lang="en-GB" sz="1400" dirty="0">
                <a:solidFill>
                  <a:srgbClr val="C300B8"/>
                </a:solidFill>
              </a:rPr>
              <a:t>__()  </a:t>
            </a:r>
            <a:r>
              <a:rPr lang="en-GB" sz="1400" dirty="0"/>
              <a:t>method to initialize the data fields defined in the new class.</a:t>
            </a:r>
          </a:p>
          <a:p>
            <a:pPr marL="457200" lvl="1" indent="0">
              <a:buNone/>
            </a:pPr>
            <a:endParaRPr lang="en-GB" sz="1400" dirty="0"/>
          </a:p>
          <a:p>
            <a:pPr lvl="1"/>
            <a:r>
              <a:rPr lang="en-GB" sz="2000" dirty="0"/>
              <a:t>The </a:t>
            </a:r>
            <a:r>
              <a:rPr lang="en-GB" sz="2000" dirty="0">
                <a:solidFill>
                  <a:srgbClr val="C300B8"/>
                </a:solidFill>
              </a:rPr>
              <a:t>__str__()  </a:t>
            </a:r>
            <a:r>
              <a:rPr lang="en-GB" sz="2000" dirty="0"/>
              <a:t>method returns a string description/representation for the object</a:t>
            </a:r>
          </a:p>
          <a:p>
            <a:endParaRPr lang="en-GB" sz="2400" dirty="0"/>
          </a:p>
          <a:p>
            <a:endParaRPr lang="en-US" sz="2400" dirty="0"/>
          </a:p>
        </p:txBody>
      </p:sp>
    </p:spTree>
    <p:extLst>
      <p:ext uri="{BB962C8B-B14F-4D97-AF65-F5344CB8AC3E}">
        <p14:creationId xmlns:p14="http://schemas.microsoft.com/office/powerpoint/2010/main" val="1353085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7">
            <a:extLst>
              <a:ext uri="{FF2B5EF4-FFF2-40B4-BE49-F238E27FC236}">
                <a16:creationId xmlns:a16="http://schemas.microsoft.com/office/drawing/2014/main" id="{55A9C7E6-3F63-FC4D-A6B9-5E22AEC5D8DD}"/>
              </a:ext>
            </a:extLst>
          </p:cNvPr>
          <p:cNvGraphicFramePr>
            <a:graphicFrameLocks noGrp="1"/>
          </p:cNvGraphicFramePr>
          <p:nvPr/>
        </p:nvGraphicFramePr>
        <p:xfrm>
          <a:off x="4702628" y="2330062"/>
          <a:ext cx="4231830" cy="4527938"/>
        </p:xfrm>
        <a:graphic>
          <a:graphicData uri="http://schemas.openxmlformats.org/drawingml/2006/table">
            <a:tbl>
              <a:tblPr firstRow="1" bandRow="1">
                <a:tableStyleId>{5C22544A-7EE6-4342-B048-85BDC9FD1C3A}</a:tableStyleId>
              </a:tblPr>
              <a:tblGrid>
                <a:gridCol w="4231830">
                  <a:extLst>
                    <a:ext uri="{9D8B030D-6E8A-4147-A177-3AD203B41FA5}">
                      <a16:colId xmlns:a16="http://schemas.microsoft.com/office/drawing/2014/main" val="381975002"/>
                    </a:ext>
                  </a:extLst>
                </a:gridCol>
              </a:tblGrid>
              <a:tr h="4527938">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314BCB0C-2CF9-AF4F-BA13-94E61B0F2075}"/>
              </a:ext>
            </a:extLst>
          </p:cNvPr>
          <p:cNvSpPr>
            <a:spLocks noGrp="1"/>
          </p:cNvSpPr>
          <p:nvPr>
            <p:ph type="title"/>
          </p:nvPr>
        </p:nvSpPr>
        <p:spPr/>
        <p:txBody>
          <a:bodyPr/>
          <a:lstStyle/>
          <a:p>
            <a:r>
              <a:rPr lang="en-GB" b="1" dirty="0">
                <a:latin typeface="+mn-lt"/>
                <a:cs typeface="Arial" panose="020B0604020202020204" pitchFamily="34" charset="0"/>
              </a:rPr>
              <a:t>Using </a:t>
            </a:r>
            <a:r>
              <a:rPr lang="en-GB" b="1" dirty="0" err="1">
                <a:latin typeface="+mn-lt"/>
                <a:cs typeface="Arial" panose="020B0604020202020204" pitchFamily="34" charset="0"/>
              </a:rPr>
              <a:t>isinstance</a:t>
            </a:r>
            <a:r>
              <a:rPr lang="en-GB" b="1" dirty="0">
                <a:latin typeface="+mn-lt"/>
                <a:cs typeface="Arial" panose="020B0604020202020204" pitchFamily="34" charset="0"/>
              </a:rPr>
              <a:t>()</a:t>
            </a:r>
            <a:endParaRPr lang="en-US" b="1" dirty="0">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0FDFAD4C-C9AE-0344-8D71-79C4833D6153}"/>
              </a:ext>
            </a:extLst>
          </p:cNvPr>
          <p:cNvSpPr>
            <a:spLocks noGrp="1"/>
          </p:cNvSpPr>
          <p:nvPr>
            <p:ph idx="1"/>
          </p:nvPr>
        </p:nvSpPr>
        <p:spPr/>
        <p:txBody>
          <a:bodyPr>
            <a:normAutofit/>
          </a:bodyPr>
          <a:lstStyle/>
          <a:p>
            <a:r>
              <a:rPr lang="en-GB" sz="2400" dirty="0"/>
              <a:t> The </a:t>
            </a:r>
            <a:r>
              <a:rPr lang="en-GB" sz="2400" dirty="0" err="1"/>
              <a:t>isinstance</a:t>
            </a:r>
            <a:r>
              <a:rPr lang="en-GB" sz="2400" dirty="0"/>
              <a:t>  function can be used to determine whether an object is an instance of a class.</a:t>
            </a:r>
          </a:p>
          <a:p>
            <a:endParaRPr lang="en-GB" sz="2400" dirty="0"/>
          </a:p>
          <a:p>
            <a:endParaRPr lang="en-US" sz="2400" dirty="0"/>
          </a:p>
        </p:txBody>
      </p:sp>
      <p:sp>
        <p:nvSpPr>
          <p:cNvPr id="4" name="TextBox 3">
            <a:extLst>
              <a:ext uri="{FF2B5EF4-FFF2-40B4-BE49-F238E27FC236}">
                <a16:creationId xmlns:a16="http://schemas.microsoft.com/office/drawing/2014/main" id="{CA364F3E-5F6A-BD41-AF37-3FF74B017A35}"/>
              </a:ext>
            </a:extLst>
          </p:cNvPr>
          <p:cNvSpPr txBox="1"/>
          <p:nvPr/>
        </p:nvSpPr>
        <p:spPr>
          <a:xfrm>
            <a:off x="4702628" y="2403306"/>
            <a:ext cx="3397790" cy="4308872"/>
          </a:xfrm>
          <a:prstGeom prst="rect">
            <a:avLst/>
          </a:prstGeom>
          <a:noFill/>
        </p:spPr>
        <p:txBody>
          <a:bodyPr wrap="none" rtlCol="0">
            <a:spAutoFit/>
          </a:bodyPr>
          <a:lstStyle/>
          <a:p>
            <a:r>
              <a:rPr lang="en-GB" sz="1600" b="1" dirty="0">
                <a:solidFill>
                  <a:srgbClr val="0A007A"/>
                </a:solidFill>
              </a:rPr>
              <a:t>def</a:t>
            </a:r>
            <a:r>
              <a:rPr lang="en-GB" sz="1600" dirty="0"/>
              <a:t> main():</a:t>
            </a:r>
            <a:br>
              <a:rPr lang="en-GB" sz="1600" dirty="0"/>
            </a:br>
            <a:r>
              <a:rPr lang="en-GB" sz="1600" dirty="0"/>
              <a:t>    </a:t>
            </a:r>
            <a:r>
              <a:rPr lang="en-GB" sz="1600" dirty="0" err="1"/>
              <a:t>vuk</a:t>
            </a:r>
            <a:r>
              <a:rPr lang="en-GB" sz="1600" dirty="0"/>
              <a:t> = Dog(</a:t>
            </a:r>
            <a:r>
              <a:rPr lang="en-GB" sz="1600" dirty="0">
                <a:solidFill>
                  <a:srgbClr val="008180"/>
                </a:solidFill>
              </a:rPr>
              <a:t>'Vuk'</a:t>
            </a:r>
            <a:r>
              <a:rPr lang="en-GB" sz="1600" dirty="0"/>
              <a:t>, </a:t>
            </a:r>
            <a:r>
              <a:rPr lang="en-GB" sz="1600" dirty="0">
                <a:solidFill>
                  <a:srgbClr val="2300FF"/>
                </a:solidFill>
              </a:rPr>
              <a:t>5</a:t>
            </a:r>
            <a:r>
              <a:rPr lang="en-GB" sz="1600" dirty="0"/>
              <a:t>,</a:t>
            </a:r>
            <a:r>
              <a:rPr lang="en-GB" sz="1600" dirty="0">
                <a:solidFill>
                  <a:srgbClr val="008180"/>
                </a:solidFill>
              </a:rPr>
              <a:t>Hasky'</a:t>
            </a:r>
            <a:r>
              <a:rPr lang="en-GB" sz="1600" dirty="0"/>
              <a:t>)</a:t>
            </a:r>
            <a:br>
              <a:rPr lang="en-GB" sz="1600" dirty="0"/>
            </a:br>
            <a:r>
              <a:rPr lang="en-GB" sz="1600" dirty="0"/>
              <a:t>    princess = Dog(</a:t>
            </a:r>
            <a:r>
              <a:rPr lang="en-GB" sz="1600" dirty="0">
                <a:solidFill>
                  <a:srgbClr val="008180"/>
                </a:solidFill>
              </a:rPr>
              <a:t>'Princess'</a:t>
            </a:r>
            <a:r>
              <a:rPr lang="en-GB" sz="1600" dirty="0"/>
              <a:t>, </a:t>
            </a:r>
            <a:r>
              <a:rPr lang="en-GB" sz="1600" dirty="0">
                <a:solidFill>
                  <a:srgbClr val="2300FF"/>
                </a:solidFill>
              </a:rPr>
              <a:t>2</a:t>
            </a:r>
            <a:r>
              <a:rPr lang="en-GB" sz="1600" dirty="0"/>
              <a:t>, </a:t>
            </a:r>
            <a:r>
              <a:rPr lang="en-GB" sz="1600" dirty="0">
                <a:solidFill>
                  <a:srgbClr val="008180"/>
                </a:solidFill>
              </a:rPr>
              <a:t>Poodle'</a:t>
            </a:r>
            <a:r>
              <a:rPr lang="en-GB" sz="1600" dirty="0"/>
              <a:t>)</a:t>
            </a:r>
            <a:br>
              <a:rPr lang="en-GB" sz="1600" dirty="0"/>
            </a:br>
            <a:r>
              <a:rPr lang="en-GB" sz="1600" dirty="0"/>
              <a:t>    bark = Dog(</a:t>
            </a:r>
            <a:r>
              <a:rPr lang="en-GB" sz="1600" dirty="0">
                <a:solidFill>
                  <a:srgbClr val="008180"/>
                </a:solidFill>
              </a:rPr>
              <a:t>'Bark'</a:t>
            </a:r>
            <a:r>
              <a:rPr lang="en-GB" sz="1600" dirty="0"/>
              <a:t>, </a:t>
            </a:r>
            <a:r>
              <a:rPr lang="en-GB" sz="1600" dirty="0">
                <a:solidFill>
                  <a:srgbClr val="2300FF"/>
                </a:solidFill>
              </a:rPr>
              <a:t>4</a:t>
            </a:r>
            <a:r>
              <a:rPr lang="en-GB" sz="1600" dirty="0"/>
              <a:t>, </a:t>
            </a:r>
            <a:r>
              <a:rPr lang="en-GB" sz="1600" dirty="0">
                <a:solidFill>
                  <a:srgbClr val="008180"/>
                </a:solidFill>
              </a:rPr>
              <a:t>Hasky'</a:t>
            </a:r>
            <a:r>
              <a:rPr lang="en-GB" sz="1600" dirty="0"/>
              <a:t>)</a:t>
            </a:r>
            <a:br>
              <a:rPr lang="en-GB" sz="1600" dirty="0"/>
            </a:br>
            <a:r>
              <a:rPr lang="en-GB" sz="1600" dirty="0"/>
              <a:t>    </a:t>
            </a:r>
            <a:r>
              <a:rPr lang="en-GB" sz="1600" dirty="0" err="1"/>
              <a:t>piko</a:t>
            </a:r>
            <a:r>
              <a:rPr lang="en-GB" sz="1600" dirty="0"/>
              <a:t> = Cat(</a:t>
            </a:r>
            <a:r>
              <a:rPr lang="en-GB" sz="1600" dirty="0">
                <a:solidFill>
                  <a:srgbClr val="008180"/>
                </a:solidFill>
              </a:rPr>
              <a:t>'Piko’</a:t>
            </a:r>
            <a:r>
              <a:rPr lang="en-GB" sz="1600" dirty="0"/>
              <a:t>,</a:t>
            </a:r>
            <a:r>
              <a:rPr lang="en-GB" sz="1600" dirty="0">
                <a:solidFill>
                  <a:srgbClr val="2300FF"/>
                </a:solidFill>
              </a:rPr>
              <a:t>2</a:t>
            </a:r>
            <a:r>
              <a:rPr lang="en-GB" sz="1600" dirty="0"/>
              <a:t>,</a:t>
            </a:r>
            <a:r>
              <a:rPr lang="en-GB" sz="1600" dirty="0">
                <a:solidFill>
                  <a:srgbClr val="008180"/>
                </a:solidFill>
              </a:rPr>
              <a:t>Ragdool'</a:t>
            </a:r>
            <a:r>
              <a:rPr lang="en-GB" sz="1600" dirty="0"/>
              <a:t>)</a:t>
            </a:r>
            <a:br>
              <a:rPr lang="en-GB" sz="1600" dirty="0"/>
            </a:br>
            <a:r>
              <a:rPr lang="en-GB" sz="1600" dirty="0"/>
              <a:t>    </a:t>
            </a:r>
            <a:r>
              <a:rPr lang="en-GB" sz="1600" dirty="0" err="1"/>
              <a:t>poko</a:t>
            </a:r>
            <a:r>
              <a:rPr lang="en-GB" sz="1600" dirty="0"/>
              <a:t> = Cat(</a:t>
            </a:r>
            <a:r>
              <a:rPr lang="en-GB" sz="1600" dirty="0">
                <a:solidFill>
                  <a:srgbClr val="008180"/>
                </a:solidFill>
              </a:rPr>
              <a:t>'Poko'</a:t>
            </a:r>
            <a:r>
              <a:rPr lang="en-GB" sz="1600" dirty="0"/>
              <a:t>,</a:t>
            </a:r>
            <a:r>
              <a:rPr lang="en-GB" sz="1600" dirty="0">
                <a:solidFill>
                  <a:srgbClr val="2300FF"/>
                </a:solidFill>
              </a:rPr>
              <a:t>1</a:t>
            </a:r>
            <a:r>
              <a:rPr lang="en-GB" sz="1600" dirty="0"/>
              <a:t>, </a:t>
            </a:r>
            <a:r>
              <a:rPr lang="en-GB" sz="1600" dirty="0" err="1">
                <a:solidFill>
                  <a:srgbClr val="008180"/>
                </a:solidFill>
              </a:rPr>
              <a:t>Ragdool</a:t>
            </a:r>
            <a:r>
              <a:rPr lang="en-GB" sz="1600" dirty="0">
                <a:solidFill>
                  <a:srgbClr val="008180"/>
                </a:solidFill>
              </a:rPr>
              <a:t>’</a:t>
            </a:r>
            <a:r>
              <a:rPr lang="en-GB" sz="1600" dirty="0"/>
              <a:t>)</a:t>
            </a:r>
          </a:p>
          <a:p>
            <a:br>
              <a:rPr lang="en-GB" sz="1600" dirty="0"/>
            </a:br>
            <a:r>
              <a:rPr lang="en-GB" sz="1600" dirty="0"/>
              <a:t>    </a:t>
            </a:r>
            <a:r>
              <a:rPr lang="en-GB" sz="1600" dirty="0" err="1"/>
              <a:t>dogs_list</a:t>
            </a:r>
            <a:r>
              <a:rPr lang="en-GB" sz="1600" dirty="0"/>
              <a:t> = [</a:t>
            </a:r>
            <a:r>
              <a:rPr lang="en-GB" sz="1600" dirty="0" err="1"/>
              <a:t>vuk</a:t>
            </a:r>
            <a:r>
              <a:rPr lang="en-GB" sz="1600" dirty="0"/>
              <a:t>, princess, bark]</a:t>
            </a:r>
            <a:br>
              <a:rPr lang="en-GB" sz="1600" dirty="0"/>
            </a:br>
            <a:r>
              <a:rPr lang="en-GB" sz="1600" dirty="0"/>
              <a:t>    </a:t>
            </a:r>
            <a:r>
              <a:rPr lang="en-GB" sz="1600" dirty="0" err="1"/>
              <a:t>cats_list</a:t>
            </a:r>
            <a:r>
              <a:rPr lang="en-GB" sz="1600" dirty="0"/>
              <a:t> = [</a:t>
            </a:r>
            <a:r>
              <a:rPr lang="en-GB" sz="1600" dirty="0" err="1"/>
              <a:t>piko</a:t>
            </a:r>
            <a:r>
              <a:rPr lang="en-GB" sz="1600" dirty="0"/>
              <a:t>, </a:t>
            </a:r>
            <a:r>
              <a:rPr lang="en-GB" sz="1600" dirty="0" err="1"/>
              <a:t>poko</a:t>
            </a:r>
            <a:r>
              <a:rPr lang="en-GB" sz="1600" dirty="0"/>
              <a:t>]</a:t>
            </a:r>
            <a:br>
              <a:rPr lang="en-GB" sz="1600" dirty="0"/>
            </a:br>
            <a:r>
              <a:rPr lang="en-GB" sz="1600" dirty="0"/>
              <a:t>    animals  = </a:t>
            </a:r>
            <a:r>
              <a:rPr lang="en-GB" sz="1600" dirty="0" err="1"/>
              <a:t>dogs_list</a:t>
            </a:r>
            <a:r>
              <a:rPr lang="en-GB" sz="1600" dirty="0"/>
              <a:t> +</a:t>
            </a:r>
            <a:r>
              <a:rPr lang="en-GB" sz="1600" dirty="0" err="1"/>
              <a:t>cats_list</a:t>
            </a:r>
            <a:br>
              <a:rPr lang="en-GB" sz="1600" dirty="0"/>
            </a:br>
            <a:br>
              <a:rPr lang="en-GB" sz="1600" dirty="0"/>
            </a:br>
            <a:r>
              <a:rPr lang="en-GB" sz="1600" dirty="0"/>
              <a:t>    </a:t>
            </a:r>
            <a:r>
              <a:rPr lang="en-GB" sz="1600" b="1" dirty="0">
                <a:solidFill>
                  <a:srgbClr val="0A007A"/>
                </a:solidFill>
              </a:rPr>
              <a:t>for</a:t>
            </a:r>
            <a:r>
              <a:rPr lang="en-GB" sz="1600" dirty="0"/>
              <a:t> </a:t>
            </a:r>
            <a:r>
              <a:rPr lang="en-GB" sz="1600" dirty="0" err="1"/>
              <a:t>i</a:t>
            </a:r>
            <a:r>
              <a:rPr lang="en-GB" sz="1600" dirty="0"/>
              <a:t> </a:t>
            </a:r>
            <a:r>
              <a:rPr lang="en-GB" sz="1600" b="1" dirty="0">
                <a:solidFill>
                  <a:srgbClr val="0A007A"/>
                </a:solidFill>
              </a:rPr>
              <a:t>in</a:t>
            </a:r>
            <a:r>
              <a:rPr lang="en-GB" sz="1600" dirty="0"/>
              <a:t> animals:</a:t>
            </a:r>
            <a:br>
              <a:rPr lang="en-GB" sz="1600" dirty="0"/>
            </a:br>
            <a:r>
              <a:rPr lang="en-GB" sz="1600" dirty="0"/>
              <a:t>        if </a:t>
            </a:r>
            <a:r>
              <a:rPr lang="en-GB" b="1" dirty="0" err="1"/>
              <a:t>isinstance</a:t>
            </a:r>
            <a:r>
              <a:rPr lang="en-GB" sz="1600" dirty="0"/>
              <a:t>(</a:t>
            </a:r>
            <a:r>
              <a:rPr lang="en-GB" sz="1600" dirty="0" err="1"/>
              <a:t>i</a:t>
            </a:r>
            <a:r>
              <a:rPr lang="en-GB" sz="1600" dirty="0"/>
              <a:t>, Cat):</a:t>
            </a:r>
            <a:br>
              <a:rPr lang="en-GB" sz="1600" dirty="0"/>
            </a:br>
            <a:r>
              <a:rPr lang="en-GB" sz="1600" dirty="0"/>
              <a:t>            </a:t>
            </a:r>
            <a:r>
              <a:rPr lang="en-GB" sz="1600" dirty="0">
                <a:solidFill>
                  <a:srgbClr val="0A007A"/>
                </a:solidFill>
              </a:rPr>
              <a:t>print</a:t>
            </a:r>
            <a:r>
              <a:rPr lang="en-GB" sz="1600" dirty="0"/>
              <a:t>(</a:t>
            </a:r>
            <a:r>
              <a:rPr lang="en-GB" sz="1600" dirty="0" err="1"/>
              <a:t>i.hunts</a:t>
            </a:r>
            <a:r>
              <a:rPr lang="en-GB" sz="1600" dirty="0"/>
              <a:t>())</a:t>
            </a:r>
            <a:br>
              <a:rPr lang="en-GB" sz="1600" dirty="0"/>
            </a:br>
            <a:r>
              <a:rPr lang="en-GB" sz="1600" dirty="0"/>
              <a:t>        </a:t>
            </a:r>
            <a:br>
              <a:rPr lang="en-GB" sz="1600" dirty="0"/>
            </a:br>
            <a:r>
              <a:rPr lang="en-GB" sz="1600" dirty="0"/>
              <a:t>if </a:t>
            </a:r>
            <a:r>
              <a:rPr lang="en-GB" sz="1600" dirty="0">
                <a:solidFill>
                  <a:srgbClr val="C300B8"/>
                </a:solidFill>
              </a:rPr>
              <a:t>__name__</a:t>
            </a:r>
            <a:r>
              <a:rPr lang="en-GB" sz="1600" dirty="0"/>
              <a:t>==</a:t>
            </a:r>
            <a:r>
              <a:rPr lang="en-GB" sz="1600" dirty="0">
                <a:solidFill>
                  <a:srgbClr val="008180"/>
                </a:solidFill>
              </a:rPr>
              <a:t>'__main__'</a:t>
            </a:r>
            <a:r>
              <a:rPr lang="en-GB" sz="1600" dirty="0"/>
              <a:t>:</a:t>
            </a:r>
            <a:br>
              <a:rPr lang="en-GB" sz="1600" dirty="0"/>
            </a:br>
            <a:r>
              <a:rPr lang="en-GB" sz="1600" dirty="0"/>
              <a:t>    main()</a:t>
            </a:r>
            <a:endParaRPr lang="en-US" sz="1600" dirty="0"/>
          </a:p>
        </p:txBody>
      </p:sp>
      <p:sp>
        <p:nvSpPr>
          <p:cNvPr id="6" name="Rounded Rectangle 5">
            <a:extLst>
              <a:ext uri="{FF2B5EF4-FFF2-40B4-BE49-F238E27FC236}">
                <a16:creationId xmlns:a16="http://schemas.microsoft.com/office/drawing/2014/main" id="{3C3580F9-FD68-B740-92F8-981B6A26C7B3}"/>
              </a:ext>
            </a:extLst>
          </p:cNvPr>
          <p:cNvSpPr/>
          <p:nvPr/>
        </p:nvSpPr>
        <p:spPr>
          <a:xfrm>
            <a:off x="1988457" y="5123541"/>
            <a:ext cx="1901373" cy="885373"/>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r>
              <a:rPr lang="en-GB" sz="1400" b="1" dirty="0"/>
              <a:t>Is instance</a:t>
            </a:r>
          </a:p>
          <a:p>
            <a:r>
              <a:rPr lang="en-GB" sz="1400" b="1" dirty="0"/>
              <a:t>Check if instance for the specific class</a:t>
            </a:r>
          </a:p>
        </p:txBody>
      </p:sp>
      <p:cxnSp>
        <p:nvCxnSpPr>
          <p:cNvPr id="7" name="Straight Arrow Connector 6">
            <a:extLst>
              <a:ext uri="{FF2B5EF4-FFF2-40B4-BE49-F238E27FC236}">
                <a16:creationId xmlns:a16="http://schemas.microsoft.com/office/drawing/2014/main" id="{DA391D83-9832-0144-9D64-5CEDB7517238}"/>
              </a:ext>
            </a:extLst>
          </p:cNvPr>
          <p:cNvCxnSpPr>
            <a:cxnSpLocks/>
          </p:cNvCxnSpPr>
          <p:nvPr/>
        </p:nvCxnSpPr>
        <p:spPr>
          <a:xfrm>
            <a:off x="3615873" y="5421085"/>
            <a:ext cx="1436914" cy="14514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9" name="Shape 9">
            <a:extLst>
              <a:ext uri="{FF2B5EF4-FFF2-40B4-BE49-F238E27FC236}">
                <a16:creationId xmlns:a16="http://schemas.microsoft.com/office/drawing/2014/main" id="{25479FF8-0152-3735-4D2F-53424F09FFBD}"/>
              </a:ext>
            </a:extLst>
          </p:cNvPr>
          <p:cNvSpPr/>
          <p:nvPr/>
        </p:nvSpPr>
        <p:spPr>
          <a:xfrm>
            <a:off x="4702628" y="2403306"/>
            <a:ext cx="45719" cy="4454694"/>
          </a:xfrm>
          <a:prstGeom prst="rect">
            <a:avLst/>
          </a:prstGeom>
          <a:solidFill>
            <a:srgbClr val="0055FF"/>
          </a:solidFill>
          <a:ln/>
        </p:spPr>
        <p:txBody>
          <a:bodyPr/>
          <a:lstStyle/>
          <a:p>
            <a:endParaRPr lang="en-US" sz="2400"/>
          </a:p>
        </p:txBody>
      </p:sp>
    </p:spTree>
    <p:extLst>
      <p:ext uri="{BB962C8B-B14F-4D97-AF65-F5344CB8AC3E}">
        <p14:creationId xmlns:p14="http://schemas.microsoft.com/office/powerpoint/2010/main" val="511619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F395F-5F60-E74B-B9C6-D6251E90DF07}"/>
              </a:ext>
            </a:extLst>
          </p:cNvPr>
          <p:cNvSpPr>
            <a:spLocks noGrp="1"/>
          </p:cNvSpPr>
          <p:nvPr>
            <p:ph type="title"/>
          </p:nvPr>
        </p:nvSpPr>
        <p:spPr/>
        <p:txBody>
          <a:bodyPr/>
          <a:lstStyle/>
          <a:p>
            <a:r>
              <a:rPr lang="en-GB" b="1" dirty="0">
                <a:latin typeface="+mn-lt"/>
                <a:cs typeface="Arial" panose="020B0604020202020204" pitchFamily="34" charset="0"/>
              </a:rPr>
              <a:t>Class Association Relationships</a:t>
            </a:r>
            <a:endParaRPr lang="en-US" b="1" dirty="0">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51161192-AB3B-624D-8665-927E5ED9D4E2}"/>
              </a:ext>
            </a:extLst>
          </p:cNvPr>
          <p:cNvSpPr>
            <a:spLocks noGrp="1"/>
          </p:cNvSpPr>
          <p:nvPr>
            <p:ph idx="1"/>
          </p:nvPr>
        </p:nvSpPr>
        <p:spPr/>
        <p:txBody>
          <a:bodyPr/>
          <a:lstStyle/>
          <a:p>
            <a:r>
              <a:rPr lang="en-GB" sz="2400" dirty="0"/>
              <a:t>If two classes in a model need to communicate with each other, there must be a link between them, and that can be represented by an association (connector). </a:t>
            </a:r>
          </a:p>
          <a:p>
            <a:endParaRPr lang="en-GB" sz="2400" dirty="0"/>
          </a:p>
          <a:p>
            <a:pPr marL="0" indent="0">
              <a:buNone/>
            </a:pPr>
            <a:r>
              <a:rPr lang="en-GB" sz="2400" dirty="0"/>
              <a:t>Examples: </a:t>
            </a:r>
          </a:p>
          <a:p>
            <a:pPr lvl="1"/>
            <a:r>
              <a:rPr lang="en-GB" dirty="0"/>
              <a:t>owner association with dog</a:t>
            </a:r>
          </a:p>
          <a:p>
            <a:pPr lvl="1"/>
            <a:endParaRPr lang="en-GB" dirty="0"/>
          </a:p>
          <a:p>
            <a:pPr lvl="1"/>
            <a:r>
              <a:rPr lang="en-GB" dirty="0"/>
              <a:t>student associate with instructor</a:t>
            </a:r>
          </a:p>
          <a:p>
            <a:pPr lvl="1"/>
            <a:endParaRPr lang="en-GB" dirty="0"/>
          </a:p>
          <a:p>
            <a:pPr lvl="1"/>
            <a:r>
              <a:rPr lang="en-GB" dirty="0"/>
              <a:t>client associate with server etc</a:t>
            </a:r>
          </a:p>
          <a:p>
            <a:endParaRPr lang="en-US" dirty="0"/>
          </a:p>
        </p:txBody>
      </p:sp>
      <p:pic>
        <p:nvPicPr>
          <p:cNvPr id="8" name="Picture 7" descr="A picture containing shape&#10;&#10;Description automatically generated">
            <a:extLst>
              <a:ext uri="{FF2B5EF4-FFF2-40B4-BE49-F238E27FC236}">
                <a16:creationId xmlns:a16="http://schemas.microsoft.com/office/drawing/2014/main" id="{C3C55ED5-1ABD-E340-B31D-9EF9783D06EC}"/>
              </a:ext>
            </a:extLst>
          </p:cNvPr>
          <p:cNvPicPr>
            <a:picLocks noChangeAspect="1"/>
          </p:cNvPicPr>
          <p:nvPr/>
        </p:nvPicPr>
        <p:blipFill>
          <a:blip r:embed="rId2"/>
          <a:stretch>
            <a:fillRect/>
          </a:stretch>
        </p:blipFill>
        <p:spPr>
          <a:xfrm>
            <a:off x="6252938" y="3189276"/>
            <a:ext cx="4223659" cy="776001"/>
          </a:xfrm>
          <a:prstGeom prst="rect">
            <a:avLst/>
          </a:prstGeom>
        </p:spPr>
      </p:pic>
      <p:pic>
        <p:nvPicPr>
          <p:cNvPr id="10" name="Picture 9" descr="Shape, rectangle&#10;&#10;Description automatically generated">
            <a:extLst>
              <a:ext uri="{FF2B5EF4-FFF2-40B4-BE49-F238E27FC236}">
                <a16:creationId xmlns:a16="http://schemas.microsoft.com/office/drawing/2014/main" id="{840DC865-AA1A-694E-810E-04D024EAA9CC}"/>
              </a:ext>
            </a:extLst>
          </p:cNvPr>
          <p:cNvPicPr>
            <a:picLocks noChangeAspect="1"/>
          </p:cNvPicPr>
          <p:nvPr/>
        </p:nvPicPr>
        <p:blipFill>
          <a:blip r:embed="rId3"/>
          <a:stretch>
            <a:fillRect/>
          </a:stretch>
        </p:blipFill>
        <p:spPr>
          <a:xfrm>
            <a:off x="6267448" y="4199980"/>
            <a:ext cx="4223659" cy="943584"/>
          </a:xfrm>
          <a:prstGeom prst="rect">
            <a:avLst/>
          </a:prstGeom>
        </p:spPr>
      </p:pic>
      <p:pic>
        <p:nvPicPr>
          <p:cNvPr id="12" name="Picture 11" descr="Shape, rectangle&#10;&#10;Description automatically generated">
            <a:extLst>
              <a:ext uri="{FF2B5EF4-FFF2-40B4-BE49-F238E27FC236}">
                <a16:creationId xmlns:a16="http://schemas.microsoft.com/office/drawing/2014/main" id="{F2D13BED-EDFF-1E4E-A092-0D3231981BA6}"/>
              </a:ext>
            </a:extLst>
          </p:cNvPr>
          <p:cNvPicPr>
            <a:picLocks noChangeAspect="1"/>
          </p:cNvPicPr>
          <p:nvPr/>
        </p:nvPicPr>
        <p:blipFill>
          <a:blip r:embed="rId4"/>
          <a:stretch>
            <a:fillRect/>
          </a:stretch>
        </p:blipFill>
        <p:spPr>
          <a:xfrm>
            <a:off x="6355058" y="5349753"/>
            <a:ext cx="4136049" cy="827210"/>
          </a:xfrm>
          <a:prstGeom prst="rect">
            <a:avLst/>
          </a:prstGeom>
        </p:spPr>
      </p:pic>
    </p:spTree>
    <p:extLst>
      <p:ext uri="{BB962C8B-B14F-4D97-AF65-F5344CB8AC3E}">
        <p14:creationId xmlns:p14="http://schemas.microsoft.com/office/powerpoint/2010/main" val="2905205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7">
            <a:extLst>
              <a:ext uri="{FF2B5EF4-FFF2-40B4-BE49-F238E27FC236}">
                <a16:creationId xmlns:a16="http://schemas.microsoft.com/office/drawing/2014/main" id="{587C3709-59DE-B94D-9A68-11E45CAC89E2}"/>
              </a:ext>
            </a:extLst>
          </p:cNvPr>
          <p:cNvGraphicFramePr>
            <a:graphicFrameLocks noGrp="1"/>
          </p:cNvGraphicFramePr>
          <p:nvPr/>
        </p:nvGraphicFramePr>
        <p:xfrm>
          <a:off x="6437374" y="3036542"/>
          <a:ext cx="5746045" cy="3319609"/>
        </p:xfrm>
        <a:graphic>
          <a:graphicData uri="http://schemas.openxmlformats.org/drawingml/2006/table">
            <a:tbl>
              <a:tblPr firstRow="1" bandRow="1">
                <a:tableStyleId>{5C22544A-7EE6-4342-B048-85BDC9FD1C3A}</a:tableStyleId>
              </a:tblPr>
              <a:tblGrid>
                <a:gridCol w="5746045">
                  <a:extLst>
                    <a:ext uri="{9D8B030D-6E8A-4147-A177-3AD203B41FA5}">
                      <a16:colId xmlns:a16="http://schemas.microsoft.com/office/drawing/2014/main" val="381975002"/>
                    </a:ext>
                  </a:extLst>
                </a:gridCol>
              </a:tblGrid>
              <a:tr h="3319609">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graphicFrame>
        <p:nvGraphicFramePr>
          <p:cNvPr id="8" name="Table 7">
            <a:extLst>
              <a:ext uri="{FF2B5EF4-FFF2-40B4-BE49-F238E27FC236}">
                <a16:creationId xmlns:a16="http://schemas.microsoft.com/office/drawing/2014/main" id="{42FD89E8-91BC-E94B-90DF-B8CDD0DF430A}"/>
              </a:ext>
            </a:extLst>
          </p:cNvPr>
          <p:cNvGraphicFramePr>
            <a:graphicFrameLocks noGrp="1"/>
          </p:cNvGraphicFramePr>
          <p:nvPr/>
        </p:nvGraphicFramePr>
        <p:xfrm>
          <a:off x="6583680" y="135791"/>
          <a:ext cx="5420581" cy="2680561"/>
        </p:xfrm>
        <a:graphic>
          <a:graphicData uri="http://schemas.openxmlformats.org/drawingml/2006/table">
            <a:tbl>
              <a:tblPr firstRow="1" bandRow="1">
                <a:tableStyleId>{5C22544A-7EE6-4342-B048-85BDC9FD1C3A}</a:tableStyleId>
              </a:tblPr>
              <a:tblGrid>
                <a:gridCol w="5420581">
                  <a:extLst>
                    <a:ext uri="{9D8B030D-6E8A-4147-A177-3AD203B41FA5}">
                      <a16:colId xmlns:a16="http://schemas.microsoft.com/office/drawing/2014/main" val="381975002"/>
                    </a:ext>
                  </a:extLst>
                </a:gridCol>
              </a:tblGrid>
              <a:tr h="2680561">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graphicFrame>
        <p:nvGraphicFramePr>
          <p:cNvPr id="7" name="Table 7">
            <a:extLst>
              <a:ext uri="{FF2B5EF4-FFF2-40B4-BE49-F238E27FC236}">
                <a16:creationId xmlns:a16="http://schemas.microsoft.com/office/drawing/2014/main" id="{0310DCE8-D24D-BD40-A648-A2DABE0F1CB0}"/>
              </a:ext>
            </a:extLst>
          </p:cNvPr>
          <p:cNvGraphicFramePr>
            <a:graphicFrameLocks noGrp="1"/>
          </p:cNvGraphicFramePr>
          <p:nvPr/>
        </p:nvGraphicFramePr>
        <p:xfrm>
          <a:off x="162782" y="1413063"/>
          <a:ext cx="6095999" cy="5079812"/>
        </p:xfrm>
        <a:graphic>
          <a:graphicData uri="http://schemas.openxmlformats.org/drawingml/2006/table">
            <a:tbl>
              <a:tblPr firstRow="1" bandRow="1">
                <a:tableStyleId>{5C22544A-7EE6-4342-B048-85BDC9FD1C3A}</a:tableStyleId>
              </a:tblPr>
              <a:tblGrid>
                <a:gridCol w="6095999">
                  <a:extLst>
                    <a:ext uri="{9D8B030D-6E8A-4147-A177-3AD203B41FA5}">
                      <a16:colId xmlns:a16="http://schemas.microsoft.com/office/drawing/2014/main" val="381975002"/>
                    </a:ext>
                  </a:extLst>
                </a:gridCol>
              </a:tblGrid>
              <a:tr h="5079812">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C923FC27-2A8B-7D49-904F-5C45814A412E}"/>
              </a:ext>
            </a:extLst>
          </p:cNvPr>
          <p:cNvSpPr>
            <a:spLocks noGrp="1"/>
          </p:cNvSpPr>
          <p:nvPr>
            <p:ph type="title"/>
          </p:nvPr>
        </p:nvSpPr>
        <p:spPr>
          <a:xfrm>
            <a:off x="838200" y="124261"/>
            <a:ext cx="10515600" cy="1325563"/>
          </a:xfrm>
        </p:spPr>
        <p:txBody>
          <a:bodyPr/>
          <a:lstStyle/>
          <a:p>
            <a:r>
              <a:rPr lang="en-US" b="1" dirty="0">
                <a:latin typeface="+mn-lt"/>
                <a:cs typeface="Arial" panose="020B0604020202020204" pitchFamily="34" charset="0"/>
              </a:rPr>
              <a:t>Composition in OOP</a:t>
            </a:r>
          </a:p>
        </p:txBody>
      </p:sp>
      <p:sp>
        <p:nvSpPr>
          <p:cNvPr id="4" name="Rectangle 3">
            <a:extLst>
              <a:ext uri="{FF2B5EF4-FFF2-40B4-BE49-F238E27FC236}">
                <a16:creationId xmlns:a16="http://schemas.microsoft.com/office/drawing/2014/main" id="{777D56C7-03E0-1543-9A95-BC4EC7478624}"/>
              </a:ext>
            </a:extLst>
          </p:cNvPr>
          <p:cNvSpPr/>
          <p:nvPr/>
        </p:nvSpPr>
        <p:spPr>
          <a:xfrm>
            <a:off x="341376" y="1575840"/>
            <a:ext cx="6096000" cy="4524315"/>
          </a:xfrm>
          <a:prstGeom prst="rect">
            <a:avLst/>
          </a:prstGeom>
        </p:spPr>
        <p:txBody>
          <a:bodyPr>
            <a:spAutoFit/>
          </a:bodyPr>
          <a:lstStyle/>
          <a:p>
            <a:r>
              <a:rPr lang="en-GB" sz="1600" b="1" dirty="0">
                <a:solidFill>
                  <a:srgbClr val="000080"/>
                </a:solidFill>
              </a:rPr>
              <a:t>class </a:t>
            </a:r>
            <a:r>
              <a:rPr lang="en-GB" sz="1600" dirty="0"/>
              <a:t>Animal:</a:t>
            </a:r>
            <a:br>
              <a:rPr lang="en-GB" sz="1600" dirty="0"/>
            </a:br>
            <a:r>
              <a:rPr lang="en-GB" sz="1600" dirty="0"/>
              <a:t>    </a:t>
            </a:r>
            <a:r>
              <a:rPr lang="en-GB" sz="1600" b="1" dirty="0">
                <a:solidFill>
                  <a:srgbClr val="000080"/>
                </a:solidFill>
              </a:rPr>
              <a:t>def </a:t>
            </a:r>
            <a:r>
              <a:rPr lang="en-GB" sz="1600" dirty="0">
                <a:solidFill>
                  <a:srgbClr val="B200B2"/>
                </a:solidFill>
              </a:rPr>
              <a:t>__</a:t>
            </a:r>
            <a:r>
              <a:rPr lang="en-GB" sz="1600" dirty="0" err="1">
                <a:solidFill>
                  <a:srgbClr val="B200B2"/>
                </a:solidFill>
              </a:rPr>
              <a:t>init</a:t>
            </a:r>
            <a:r>
              <a:rPr lang="en-GB" sz="1600" dirty="0">
                <a:solidFill>
                  <a:srgbClr val="B200B2"/>
                </a:solidFill>
              </a:rPr>
              <a:t>__</a:t>
            </a:r>
            <a:r>
              <a:rPr lang="en-GB" sz="1600" dirty="0"/>
              <a:t>(</a:t>
            </a:r>
            <a:r>
              <a:rPr lang="en-GB" sz="1600" dirty="0">
                <a:solidFill>
                  <a:srgbClr val="94558D"/>
                </a:solidFill>
              </a:rPr>
              <a:t>self</a:t>
            </a:r>
            <a:r>
              <a:rPr lang="en-GB" sz="1600" dirty="0"/>
              <a:t>, name, age, address):</a:t>
            </a:r>
            <a:br>
              <a:rPr lang="en-GB" sz="1600" dirty="0"/>
            </a:br>
            <a:r>
              <a:rPr lang="en-GB" sz="1600" dirty="0"/>
              <a:t>        </a:t>
            </a:r>
            <a:r>
              <a:rPr lang="en-GB" sz="1600" dirty="0" err="1">
                <a:solidFill>
                  <a:srgbClr val="94558D"/>
                </a:solidFill>
              </a:rPr>
              <a:t>self</a:t>
            </a:r>
            <a:r>
              <a:rPr lang="en-GB" sz="1600" dirty="0" err="1"/>
              <a:t>.__name</a:t>
            </a:r>
            <a:r>
              <a:rPr lang="en-GB" sz="1600" dirty="0"/>
              <a:t> = name</a:t>
            </a:r>
            <a:br>
              <a:rPr lang="en-GB" sz="1600" dirty="0"/>
            </a:br>
            <a:r>
              <a:rPr lang="en-GB" sz="1600" dirty="0"/>
              <a:t>        </a:t>
            </a:r>
            <a:r>
              <a:rPr lang="en-GB" sz="1600" dirty="0" err="1">
                <a:solidFill>
                  <a:srgbClr val="94558D"/>
                </a:solidFill>
              </a:rPr>
              <a:t>self</a:t>
            </a:r>
            <a:r>
              <a:rPr lang="en-GB" sz="1600" dirty="0" err="1"/>
              <a:t>.__age</a:t>
            </a:r>
            <a:r>
              <a:rPr lang="en-GB" sz="1600" dirty="0"/>
              <a:t> = age</a:t>
            </a:r>
            <a:br>
              <a:rPr lang="en-GB" sz="1600" dirty="0"/>
            </a:br>
            <a:r>
              <a:rPr lang="en-GB" sz="1600" dirty="0"/>
              <a:t>        </a:t>
            </a:r>
            <a:r>
              <a:rPr lang="en-GB" sz="1600" dirty="0" err="1">
                <a:solidFill>
                  <a:srgbClr val="94558D"/>
                </a:solidFill>
              </a:rPr>
              <a:t>self</a:t>
            </a:r>
            <a:r>
              <a:rPr lang="en-GB" sz="1600" dirty="0" err="1"/>
              <a:t>.address</a:t>
            </a:r>
            <a:r>
              <a:rPr lang="en-GB" sz="1600" dirty="0"/>
              <a:t>= address</a:t>
            </a:r>
            <a:br>
              <a:rPr lang="en-GB" sz="1600" dirty="0"/>
            </a:br>
            <a:br>
              <a:rPr lang="en-GB" sz="1600" dirty="0"/>
            </a:br>
            <a:r>
              <a:rPr lang="en-GB" sz="1600" dirty="0"/>
              <a:t>    </a:t>
            </a:r>
            <a:r>
              <a:rPr lang="en-GB" sz="1600" b="1" dirty="0">
                <a:solidFill>
                  <a:srgbClr val="000080"/>
                </a:solidFill>
              </a:rPr>
              <a:t>def </a:t>
            </a:r>
            <a:r>
              <a:rPr lang="en-GB" sz="1600" dirty="0" err="1"/>
              <a:t>get_name</a:t>
            </a:r>
            <a:r>
              <a:rPr lang="en-GB" sz="1600" dirty="0"/>
              <a:t>(</a:t>
            </a:r>
            <a:r>
              <a:rPr lang="en-GB" sz="1600" dirty="0">
                <a:solidFill>
                  <a:srgbClr val="94558D"/>
                </a:solidFill>
              </a:rPr>
              <a:t>self</a:t>
            </a:r>
            <a:r>
              <a:rPr lang="en-GB" sz="1600" dirty="0"/>
              <a:t>):</a:t>
            </a:r>
            <a:br>
              <a:rPr lang="en-GB" sz="1600" dirty="0"/>
            </a:br>
            <a:r>
              <a:rPr lang="en-GB" sz="1600" dirty="0"/>
              <a:t>        </a:t>
            </a:r>
            <a:r>
              <a:rPr lang="en-GB" sz="1600" b="1" dirty="0">
                <a:solidFill>
                  <a:srgbClr val="000080"/>
                </a:solidFill>
              </a:rPr>
              <a:t>return </a:t>
            </a:r>
            <a:r>
              <a:rPr lang="en-GB" sz="1600" dirty="0" err="1">
                <a:solidFill>
                  <a:srgbClr val="94558D"/>
                </a:solidFill>
              </a:rPr>
              <a:t>self</a:t>
            </a:r>
            <a:r>
              <a:rPr lang="en-GB" sz="1600" dirty="0" err="1"/>
              <a:t>.__name</a:t>
            </a:r>
            <a:br>
              <a:rPr lang="en-GB" sz="1600" dirty="0"/>
            </a:br>
            <a:br>
              <a:rPr lang="en-GB" sz="1600" dirty="0"/>
            </a:br>
            <a:r>
              <a:rPr lang="en-GB" sz="1600" dirty="0"/>
              <a:t>    </a:t>
            </a:r>
            <a:r>
              <a:rPr lang="en-GB" sz="1600" b="1" dirty="0">
                <a:solidFill>
                  <a:srgbClr val="000080"/>
                </a:solidFill>
              </a:rPr>
              <a:t>def </a:t>
            </a:r>
            <a:r>
              <a:rPr lang="en-GB" sz="1600" dirty="0" err="1"/>
              <a:t>get_age</a:t>
            </a:r>
            <a:r>
              <a:rPr lang="en-GB" sz="1600" dirty="0"/>
              <a:t>(</a:t>
            </a:r>
            <a:r>
              <a:rPr lang="en-GB" sz="1600" dirty="0">
                <a:solidFill>
                  <a:srgbClr val="94558D"/>
                </a:solidFill>
              </a:rPr>
              <a:t>self</a:t>
            </a:r>
            <a:r>
              <a:rPr lang="en-GB" sz="1600" dirty="0"/>
              <a:t>):</a:t>
            </a:r>
            <a:br>
              <a:rPr lang="en-GB" sz="1600" dirty="0"/>
            </a:br>
            <a:r>
              <a:rPr lang="en-GB" sz="1600" dirty="0"/>
              <a:t>        </a:t>
            </a:r>
            <a:r>
              <a:rPr lang="en-GB" sz="1600" b="1" dirty="0">
                <a:solidFill>
                  <a:srgbClr val="000080"/>
                </a:solidFill>
              </a:rPr>
              <a:t>return </a:t>
            </a:r>
            <a:r>
              <a:rPr lang="en-GB" sz="1600" dirty="0" err="1">
                <a:solidFill>
                  <a:srgbClr val="94558D"/>
                </a:solidFill>
              </a:rPr>
              <a:t>self</a:t>
            </a:r>
            <a:r>
              <a:rPr lang="en-GB" sz="1600" dirty="0" err="1"/>
              <a:t>.__age</a:t>
            </a:r>
            <a:br>
              <a:rPr lang="en-GB" sz="1600" dirty="0"/>
            </a:br>
            <a:br>
              <a:rPr lang="en-GB" sz="1600" dirty="0"/>
            </a:br>
            <a:r>
              <a:rPr lang="en-GB" sz="1600" dirty="0"/>
              <a:t>    </a:t>
            </a:r>
            <a:r>
              <a:rPr lang="en-GB" sz="1600" b="1" dirty="0">
                <a:solidFill>
                  <a:srgbClr val="000080"/>
                </a:solidFill>
              </a:rPr>
              <a:t>def </a:t>
            </a:r>
            <a:r>
              <a:rPr lang="en-GB" sz="1600" dirty="0" err="1"/>
              <a:t>get_Address</a:t>
            </a:r>
            <a:r>
              <a:rPr lang="en-GB" sz="1600" dirty="0"/>
              <a:t>(</a:t>
            </a:r>
            <a:r>
              <a:rPr lang="en-GB" sz="1600" dirty="0">
                <a:solidFill>
                  <a:srgbClr val="94558D"/>
                </a:solidFill>
              </a:rPr>
              <a:t>self</a:t>
            </a:r>
            <a:r>
              <a:rPr lang="en-GB" sz="1600" dirty="0"/>
              <a:t>):</a:t>
            </a:r>
            <a:br>
              <a:rPr lang="en-GB" sz="1600" dirty="0"/>
            </a:br>
            <a:r>
              <a:rPr lang="en-GB" sz="1600" dirty="0"/>
              <a:t>        </a:t>
            </a:r>
            <a:r>
              <a:rPr lang="en-GB" sz="1600" b="1" dirty="0">
                <a:solidFill>
                  <a:srgbClr val="000080"/>
                </a:solidFill>
              </a:rPr>
              <a:t>return </a:t>
            </a:r>
            <a:r>
              <a:rPr lang="en-GB" sz="1600" dirty="0">
                <a:solidFill>
                  <a:srgbClr val="94558D"/>
                </a:solidFill>
              </a:rPr>
              <a:t>self</a:t>
            </a:r>
            <a:r>
              <a:rPr lang="en-GB" sz="1600" dirty="0"/>
              <a:t>. address</a:t>
            </a:r>
            <a:br>
              <a:rPr lang="en-GB" sz="1600" dirty="0"/>
            </a:br>
            <a:br>
              <a:rPr lang="en-GB" sz="1600" dirty="0"/>
            </a:br>
            <a:r>
              <a:rPr lang="en-GB" sz="1600" dirty="0"/>
              <a:t>    </a:t>
            </a:r>
            <a:r>
              <a:rPr lang="en-GB" sz="1600" b="1" dirty="0">
                <a:solidFill>
                  <a:srgbClr val="000080"/>
                </a:solidFill>
              </a:rPr>
              <a:t>def </a:t>
            </a:r>
            <a:r>
              <a:rPr lang="en-GB" sz="1600" dirty="0">
                <a:solidFill>
                  <a:srgbClr val="B200B2"/>
                </a:solidFill>
              </a:rPr>
              <a:t>__str__</a:t>
            </a:r>
            <a:r>
              <a:rPr lang="en-GB" sz="1600" dirty="0"/>
              <a:t>(</a:t>
            </a:r>
            <a:r>
              <a:rPr lang="en-GB" sz="1600" dirty="0">
                <a:solidFill>
                  <a:srgbClr val="94558D"/>
                </a:solidFill>
              </a:rPr>
              <a:t>self</a:t>
            </a:r>
            <a:r>
              <a:rPr lang="en-GB" sz="1600" dirty="0"/>
              <a:t>):</a:t>
            </a:r>
            <a:br>
              <a:rPr lang="en-GB" sz="1600" dirty="0"/>
            </a:br>
            <a:r>
              <a:rPr lang="en-GB" sz="1600" dirty="0"/>
              <a:t>        </a:t>
            </a:r>
            <a:r>
              <a:rPr lang="en-GB" sz="1600" b="1" dirty="0">
                <a:solidFill>
                  <a:srgbClr val="000080"/>
                </a:solidFill>
              </a:rPr>
              <a:t>return </a:t>
            </a:r>
            <a:r>
              <a:rPr lang="en-GB" sz="1600" b="1" dirty="0" err="1">
                <a:solidFill>
                  <a:srgbClr val="008080"/>
                </a:solidFill>
              </a:rPr>
              <a:t>f'the</a:t>
            </a:r>
            <a:r>
              <a:rPr lang="en-GB" sz="1600" b="1" dirty="0">
                <a:solidFill>
                  <a:srgbClr val="008080"/>
                </a:solidFill>
              </a:rPr>
              <a:t> Animal name is: </a:t>
            </a:r>
            <a:r>
              <a:rPr lang="en-GB" sz="1600" b="1" dirty="0">
                <a:solidFill>
                  <a:srgbClr val="000080"/>
                </a:solidFill>
              </a:rPr>
              <a:t>{</a:t>
            </a:r>
            <a:r>
              <a:rPr lang="en-GB" sz="1600" dirty="0" err="1">
                <a:solidFill>
                  <a:srgbClr val="94558D"/>
                </a:solidFill>
              </a:rPr>
              <a:t>self</a:t>
            </a:r>
            <a:r>
              <a:rPr lang="en-GB" sz="1600" dirty="0" err="1"/>
              <a:t>.__name</a:t>
            </a:r>
            <a:r>
              <a:rPr lang="en-GB" sz="1600" b="1" dirty="0">
                <a:solidFill>
                  <a:srgbClr val="000080"/>
                </a:solidFill>
              </a:rPr>
              <a:t>}</a:t>
            </a:r>
            <a:r>
              <a:rPr lang="en-GB" sz="1600" b="1" dirty="0">
                <a:solidFill>
                  <a:srgbClr val="008080"/>
                </a:solidFill>
              </a:rPr>
              <a:t> and he is: </a:t>
            </a:r>
            <a:r>
              <a:rPr lang="en-GB" sz="1600" b="1" dirty="0">
                <a:solidFill>
                  <a:srgbClr val="000080"/>
                </a:solidFill>
              </a:rPr>
              <a:t>{</a:t>
            </a:r>
            <a:r>
              <a:rPr lang="en-GB" sz="1600" dirty="0" err="1">
                <a:solidFill>
                  <a:srgbClr val="94558D"/>
                </a:solidFill>
              </a:rPr>
              <a:t>self</a:t>
            </a:r>
            <a:r>
              <a:rPr lang="en-GB" sz="1600" dirty="0" err="1"/>
              <a:t>.__age</a:t>
            </a:r>
            <a:r>
              <a:rPr lang="en-GB" sz="1600" b="1" dirty="0">
                <a:solidFill>
                  <a:srgbClr val="000080"/>
                </a:solidFill>
              </a:rPr>
              <a:t>}</a:t>
            </a:r>
            <a:r>
              <a:rPr lang="en-GB" sz="1600" b="1" dirty="0">
                <a:solidFill>
                  <a:srgbClr val="008080"/>
                </a:solidFill>
              </a:rPr>
              <a:t> years old</a:t>
            </a:r>
            <a:r>
              <a:rPr lang="en-GB" sz="1600" b="1" dirty="0">
                <a:solidFill>
                  <a:srgbClr val="000080"/>
                </a:solidFill>
              </a:rPr>
              <a:t>\n{</a:t>
            </a:r>
            <a:r>
              <a:rPr lang="en-GB" sz="1600" dirty="0" err="1">
                <a:solidFill>
                  <a:srgbClr val="94558D"/>
                </a:solidFill>
              </a:rPr>
              <a:t>self</a:t>
            </a:r>
            <a:r>
              <a:rPr lang="en-GB" sz="1600" dirty="0" err="1"/>
              <a:t>.address</a:t>
            </a:r>
            <a:r>
              <a:rPr lang="en-GB" sz="1600" b="1" dirty="0">
                <a:solidFill>
                  <a:srgbClr val="000080"/>
                </a:solidFill>
              </a:rPr>
              <a:t>}</a:t>
            </a:r>
            <a:r>
              <a:rPr lang="en-GB" sz="1600" b="1" dirty="0">
                <a:solidFill>
                  <a:srgbClr val="008080"/>
                </a:solidFill>
              </a:rPr>
              <a:t>'</a:t>
            </a:r>
            <a:endParaRPr lang="en-US" sz="1600" dirty="0"/>
          </a:p>
        </p:txBody>
      </p:sp>
      <p:sp>
        <p:nvSpPr>
          <p:cNvPr id="5" name="TextBox 4">
            <a:extLst>
              <a:ext uri="{FF2B5EF4-FFF2-40B4-BE49-F238E27FC236}">
                <a16:creationId xmlns:a16="http://schemas.microsoft.com/office/drawing/2014/main" id="{0CBB2185-5181-7E49-9CB4-8A494639710C}"/>
              </a:ext>
            </a:extLst>
          </p:cNvPr>
          <p:cNvSpPr txBox="1"/>
          <p:nvPr/>
        </p:nvSpPr>
        <p:spPr>
          <a:xfrm>
            <a:off x="6583680" y="135791"/>
            <a:ext cx="4820807" cy="2554545"/>
          </a:xfrm>
          <a:prstGeom prst="rect">
            <a:avLst/>
          </a:prstGeom>
          <a:noFill/>
        </p:spPr>
        <p:txBody>
          <a:bodyPr wrap="none" rtlCol="0">
            <a:spAutoFit/>
          </a:bodyPr>
          <a:lstStyle/>
          <a:p>
            <a:r>
              <a:rPr lang="en-GB" sz="1600" b="1" dirty="0"/>
              <a:t>class </a:t>
            </a:r>
            <a:r>
              <a:rPr lang="en-GB" sz="1600" dirty="0"/>
              <a:t>Address:</a:t>
            </a:r>
            <a:br>
              <a:rPr lang="en-GB" sz="1600" dirty="0"/>
            </a:br>
            <a:r>
              <a:rPr lang="en-GB" sz="1600" dirty="0"/>
              <a:t>    </a:t>
            </a:r>
            <a:r>
              <a:rPr lang="en-GB" sz="1600" b="1" dirty="0"/>
              <a:t>def </a:t>
            </a:r>
            <a:r>
              <a:rPr lang="en-GB" sz="1600" dirty="0">
                <a:solidFill>
                  <a:srgbClr val="C300B8"/>
                </a:solidFill>
              </a:rPr>
              <a:t>__</a:t>
            </a:r>
            <a:r>
              <a:rPr lang="en-GB" sz="1600" dirty="0" err="1">
                <a:solidFill>
                  <a:srgbClr val="C300B8"/>
                </a:solidFill>
              </a:rPr>
              <a:t>init</a:t>
            </a:r>
            <a:r>
              <a:rPr lang="en-GB" sz="1600" dirty="0">
                <a:solidFill>
                  <a:srgbClr val="C300B8"/>
                </a:solidFill>
              </a:rPr>
              <a:t>__</a:t>
            </a:r>
            <a:r>
              <a:rPr lang="en-GB" sz="1600" dirty="0"/>
              <a:t>(</a:t>
            </a:r>
            <a:r>
              <a:rPr lang="en-GB" sz="1600" dirty="0">
                <a:solidFill>
                  <a:srgbClr val="9E4F90"/>
                </a:solidFill>
              </a:rPr>
              <a:t>self</a:t>
            </a:r>
            <a:r>
              <a:rPr lang="en-GB" sz="1600" dirty="0"/>
              <a:t>, number, street, postcode, country):</a:t>
            </a:r>
            <a:br>
              <a:rPr lang="en-GB" sz="1600" dirty="0"/>
            </a:br>
            <a:r>
              <a:rPr lang="en-GB" sz="1600" dirty="0"/>
              <a:t>        </a:t>
            </a:r>
            <a:r>
              <a:rPr lang="en-GB" sz="1600" dirty="0" err="1">
                <a:solidFill>
                  <a:srgbClr val="9E4F90"/>
                </a:solidFill>
              </a:rPr>
              <a:t>self</a:t>
            </a:r>
            <a:r>
              <a:rPr lang="en-GB" sz="1600" dirty="0" err="1"/>
              <a:t>.number</a:t>
            </a:r>
            <a:r>
              <a:rPr lang="en-GB" sz="1600" dirty="0"/>
              <a:t> = number</a:t>
            </a:r>
            <a:br>
              <a:rPr lang="en-GB" sz="1600" dirty="0"/>
            </a:br>
            <a:r>
              <a:rPr lang="en-GB" sz="1600" dirty="0"/>
              <a:t>        </a:t>
            </a:r>
            <a:r>
              <a:rPr lang="en-GB" sz="1600" dirty="0" err="1">
                <a:solidFill>
                  <a:srgbClr val="9E4F90"/>
                </a:solidFill>
              </a:rPr>
              <a:t>self</a:t>
            </a:r>
            <a:r>
              <a:rPr lang="en-GB" sz="1600" dirty="0" err="1"/>
              <a:t>.street</a:t>
            </a:r>
            <a:r>
              <a:rPr lang="en-GB" sz="1600" dirty="0"/>
              <a:t> = street</a:t>
            </a:r>
            <a:br>
              <a:rPr lang="en-GB" sz="1600" dirty="0"/>
            </a:br>
            <a:r>
              <a:rPr lang="en-GB" sz="1600" dirty="0"/>
              <a:t>        </a:t>
            </a:r>
            <a:r>
              <a:rPr lang="en-GB" sz="1600" dirty="0" err="1">
                <a:solidFill>
                  <a:srgbClr val="9E4F90"/>
                </a:solidFill>
              </a:rPr>
              <a:t>self</a:t>
            </a:r>
            <a:r>
              <a:rPr lang="en-GB" sz="1600" dirty="0" err="1"/>
              <a:t>.postcode</a:t>
            </a:r>
            <a:r>
              <a:rPr lang="en-GB" sz="1600" dirty="0"/>
              <a:t> = postcode</a:t>
            </a:r>
            <a:br>
              <a:rPr lang="en-GB" sz="1600" dirty="0"/>
            </a:br>
            <a:r>
              <a:rPr lang="en-GB" sz="1600" dirty="0"/>
              <a:t>        </a:t>
            </a:r>
            <a:r>
              <a:rPr lang="en-GB" sz="1600" dirty="0" err="1">
                <a:solidFill>
                  <a:srgbClr val="9E4F90"/>
                </a:solidFill>
              </a:rPr>
              <a:t>self</a:t>
            </a:r>
            <a:r>
              <a:rPr lang="en-GB" sz="1600" dirty="0" err="1"/>
              <a:t>.country</a:t>
            </a:r>
            <a:r>
              <a:rPr lang="en-GB" sz="1600" dirty="0"/>
              <a:t> = country</a:t>
            </a:r>
            <a:br>
              <a:rPr lang="en-GB" sz="1600" dirty="0"/>
            </a:br>
            <a:br>
              <a:rPr lang="en-GB" sz="1600" b="1" dirty="0"/>
            </a:br>
            <a:r>
              <a:rPr lang="en-GB" sz="1600" b="1" dirty="0"/>
              <a:t>    def </a:t>
            </a:r>
            <a:r>
              <a:rPr lang="en-GB" sz="1600" dirty="0">
                <a:solidFill>
                  <a:srgbClr val="C300B8"/>
                </a:solidFill>
              </a:rPr>
              <a:t>__str__</a:t>
            </a:r>
            <a:r>
              <a:rPr lang="en-GB" sz="1600" dirty="0"/>
              <a:t>(</a:t>
            </a:r>
            <a:r>
              <a:rPr lang="en-GB" sz="1600" dirty="0">
                <a:solidFill>
                  <a:srgbClr val="9E4F90"/>
                </a:solidFill>
              </a:rPr>
              <a:t>self</a:t>
            </a:r>
            <a:r>
              <a:rPr lang="en-GB" sz="1600" dirty="0"/>
              <a:t>):</a:t>
            </a:r>
            <a:br>
              <a:rPr lang="en-GB" sz="1600" dirty="0"/>
            </a:br>
            <a:r>
              <a:rPr lang="en-GB" sz="1600" dirty="0"/>
              <a:t>        </a:t>
            </a:r>
            <a:r>
              <a:rPr lang="en-GB" sz="1600" b="1" dirty="0"/>
              <a:t>return </a:t>
            </a:r>
            <a:r>
              <a:rPr lang="en-GB" sz="1600" dirty="0" err="1">
                <a:solidFill>
                  <a:srgbClr val="008180"/>
                </a:solidFill>
              </a:rPr>
              <a:t>f'The</a:t>
            </a:r>
            <a:r>
              <a:rPr lang="en-GB" sz="1600" dirty="0">
                <a:solidFill>
                  <a:srgbClr val="008180"/>
                </a:solidFill>
              </a:rPr>
              <a:t> address is:</a:t>
            </a:r>
            <a:r>
              <a:rPr lang="en-GB" sz="1600" dirty="0"/>
              <a:t>\n{</a:t>
            </a:r>
            <a:r>
              <a:rPr lang="en-GB" sz="1600" dirty="0" err="1">
                <a:solidFill>
                  <a:srgbClr val="9E4F90"/>
                </a:solidFill>
              </a:rPr>
              <a:t>self</a:t>
            </a:r>
            <a:r>
              <a:rPr lang="en-GB" sz="1600" dirty="0" err="1"/>
              <a:t>.number</a:t>
            </a:r>
            <a:r>
              <a:rPr lang="en-GB" sz="1600" dirty="0"/>
              <a:t>} {</a:t>
            </a:r>
            <a:r>
              <a:rPr lang="en-GB" sz="1600" dirty="0" err="1">
                <a:solidFill>
                  <a:srgbClr val="9E4F90"/>
                </a:solidFill>
              </a:rPr>
              <a:t>self</a:t>
            </a:r>
            <a:r>
              <a:rPr lang="en-GB" sz="1600" dirty="0" err="1"/>
              <a:t>.street</a:t>
            </a:r>
            <a:r>
              <a:rPr lang="en-GB" sz="1600" dirty="0"/>
              <a:t>} </a:t>
            </a:r>
          </a:p>
          <a:p>
            <a:r>
              <a:rPr lang="en-GB" sz="1600" dirty="0"/>
              <a:t>	\n{</a:t>
            </a:r>
            <a:r>
              <a:rPr lang="en-GB" sz="1600" dirty="0" err="1">
                <a:solidFill>
                  <a:srgbClr val="9E4F90"/>
                </a:solidFill>
              </a:rPr>
              <a:t>self</a:t>
            </a:r>
            <a:r>
              <a:rPr lang="en-GB" sz="1600" dirty="0" err="1"/>
              <a:t>.postcode</a:t>
            </a:r>
            <a:r>
              <a:rPr lang="en-GB" sz="1600" dirty="0"/>
              <a:t>} \n{</a:t>
            </a:r>
            <a:r>
              <a:rPr lang="en-GB" sz="1600" dirty="0" err="1">
                <a:solidFill>
                  <a:srgbClr val="9E4F90"/>
                </a:solidFill>
              </a:rPr>
              <a:t>self</a:t>
            </a:r>
            <a:r>
              <a:rPr lang="en-GB" sz="1600" dirty="0" err="1"/>
              <a:t>.country</a:t>
            </a:r>
            <a:r>
              <a:rPr lang="en-GB" sz="1600" dirty="0"/>
              <a:t>}</a:t>
            </a:r>
            <a:r>
              <a:rPr lang="en-GB" sz="1600" dirty="0">
                <a:solidFill>
                  <a:srgbClr val="008180"/>
                </a:solidFill>
              </a:rPr>
              <a:t>'</a:t>
            </a:r>
            <a:endParaRPr lang="en-US" sz="1600" dirty="0">
              <a:solidFill>
                <a:srgbClr val="008180"/>
              </a:solidFill>
            </a:endParaRPr>
          </a:p>
        </p:txBody>
      </p:sp>
      <p:sp>
        <p:nvSpPr>
          <p:cNvPr id="6" name="TextBox 5">
            <a:extLst>
              <a:ext uri="{FF2B5EF4-FFF2-40B4-BE49-F238E27FC236}">
                <a16:creationId xmlns:a16="http://schemas.microsoft.com/office/drawing/2014/main" id="{3A484C29-2403-1444-A0B5-09AAE82AB668}"/>
              </a:ext>
            </a:extLst>
          </p:cNvPr>
          <p:cNvSpPr txBox="1"/>
          <p:nvPr/>
        </p:nvSpPr>
        <p:spPr>
          <a:xfrm>
            <a:off x="6437374" y="3080262"/>
            <a:ext cx="5813323" cy="4062651"/>
          </a:xfrm>
          <a:prstGeom prst="rect">
            <a:avLst/>
          </a:prstGeom>
          <a:noFill/>
        </p:spPr>
        <p:txBody>
          <a:bodyPr wrap="none" rtlCol="0">
            <a:spAutoFit/>
          </a:bodyPr>
          <a:lstStyle/>
          <a:p>
            <a:r>
              <a:rPr lang="en-GB" sz="1600" b="1" dirty="0">
                <a:solidFill>
                  <a:srgbClr val="0A007A"/>
                </a:solidFill>
              </a:rPr>
              <a:t>def</a:t>
            </a:r>
            <a:r>
              <a:rPr lang="en-GB" sz="1600" b="1" dirty="0"/>
              <a:t> </a:t>
            </a:r>
            <a:r>
              <a:rPr lang="en-GB" sz="1600" dirty="0"/>
              <a:t>main():</a:t>
            </a:r>
            <a:br>
              <a:rPr lang="en-GB" sz="1600" dirty="0"/>
            </a:br>
            <a:r>
              <a:rPr lang="en-GB" sz="1600" dirty="0"/>
              <a:t>    </a:t>
            </a:r>
            <a:r>
              <a:rPr lang="en-GB" sz="1600" dirty="0" err="1"/>
              <a:t>vuk</a:t>
            </a:r>
            <a:r>
              <a:rPr lang="en-GB" sz="1600" dirty="0"/>
              <a:t> = Dog(</a:t>
            </a:r>
            <a:r>
              <a:rPr lang="en-GB" sz="1600" dirty="0">
                <a:solidFill>
                  <a:srgbClr val="008180"/>
                </a:solidFill>
              </a:rPr>
              <a:t>'</a:t>
            </a:r>
            <a:r>
              <a:rPr lang="en-GB" sz="1600" dirty="0" err="1">
                <a:solidFill>
                  <a:srgbClr val="008180"/>
                </a:solidFill>
              </a:rPr>
              <a:t>Vuk</a:t>
            </a:r>
            <a:r>
              <a:rPr lang="en-GB" sz="1600" dirty="0">
                <a:solidFill>
                  <a:srgbClr val="008180"/>
                </a:solidFill>
              </a:rPr>
              <a:t>'</a:t>
            </a:r>
            <a:r>
              <a:rPr lang="en-GB" sz="1600" dirty="0"/>
              <a:t>, </a:t>
            </a:r>
            <a:r>
              <a:rPr lang="en-GB" sz="1600" dirty="0">
                <a:solidFill>
                  <a:srgbClr val="2300FF"/>
                </a:solidFill>
              </a:rPr>
              <a:t>5</a:t>
            </a:r>
            <a:r>
              <a:rPr lang="en-GB" sz="1600" dirty="0"/>
              <a:t>, Address(</a:t>
            </a:r>
            <a:r>
              <a:rPr lang="en-GB" sz="1600" dirty="0">
                <a:solidFill>
                  <a:srgbClr val="2300FF"/>
                </a:solidFill>
              </a:rPr>
              <a:t>1</a:t>
            </a:r>
            <a:r>
              <a:rPr lang="en-GB" sz="1600" dirty="0"/>
              <a:t>, </a:t>
            </a:r>
            <a:r>
              <a:rPr lang="en-GB" sz="1600" dirty="0">
                <a:solidFill>
                  <a:srgbClr val="008180"/>
                </a:solidFill>
              </a:rPr>
              <a:t>'Station Road'</a:t>
            </a:r>
            <a:r>
              <a:rPr lang="en-GB" sz="1600" dirty="0"/>
              <a:t>, </a:t>
            </a:r>
            <a:r>
              <a:rPr lang="en-GB" sz="1600" dirty="0">
                <a:solidFill>
                  <a:srgbClr val="008180"/>
                </a:solidFill>
              </a:rPr>
              <a:t>‘ES4'</a:t>
            </a:r>
            <a:r>
              <a:rPr lang="en-GB" sz="1600" dirty="0"/>
              <a:t>, </a:t>
            </a:r>
            <a:r>
              <a:rPr lang="en-GB" sz="1600" dirty="0">
                <a:solidFill>
                  <a:srgbClr val="008180"/>
                </a:solidFill>
              </a:rPr>
              <a:t>'UK'</a:t>
            </a:r>
            <a:r>
              <a:rPr lang="en-GB" sz="1600" dirty="0"/>
              <a:t>))</a:t>
            </a:r>
            <a:br>
              <a:rPr lang="en-GB" sz="1600" dirty="0"/>
            </a:br>
            <a:r>
              <a:rPr lang="en-GB" sz="1600" dirty="0"/>
              <a:t>    princess = Dog(</a:t>
            </a:r>
            <a:r>
              <a:rPr lang="en-GB" sz="1600" dirty="0">
                <a:solidFill>
                  <a:srgbClr val="008180"/>
                </a:solidFill>
              </a:rPr>
              <a:t>'Princess'</a:t>
            </a:r>
            <a:r>
              <a:rPr lang="en-GB" sz="1600" dirty="0"/>
              <a:t>, </a:t>
            </a:r>
            <a:r>
              <a:rPr lang="en-GB" sz="1600" dirty="0">
                <a:solidFill>
                  <a:srgbClr val="2300FF"/>
                </a:solidFill>
              </a:rPr>
              <a:t>2</a:t>
            </a:r>
            <a:r>
              <a:rPr lang="en-GB" sz="1600" dirty="0"/>
              <a:t>, Address(2, </a:t>
            </a:r>
            <a:r>
              <a:rPr lang="en-GB" sz="1600" dirty="0">
                <a:solidFill>
                  <a:srgbClr val="008180"/>
                </a:solidFill>
              </a:rPr>
              <a:t>'Hendon Lane'</a:t>
            </a:r>
            <a:r>
              <a:rPr lang="en-GB" sz="1600" dirty="0"/>
              <a:t>, </a:t>
            </a:r>
            <a:r>
              <a:rPr lang="en-GB" sz="1600" dirty="0">
                <a:solidFill>
                  <a:srgbClr val="008180"/>
                </a:solidFill>
              </a:rPr>
              <a:t>'N4'</a:t>
            </a:r>
            <a:r>
              <a:rPr lang="en-GB" sz="1600" dirty="0"/>
              <a:t>, </a:t>
            </a:r>
            <a:r>
              <a:rPr lang="en-GB" sz="1600" dirty="0">
                <a:solidFill>
                  <a:srgbClr val="008180"/>
                </a:solidFill>
              </a:rPr>
              <a:t>'UK'</a:t>
            </a:r>
            <a:r>
              <a:rPr lang="en-GB" sz="1600" dirty="0"/>
              <a:t>))</a:t>
            </a:r>
            <a:br>
              <a:rPr lang="en-GB" sz="1600" dirty="0"/>
            </a:br>
            <a:r>
              <a:rPr lang="en-GB" sz="1600" dirty="0"/>
              <a:t>    </a:t>
            </a:r>
            <a:r>
              <a:rPr lang="en-GB" sz="1600" dirty="0" err="1"/>
              <a:t>poko</a:t>
            </a:r>
            <a:r>
              <a:rPr lang="en-GB" sz="1600" dirty="0"/>
              <a:t> = Cat(</a:t>
            </a:r>
            <a:r>
              <a:rPr lang="en-GB" sz="1600" dirty="0">
                <a:solidFill>
                  <a:srgbClr val="008180"/>
                </a:solidFill>
              </a:rPr>
              <a:t>'Poko'</a:t>
            </a:r>
            <a:r>
              <a:rPr lang="en-GB" sz="1600" dirty="0"/>
              <a:t>,</a:t>
            </a:r>
            <a:r>
              <a:rPr lang="en-GB" sz="1600" dirty="0">
                <a:solidFill>
                  <a:srgbClr val="2300FF"/>
                </a:solidFill>
              </a:rPr>
              <a:t>1</a:t>
            </a:r>
            <a:r>
              <a:rPr lang="en-GB" sz="1600" dirty="0"/>
              <a:t>, Address(</a:t>
            </a:r>
            <a:r>
              <a:rPr lang="en-GB" sz="1600" dirty="0">
                <a:solidFill>
                  <a:srgbClr val="2300FF"/>
                </a:solidFill>
              </a:rPr>
              <a:t>1</a:t>
            </a:r>
            <a:r>
              <a:rPr lang="en-GB" sz="1600" dirty="0"/>
              <a:t>, </a:t>
            </a:r>
            <a:r>
              <a:rPr lang="en-GB" sz="1600" dirty="0">
                <a:solidFill>
                  <a:srgbClr val="008180"/>
                </a:solidFill>
              </a:rPr>
              <a:t>‘Dog lane'</a:t>
            </a:r>
            <a:r>
              <a:rPr lang="en-GB" sz="1600" dirty="0"/>
              <a:t>, </a:t>
            </a:r>
            <a:r>
              <a:rPr lang="en-GB" sz="1600" dirty="0">
                <a:solidFill>
                  <a:srgbClr val="008180"/>
                </a:solidFill>
              </a:rPr>
              <a:t>‘NW1'</a:t>
            </a:r>
            <a:r>
              <a:rPr lang="en-GB" sz="1600" dirty="0"/>
              <a:t>, </a:t>
            </a:r>
            <a:r>
              <a:rPr lang="en-GB" sz="1600" dirty="0">
                <a:solidFill>
                  <a:srgbClr val="008180"/>
                </a:solidFill>
              </a:rPr>
              <a:t>'UK'</a:t>
            </a:r>
            <a:r>
              <a:rPr lang="en-GB" sz="1600" dirty="0"/>
              <a:t>))</a:t>
            </a:r>
            <a:br>
              <a:rPr lang="en-GB" sz="1600" dirty="0"/>
            </a:br>
            <a:br>
              <a:rPr lang="en-GB" sz="1600" dirty="0"/>
            </a:br>
            <a:r>
              <a:rPr lang="en-GB" sz="1600" dirty="0"/>
              <a:t>    animals = [</a:t>
            </a:r>
            <a:r>
              <a:rPr lang="en-GB" sz="1600" dirty="0" err="1"/>
              <a:t>vuk</a:t>
            </a:r>
            <a:r>
              <a:rPr lang="en-GB" sz="1600" dirty="0"/>
              <a:t>, princess, </a:t>
            </a:r>
            <a:r>
              <a:rPr lang="en-GB" sz="1600" dirty="0" err="1"/>
              <a:t>poko</a:t>
            </a:r>
            <a:r>
              <a:rPr lang="en-GB" sz="1600" dirty="0"/>
              <a:t>]</a:t>
            </a:r>
            <a:br>
              <a:rPr lang="en-GB" sz="1600" dirty="0"/>
            </a:br>
            <a:br>
              <a:rPr lang="en-GB" sz="1600" dirty="0"/>
            </a:br>
            <a:r>
              <a:rPr lang="en-GB" sz="1600" dirty="0"/>
              <a:t>    </a:t>
            </a:r>
            <a:r>
              <a:rPr lang="en-GB" sz="1600" b="1" dirty="0">
                <a:solidFill>
                  <a:srgbClr val="0A007A"/>
                </a:solidFill>
              </a:rPr>
              <a:t>for</a:t>
            </a:r>
            <a:r>
              <a:rPr lang="en-GB" sz="1600" b="1" dirty="0"/>
              <a:t> </a:t>
            </a:r>
            <a:r>
              <a:rPr lang="en-GB" sz="1600" dirty="0" err="1"/>
              <a:t>i</a:t>
            </a:r>
            <a:r>
              <a:rPr lang="en-GB" sz="1600" dirty="0"/>
              <a:t> </a:t>
            </a:r>
            <a:r>
              <a:rPr lang="en-GB" sz="1600" b="1" dirty="0">
                <a:solidFill>
                  <a:srgbClr val="0A007A"/>
                </a:solidFill>
              </a:rPr>
              <a:t>in</a:t>
            </a:r>
            <a:r>
              <a:rPr lang="en-GB" sz="1600" b="1" dirty="0"/>
              <a:t> </a:t>
            </a:r>
            <a:r>
              <a:rPr lang="en-GB" sz="1600" dirty="0"/>
              <a:t>animals:</a:t>
            </a:r>
            <a:br>
              <a:rPr lang="en-GB" sz="1600" dirty="0"/>
            </a:br>
            <a:r>
              <a:rPr lang="en-GB" sz="1600" dirty="0"/>
              <a:t>        print(</a:t>
            </a:r>
            <a:r>
              <a:rPr lang="en-GB" sz="1600" dirty="0" err="1"/>
              <a:t>i</a:t>
            </a:r>
            <a:r>
              <a:rPr lang="en-GB" sz="1600" dirty="0"/>
              <a:t>)</a:t>
            </a:r>
            <a:br>
              <a:rPr lang="en-GB" sz="1600" dirty="0"/>
            </a:br>
            <a:r>
              <a:rPr lang="en-GB" sz="1600" dirty="0"/>
              <a:t>        print(</a:t>
            </a:r>
            <a:r>
              <a:rPr lang="en-GB" sz="1600" b="1" dirty="0">
                <a:solidFill>
                  <a:srgbClr val="008180"/>
                </a:solidFill>
              </a:rPr>
              <a:t>'----------------------'</a:t>
            </a:r>
            <a:r>
              <a:rPr lang="en-GB" sz="1600" dirty="0"/>
              <a:t>)</a:t>
            </a:r>
            <a:br>
              <a:rPr lang="en-GB" sz="1600" dirty="0"/>
            </a:br>
            <a:br>
              <a:rPr lang="en-GB" sz="1600" dirty="0"/>
            </a:br>
            <a:r>
              <a:rPr lang="en-GB" sz="1600" b="1" dirty="0"/>
              <a:t>if </a:t>
            </a:r>
            <a:r>
              <a:rPr lang="en-GB" sz="1600" dirty="0">
                <a:solidFill>
                  <a:srgbClr val="C300B8"/>
                </a:solidFill>
              </a:rPr>
              <a:t>__name__</a:t>
            </a:r>
            <a:r>
              <a:rPr lang="en-GB" sz="1600" dirty="0"/>
              <a:t>==</a:t>
            </a:r>
            <a:r>
              <a:rPr lang="en-GB" sz="1600" b="1" dirty="0">
                <a:solidFill>
                  <a:srgbClr val="008180"/>
                </a:solidFill>
              </a:rPr>
              <a:t>'__main__'</a:t>
            </a:r>
            <a:r>
              <a:rPr lang="en-GB" sz="1600" dirty="0"/>
              <a:t>:</a:t>
            </a:r>
            <a:br>
              <a:rPr lang="en-GB" sz="1600" dirty="0"/>
            </a:br>
            <a:r>
              <a:rPr lang="en-GB" sz="1600" dirty="0"/>
              <a:t>    main()</a:t>
            </a:r>
            <a:br>
              <a:rPr lang="en-GB" sz="1600" dirty="0"/>
            </a:br>
            <a:br>
              <a:rPr lang="en-GB" sz="1600" dirty="0"/>
            </a:br>
            <a:endParaRPr lang="en-GB" dirty="0"/>
          </a:p>
          <a:p>
            <a:endParaRPr lang="en-US" sz="1600" dirty="0"/>
          </a:p>
        </p:txBody>
      </p:sp>
      <mc:AlternateContent xmlns:mc="http://schemas.openxmlformats.org/markup-compatibility/2006" xmlns:p14="http://schemas.microsoft.com/office/powerpoint/2010/main">
        <mc:Choice Requires="p14">
          <p:contentPart p14:bwMode="auto" r:id="rId2">
            <p14:nvContentPartPr>
              <p14:cNvPr id="16" name="Ink 15">
                <a:extLst>
                  <a:ext uri="{FF2B5EF4-FFF2-40B4-BE49-F238E27FC236}">
                    <a16:creationId xmlns:a16="http://schemas.microsoft.com/office/drawing/2014/main" id="{691E4E72-7CBD-2E46-A227-0C911C0B56E5}"/>
                  </a:ext>
                </a:extLst>
              </p14:cNvPr>
              <p14:cNvContentPartPr/>
              <p14:nvPr/>
            </p14:nvContentPartPr>
            <p14:xfrm>
              <a:off x="6494856" y="-66936"/>
              <a:ext cx="5632920" cy="2923560"/>
            </p14:xfrm>
          </p:contentPart>
        </mc:Choice>
        <mc:Fallback xmlns="">
          <p:pic>
            <p:nvPicPr>
              <p:cNvPr id="16" name="Ink 15">
                <a:extLst>
                  <a:ext uri="{FF2B5EF4-FFF2-40B4-BE49-F238E27FC236}">
                    <a16:creationId xmlns:a16="http://schemas.microsoft.com/office/drawing/2014/main" id="{691E4E72-7CBD-2E46-A227-0C911C0B56E5}"/>
                  </a:ext>
                </a:extLst>
              </p:cNvPr>
              <p:cNvPicPr/>
              <p:nvPr/>
            </p:nvPicPr>
            <p:blipFill>
              <a:blip r:embed=""/>
              <a:stretch>
                <a:fillRect/>
              </a:stretch>
            </p:blipFill>
            <p:spPr>
              <a:xfrm>
                <a:off x="6485856" y="-75936"/>
                <a:ext cx="5650560" cy="2941200"/>
              </a:xfrm>
              <a:prstGeom prst="rect">
                <a:avLst/>
              </a:prstGeom>
            </p:spPr>
          </p:pic>
        </mc:Fallback>
      </mc:AlternateContent>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3B58DF86-BD61-424A-B288-031021193C04}"/>
                  </a:ext>
                </a:extLst>
              </p14:cNvPr>
              <p14:cNvContentPartPr/>
              <p14:nvPr/>
            </p14:nvContentPartPr>
            <p14:xfrm>
              <a:off x="8284776" y="3562944"/>
              <a:ext cx="3177000" cy="73800"/>
            </p14:xfrm>
          </p:contentPart>
        </mc:Choice>
        <mc:Fallback xmlns="">
          <p:pic>
            <p:nvPicPr>
              <p:cNvPr id="18" name="Ink 17">
                <a:extLst>
                  <a:ext uri="{FF2B5EF4-FFF2-40B4-BE49-F238E27FC236}">
                    <a16:creationId xmlns:a16="http://schemas.microsoft.com/office/drawing/2014/main" id="{3B58DF86-BD61-424A-B288-031021193C04}"/>
                  </a:ext>
                </a:extLst>
              </p:cNvPr>
              <p:cNvPicPr/>
              <p:nvPr/>
            </p:nvPicPr>
            <p:blipFill>
              <a:blip r:embed=""/>
              <a:stretch>
                <a:fillRect/>
              </a:stretch>
            </p:blipFill>
            <p:spPr>
              <a:xfrm>
                <a:off x="8275776" y="3553944"/>
                <a:ext cx="31946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8A17A513-002C-2A4A-B5E7-E0D980158457}"/>
                  </a:ext>
                </a:extLst>
              </p14:cNvPr>
              <p14:cNvContentPartPr/>
              <p14:nvPr/>
            </p14:nvContentPartPr>
            <p14:xfrm>
              <a:off x="9081456" y="3785784"/>
              <a:ext cx="3021480" cy="69480"/>
            </p14:xfrm>
          </p:contentPart>
        </mc:Choice>
        <mc:Fallback xmlns="">
          <p:pic>
            <p:nvPicPr>
              <p:cNvPr id="19" name="Ink 18">
                <a:extLst>
                  <a:ext uri="{FF2B5EF4-FFF2-40B4-BE49-F238E27FC236}">
                    <a16:creationId xmlns:a16="http://schemas.microsoft.com/office/drawing/2014/main" id="{8A17A513-002C-2A4A-B5E7-E0D980158457}"/>
                  </a:ext>
                </a:extLst>
              </p:cNvPr>
              <p:cNvPicPr/>
              <p:nvPr/>
            </p:nvPicPr>
            <p:blipFill>
              <a:blip r:embed=""/>
              <a:stretch>
                <a:fillRect/>
              </a:stretch>
            </p:blipFill>
            <p:spPr>
              <a:xfrm>
                <a:off x="9072816" y="3777144"/>
                <a:ext cx="303912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0" name="Ink 19">
                <a:extLst>
                  <a:ext uri="{FF2B5EF4-FFF2-40B4-BE49-F238E27FC236}">
                    <a16:creationId xmlns:a16="http://schemas.microsoft.com/office/drawing/2014/main" id="{0EED5FB0-C710-FC44-98CF-34BB6FCE61E5}"/>
                  </a:ext>
                </a:extLst>
              </p14:cNvPr>
              <p14:cNvContentPartPr/>
              <p14:nvPr/>
            </p14:nvContentPartPr>
            <p14:xfrm>
              <a:off x="8397456" y="4100064"/>
              <a:ext cx="2876040" cy="75960"/>
            </p14:xfrm>
          </p:contentPart>
        </mc:Choice>
        <mc:Fallback xmlns="">
          <p:pic>
            <p:nvPicPr>
              <p:cNvPr id="20" name="Ink 19">
                <a:extLst>
                  <a:ext uri="{FF2B5EF4-FFF2-40B4-BE49-F238E27FC236}">
                    <a16:creationId xmlns:a16="http://schemas.microsoft.com/office/drawing/2014/main" id="{0EED5FB0-C710-FC44-98CF-34BB6FCE61E5}"/>
                  </a:ext>
                </a:extLst>
              </p:cNvPr>
              <p:cNvPicPr/>
              <p:nvPr/>
            </p:nvPicPr>
            <p:blipFill>
              <a:blip r:embed=""/>
              <a:stretch>
                <a:fillRect/>
              </a:stretch>
            </p:blipFill>
            <p:spPr>
              <a:xfrm>
                <a:off x="8388816" y="4091064"/>
                <a:ext cx="289368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2" name="Ink 21">
                <a:extLst>
                  <a:ext uri="{FF2B5EF4-FFF2-40B4-BE49-F238E27FC236}">
                    <a16:creationId xmlns:a16="http://schemas.microsoft.com/office/drawing/2014/main" id="{720B1557-22CA-6449-A426-91C363C69118}"/>
                  </a:ext>
                </a:extLst>
              </p14:cNvPr>
              <p14:cNvContentPartPr/>
              <p14:nvPr/>
            </p14:nvContentPartPr>
            <p14:xfrm>
              <a:off x="3003216" y="2092344"/>
              <a:ext cx="740520" cy="45360"/>
            </p14:xfrm>
          </p:contentPart>
        </mc:Choice>
        <mc:Fallback xmlns="">
          <p:pic>
            <p:nvPicPr>
              <p:cNvPr id="22" name="Ink 21">
                <a:extLst>
                  <a:ext uri="{FF2B5EF4-FFF2-40B4-BE49-F238E27FC236}">
                    <a16:creationId xmlns:a16="http://schemas.microsoft.com/office/drawing/2014/main" id="{720B1557-22CA-6449-A426-91C363C69118}"/>
                  </a:ext>
                </a:extLst>
              </p:cNvPr>
              <p:cNvPicPr/>
              <p:nvPr/>
            </p:nvPicPr>
            <p:blipFill>
              <a:blip r:embed=""/>
              <a:stretch>
                <a:fillRect/>
              </a:stretch>
            </p:blipFill>
            <p:spPr>
              <a:xfrm>
                <a:off x="2994576" y="2083704"/>
                <a:ext cx="75816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3" name="Ink 22">
                <a:extLst>
                  <a:ext uri="{FF2B5EF4-FFF2-40B4-BE49-F238E27FC236}">
                    <a16:creationId xmlns:a16="http://schemas.microsoft.com/office/drawing/2014/main" id="{B449FDAA-919C-924C-9E85-5590CD8B1EBD}"/>
                  </a:ext>
                </a:extLst>
              </p14:cNvPr>
              <p14:cNvContentPartPr/>
              <p14:nvPr/>
            </p14:nvContentPartPr>
            <p14:xfrm>
              <a:off x="764016" y="2800824"/>
              <a:ext cx="1998360" cy="127440"/>
            </p14:xfrm>
          </p:contentPart>
        </mc:Choice>
        <mc:Fallback xmlns="">
          <p:pic>
            <p:nvPicPr>
              <p:cNvPr id="23" name="Ink 22">
                <a:extLst>
                  <a:ext uri="{FF2B5EF4-FFF2-40B4-BE49-F238E27FC236}">
                    <a16:creationId xmlns:a16="http://schemas.microsoft.com/office/drawing/2014/main" id="{B449FDAA-919C-924C-9E85-5590CD8B1EBD}"/>
                  </a:ext>
                </a:extLst>
              </p:cNvPr>
              <p:cNvPicPr/>
              <p:nvPr/>
            </p:nvPicPr>
            <p:blipFill>
              <a:blip r:embed=""/>
              <a:stretch>
                <a:fillRect/>
              </a:stretch>
            </p:blipFill>
            <p:spPr>
              <a:xfrm>
                <a:off x="755376" y="2792184"/>
                <a:ext cx="20160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ABD00165-3DBF-7542-92D4-125AE640C775}"/>
                  </a:ext>
                </a:extLst>
              </p14:cNvPr>
              <p14:cNvContentPartPr/>
              <p14:nvPr/>
            </p14:nvContentPartPr>
            <p14:xfrm>
              <a:off x="1382496" y="6033264"/>
              <a:ext cx="1330200" cy="9720"/>
            </p14:xfrm>
          </p:contentPart>
        </mc:Choice>
        <mc:Fallback xmlns="">
          <p:pic>
            <p:nvPicPr>
              <p:cNvPr id="24" name="Ink 23">
                <a:extLst>
                  <a:ext uri="{FF2B5EF4-FFF2-40B4-BE49-F238E27FC236}">
                    <a16:creationId xmlns:a16="http://schemas.microsoft.com/office/drawing/2014/main" id="{ABD00165-3DBF-7542-92D4-125AE640C775}"/>
                  </a:ext>
                </a:extLst>
              </p:cNvPr>
              <p:cNvPicPr/>
              <p:nvPr/>
            </p:nvPicPr>
            <p:blipFill>
              <a:blip r:embed=""/>
              <a:stretch>
                <a:fillRect/>
              </a:stretch>
            </p:blipFill>
            <p:spPr>
              <a:xfrm>
                <a:off x="1373496" y="6024264"/>
                <a:ext cx="1347840" cy="27360"/>
              </a:xfrm>
              <a:prstGeom prst="rect">
                <a:avLst/>
              </a:prstGeom>
            </p:spPr>
          </p:pic>
        </mc:Fallback>
      </mc:AlternateContent>
      <p:sp>
        <p:nvSpPr>
          <p:cNvPr id="3" name="Shape 9">
            <a:extLst>
              <a:ext uri="{FF2B5EF4-FFF2-40B4-BE49-F238E27FC236}">
                <a16:creationId xmlns:a16="http://schemas.microsoft.com/office/drawing/2014/main" id="{F51A3607-C894-41A1-F65E-2AAC466F1988}"/>
              </a:ext>
            </a:extLst>
          </p:cNvPr>
          <p:cNvSpPr/>
          <p:nvPr/>
        </p:nvSpPr>
        <p:spPr>
          <a:xfrm>
            <a:off x="162781" y="1449823"/>
            <a:ext cx="45719" cy="5079811"/>
          </a:xfrm>
          <a:prstGeom prst="rect">
            <a:avLst/>
          </a:prstGeom>
          <a:solidFill>
            <a:srgbClr val="0055FF"/>
          </a:solidFill>
          <a:ln/>
        </p:spPr>
        <p:txBody>
          <a:bodyPr/>
          <a:lstStyle/>
          <a:p>
            <a:endParaRPr lang="en-US" sz="2400"/>
          </a:p>
        </p:txBody>
      </p:sp>
      <p:sp>
        <p:nvSpPr>
          <p:cNvPr id="10" name="Shape 9">
            <a:extLst>
              <a:ext uri="{FF2B5EF4-FFF2-40B4-BE49-F238E27FC236}">
                <a16:creationId xmlns:a16="http://schemas.microsoft.com/office/drawing/2014/main" id="{994FCE4B-35D8-412B-31F3-286341AD88E8}"/>
              </a:ext>
            </a:extLst>
          </p:cNvPr>
          <p:cNvSpPr/>
          <p:nvPr/>
        </p:nvSpPr>
        <p:spPr>
          <a:xfrm>
            <a:off x="6583680" y="211644"/>
            <a:ext cx="45719" cy="2589179"/>
          </a:xfrm>
          <a:prstGeom prst="rect">
            <a:avLst/>
          </a:prstGeom>
          <a:solidFill>
            <a:srgbClr val="0055FF"/>
          </a:solidFill>
          <a:ln/>
        </p:spPr>
        <p:txBody>
          <a:bodyPr/>
          <a:lstStyle/>
          <a:p>
            <a:endParaRPr lang="en-US" sz="2400"/>
          </a:p>
        </p:txBody>
      </p:sp>
      <p:sp>
        <p:nvSpPr>
          <p:cNvPr id="11" name="Shape 9">
            <a:extLst>
              <a:ext uri="{FF2B5EF4-FFF2-40B4-BE49-F238E27FC236}">
                <a16:creationId xmlns:a16="http://schemas.microsoft.com/office/drawing/2014/main" id="{35A63C61-677F-C8E4-3B99-7E86300963D0}"/>
              </a:ext>
            </a:extLst>
          </p:cNvPr>
          <p:cNvSpPr/>
          <p:nvPr/>
        </p:nvSpPr>
        <p:spPr>
          <a:xfrm>
            <a:off x="6414514" y="3040809"/>
            <a:ext cx="80342" cy="3359062"/>
          </a:xfrm>
          <a:prstGeom prst="rect">
            <a:avLst/>
          </a:prstGeom>
          <a:solidFill>
            <a:srgbClr val="0055FF"/>
          </a:solidFill>
          <a:ln/>
        </p:spPr>
        <p:txBody>
          <a:bodyPr/>
          <a:lstStyle/>
          <a:p>
            <a:endParaRPr lang="en-US" sz="2400"/>
          </a:p>
        </p:txBody>
      </p:sp>
    </p:spTree>
    <p:extLst>
      <p:ext uri="{BB962C8B-B14F-4D97-AF65-F5344CB8AC3E}">
        <p14:creationId xmlns:p14="http://schemas.microsoft.com/office/powerpoint/2010/main" val="1287133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39EEA-0033-3D4D-A5B6-64A509E0EB28}"/>
              </a:ext>
            </a:extLst>
          </p:cNvPr>
          <p:cNvSpPr>
            <a:spLocks noGrp="1"/>
          </p:cNvSpPr>
          <p:nvPr>
            <p:ph type="title"/>
          </p:nvPr>
        </p:nvSpPr>
        <p:spPr/>
        <p:txBody>
          <a:bodyPr/>
          <a:lstStyle/>
          <a:p>
            <a:r>
              <a:rPr lang="en-GB" b="1" dirty="0">
                <a:latin typeface="+mn-lt"/>
                <a:cs typeface="Arial" panose="020B0604020202020204" pitchFamily="34" charset="0"/>
              </a:rPr>
              <a:t>Inheritance vs Composition</a:t>
            </a:r>
            <a:endParaRPr lang="en-US" dirty="0">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040CCB05-2E3B-8D4E-B915-4B6E5A484332}"/>
              </a:ext>
            </a:extLst>
          </p:cNvPr>
          <p:cNvSpPr>
            <a:spLocks noGrp="1"/>
          </p:cNvSpPr>
          <p:nvPr>
            <p:ph idx="1"/>
          </p:nvPr>
        </p:nvSpPr>
        <p:spPr/>
        <p:txBody>
          <a:bodyPr>
            <a:normAutofit/>
          </a:bodyPr>
          <a:lstStyle/>
          <a:p>
            <a:r>
              <a:rPr lang="en-GB" sz="2400" b="1" dirty="0"/>
              <a:t>Inheritance</a:t>
            </a:r>
            <a:r>
              <a:rPr lang="en-GB" sz="2400" dirty="0"/>
              <a:t> models what is called an </a:t>
            </a:r>
            <a:r>
              <a:rPr lang="en-GB" sz="2400" b="1" dirty="0"/>
              <a:t>is a</a:t>
            </a:r>
            <a:r>
              <a:rPr lang="en-GB" sz="2400" dirty="0"/>
              <a:t> relationship. This means that when you have a Derived class that inherits from a Base class, you created a relationship where Derived </a:t>
            </a:r>
            <a:r>
              <a:rPr lang="en-GB" sz="2400" b="1" dirty="0"/>
              <a:t>is a</a:t>
            </a:r>
            <a:r>
              <a:rPr lang="en-GB" sz="2400" dirty="0"/>
              <a:t> specialized version of Base.</a:t>
            </a:r>
          </a:p>
          <a:p>
            <a:r>
              <a:rPr lang="en-GB" sz="2400" dirty="0"/>
              <a:t>Example: a cat is a animal (</a:t>
            </a:r>
            <a:r>
              <a:rPr lang="en-GB" sz="2400" b="1" dirty="0"/>
              <a:t>inheritance</a:t>
            </a:r>
            <a:r>
              <a:rPr lang="en-GB" sz="2400" dirty="0"/>
              <a:t> / </a:t>
            </a:r>
            <a:r>
              <a:rPr lang="en-GB" sz="2400" b="1" dirty="0"/>
              <a:t>generalization</a:t>
            </a:r>
            <a:r>
              <a:rPr lang="en-GB" sz="2400" dirty="0"/>
              <a:t>)</a:t>
            </a:r>
            <a:endParaRPr lang="en-US" sz="2400" dirty="0"/>
          </a:p>
        </p:txBody>
      </p:sp>
      <p:pic>
        <p:nvPicPr>
          <p:cNvPr id="5" name="Picture 4" descr="Diagram&#10;&#10;Description automatically generated">
            <a:extLst>
              <a:ext uri="{FF2B5EF4-FFF2-40B4-BE49-F238E27FC236}">
                <a16:creationId xmlns:a16="http://schemas.microsoft.com/office/drawing/2014/main" id="{1CE353CB-C9B0-AB46-919E-8B159C590D85}"/>
              </a:ext>
            </a:extLst>
          </p:cNvPr>
          <p:cNvPicPr>
            <a:picLocks noChangeAspect="1"/>
          </p:cNvPicPr>
          <p:nvPr/>
        </p:nvPicPr>
        <p:blipFill>
          <a:blip r:embed="rId2"/>
          <a:stretch>
            <a:fillRect/>
          </a:stretch>
        </p:blipFill>
        <p:spPr>
          <a:xfrm>
            <a:off x="3930650" y="4483100"/>
            <a:ext cx="3517900" cy="1828800"/>
          </a:xfrm>
          <a:prstGeom prst="rect">
            <a:avLst/>
          </a:prstGeom>
        </p:spPr>
      </p:pic>
    </p:spTree>
    <p:extLst>
      <p:ext uri="{BB962C8B-B14F-4D97-AF65-F5344CB8AC3E}">
        <p14:creationId xmlns:p14="http://schemas.microsoft.com/office/powerpoint/2010/main" val="4231413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77683"/>
          </a:xfrm>
          <a:prstGeom prst="rect">
            <a:avLst/>
          </a:prstGeom>
        </p:spPr>
      </p:pic>
      <p:sp>
        <p:nvSpPr>
          <p:cNvPr id="3" name="Text 0"/>
          <p:cNvSpPr/>
          <p:nvPr/>
        </p:nvSpPr>
        <p:spPr>
          <a:xfrm>
            <a:off x="952501" y="762000"/>
            <a:ext cx="1136017" cy="146258"/>
          </a:xfrm>
          <a:prstGeom prst="rect">
            <a:avLst/>
          </a:prstGeom>
          <a:noFill/>
          <a:ln/>
        </p:spPr>
        <p:txBody>
          <a:bodyPr wrap="none" lIns="0" tIns="0" rIns="0" bIns="0" rtlCol="0" anchor="t">
            <a:spAutoFit/>
          </a:bodyPr>
          <a:lstStyle/>
          <a:p>
            <a:pPr>
              <a:lnSpc>
                <a:spcPts val="1200"/>
              </a:lnSpc>
            </a:pPr>
            <a:r>
              <a:rPr lang="en-US" sz="911" b="1" kern="0" spc="1" dirty="0">
                <a:solidFill>
                  <a:srgbClr val="0066CC"/>
                </a:solidFill>
              </a:rPr>
              <a:t>Identifying Project Domain Objects</a:t>
            </a:r>
            <a:endParaRPr lang="en-US" sz="911" dirty="0"/>
          </a:p>
        </p:txBody>
      </p:sp>
      <p:sp>
        <p:nvSpPr>
          <p:cNvPr id="4" name="Text 1"/>
          <p:cNvSpPr/>
          <p:nvPr/>
        </p:nvSpPr>
        <p:spPr>
          <a:xfrm>
            <a:off x="952501" y="1057275"/>
            <a:ext cx="5018874" cy="397545"/>
          </a:xfrm>
          <a:prstGeom prst="rect">
            <a:avLst/>
          </a:prstGeom>
          <a:noFill/>
          <a:ln/>
        </p:spPr>
        <p:txBody>
          <a:bodyPr wrap="none" lIns="0" tIns="0" rIns="0" bIns="0" rtlCol="0" anchor="t">
            <a:spAutoFit/>
          </a:bodyPr>
          <a:lstStyle/>
          <a:p>
            <a:pPr>
              <a:lnSpc>
                <a:spcPts val="3067"/>
              </a:lnSpc>
            </a:pPr>
            <a:r>
              <a:rPr lang="en-US" sz="2800" b="1" dirty="0">
                <a:solidFill>
                  <a:srgbClr val="1A1A2E"/>
                </a:solidFill>
              </a:rPr>
              <a:t>Identifying Domain Entity Objects</a:t>
            </a:r>
            <a:endParaRPr lang="en-US" sz="2800" dirty="0"/>
          </a:p>
        </p:txBody>
      </p:sp>
      <p:sp>
        <p:nvSpPr>
          <p:cNvPr id="5" name="Text 2"/>
          <p:cNvSpPr/>
          <p:nvPr/>
        </p:nvSpPr>
        <p:spPr>
          <a:xfrm>
            <a:off x="952500" y="1720194"/>
            <a:ext cx="10287000" cy="217945"/>
          </a:xfrm>
          <a:prstGeom prst="rect">
            <a:avLst/>
          </a:prstGeom>
          <a:noFill/>
          <a:ln/>
        </p:spPr>
        <p:txBody>
          <a:bodyPr wrap="square" lIns="0" tIns="0" rIns="0" bIns="0" rtlCol="0" anchor="t">
            <a:spAutoFit/>
          </a:bodyPr>
          <a:lstStyle/>
          <a:p>
            <a:pPr>
              <a:lnSpc>
                <a:spcPts val="1867"/>
              </a:lnSpc>
            </a:pPr>
            <a:r>
              <a:rPr lang="en-US" sz="1040" dirty="0">
                <a:solidFill>
                  <a:srgbClr val="333333"/>
                </a:solidFill>
              </a:rPr>
              <a:t>Domain entities represent the core data objects in our application. Each entity corresponds to a real-world concept and encapsulates related data and behavior.</a:t>
            </a:r>
            <a:endParaRPr lang="en-US" sz="1040" dirty="0"/>
          </a:p>
        </p:txBody>
      </p:sp>
      <p:sp>
        <p:nvSpPr>
          <p:cNvPr id="6" name="Shape 3"/>
          <p:cNvSpPr/>
          <p:nvPr/>
        </p:nvSpPr>
        <p:spPr>
          <a:xfrm>
            <a:off x="952500" y="2386943"/>
            <a:ext cx="5038725" cy="2140595"/>
          </a:xfrm>
          <a:prstGeom prst="rect">
            <a:avLst/>
          </a:prstGeom>
          <a:solidFill>
            <a:srgbClr val="FFFFFF"/>
          </a:solidFill>
          <a:ln/>
        </p:spPr>
        <p:txBody>
          <a:bodyPr/>
          <a:lstStyle/>
          <a:p>
            <a:endParaRPr lang="en-US" sz="2400"/>
          </a:p>
        </p:txBody>
      </p:sp>
      <p:sp>
        <p:nvSpPr>
          <p:cNvPr id="7" name="Text 4"/>
          <p:cNvSpPr/>
          <p:nvPr/>
        </p:nvSpPr>
        <p:spPr>
          <a:xfrm>
            <a:off x="1219200" y="2539343"/>
            <a:ext cx="322204" cy="227242"/>
          </a:xfrm>
          <a:prstGeom prst="rect">
            <a:avLst/>
          </a:prstGeom>
          <a:noFill/>
          <a:ln/>
        </p:spPr>
        <p:txBody>
          <a:bodyPr wrap="none" lIns="0" tIns="0" rIns="0" bIns="0" rtlCol="0" anchor="t">
            <a:spAutoFit/>
          </a:bodyPr>
          <a:lstStyle/>
          <a:p>
            <a:pPr>
              <a:lnSpc>
                <a:spcPts val="1867"/>
              </a:lnSpc>
            </a:pPr>
            <a:r>
              <a:rPr lang="en-US" sz="1316" b="1" dirty="0">
                <a:solidFill>
                  <a:srgbClr val="1A1A2E"/>
                </a:solidFill>
              </a:rPr>
              <a:t>User</a:t>
            </a:r>
            <a:endParaRPr lang="en-US" sz="1316" dirty="0"/>
          </a:p>
        </p:txBody>
      </p:sp>
      <p:sp>
        <p:nvSpPr>
          <p:cNvPr id="8" name="Text 5"/>
          <p:cNvSpPr/>
          <p:nvPr/>
        </p:nvSpPr>
        <p:spPr>
          <a:xfrm>
            <a:off x="1219201" y="2837000"/>
            <a:ext cx="646203" cy="133819"/>
          </a:xfrm>
          <a:prstGeom prst="rect">
            <a:avLst/>
          </a:prstGeom>
          <a:noFill/>
          <a:ln/>
        </p:spPr>
        <p:txBody>
          <a:bodyPr wrap="none" lIns="0" tIns="0" rIns="0" bIns="0" rtlCol="0" anchor="t">
            <a:spAutoFit/>
          </a:bodyPr>
          <a:lstStyle/>
          <a:p>
            <a:pPr>
              <a:lnSpc>
                <a:spcPts val="1067"/>
              </a:lnSpc>
            </a:pPr>
            <a:r>
              <a:rPr lang="en-US" sz="828" kern="0" spc="1" dirty="0">
                <a:solidFill>
                  <a:srgbClr val="666666"/>
                </a:solidFill>
              </a:rPr>
              <a:t>Authentication</a:t>
            </a:r>
            <a:endParaRPr lang="en-US" sz="828" dirty="0"/>
          </a:p>
        </p:txBody>
      </p:sp>
      <p:sp>
        <p:nvSpPr>
          <p:cNvPr id="9" name="Text 6"/>
          <p:cNvSpPr/>
          <p:nvPr/>
        </p:nvSpPr>
        <p:spPr>
          <a:xfrm>
            <a:off x="1219201" y="3106080"/>
            <a:ext cx="455253" cy="144014"/>
          </a:xfrm>
          <a:prstGeom prst="rect">
            <a:avLst/>
          </a:prstGeom>
          <a:noFill/>
          <a:ln/>
        </p:spPr>
        <p:txBody>
          <a:bodyPr wrap="none" lIns="0" tIns="0" rIns="0" bIns="0" rtlCol="0" anchor="t">
            <a:spAutoFit/>
          </a:bodyPr>
          <a:lstStyle/>
          <a:p>
            <a:pPr>
              <a:lnSpc>
                <a:spcPts val="1200"/>
              </a:lnSpc>
            </a:pPr>
            <a:r>
              <a:rPr lang="en-US" sz="845" b="1" dirty="0">
                <a:solidFill>
                  <a:srgbClr val="0066CC"/>
                </a:solidFill>
              </a:rPr>
              <a:t>Attributes</a:t>
            </a:r>
            <a:endParaRPr lang="en-US" sz="845" dirty="0"/>
          </a:p>
        </p:txBody>
      </p:sp>
      <p:sp>
        <p:nvSpPr>
          <p:cNvPr id="10" name="Text 7"/>
          <p:cNvSpPr/>
          <p:nvPr/>
        </p:nvSpPr>
        <p:spPr>
          <a:xfrm>
            <a:off x="1219200" y="3313250"/>
            <a:ext cx="830740"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username: str</a:t>
            </a:r>
            <a:endParaRPr lang="en-US" sz="899" dirty="0"/>
          </a:p>
        </p:txBody>
      </p:sp>
      <p:sp>
        <p:nvSpPr>
          <p:cNvPr id="11" name="Text 8"/>
          <p:cNvSpPr/>
          <p:nvPr/>
        </p:nvSpPr>
        <p:spPr>
          <a:xfrm>
            <a:off x="1219201" y="3499434"/>
            <a:ext cx="1090427"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password_hash: str</a:t>
            </a:r>
            <a:endParaRPr lang="en-US" sz="899" dirty="0"/>
          </a:p>
        </p:txBody>
      </p:sp>
      <p:sp>
        <p:nvSpPr>
          <p:cNvPr id="12" name="Text 9"/>
          <p:cNvSpPr/>
          <p:nvPr/>
        </p:nvSpPr>
        <p:spPr>
          <a:xfrm>
            <a:off x="1219200" y="3685618"/>
            <a:ext cx="548612"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role: str</a:t>
            </a:r>
            <a:endParaRPr lang="en-US" sz="899" dirty="0"/>
          </a:p>
        </p:txBody>
      </p:sp>
      <p:sp>
        <p:nvSpPr>
          <p:cNvPr id="13" name="Text 10"/>
          <p:cNvSpPr/>
          <p:nvPr/>
        </p:nvSpPr>
        <p:spPr>
          <a:xfrm>
            <a:off x="1219200" y="3313250"/>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14" name="Text 11"/>
          <p:cNvSpPr/>
          <p:nvPr/>
        </p:nvSpPr>
        <p:spPr>
          <a:xfrm>
            <a:off x="1219200" y="3499434"/>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15" name="Text 12"/>
          <p:cNvSpPr/>
          <p:nvPr/>
        </p:nvSpPr>
        <p:spPr>
          <a:xfrm>
            <a:off x="1219200" y="3685618"/>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16" name="Text 13"/>
          <p:cNvSpPr/>
          <p:nvPr/>
        </p:nvSpPr>
        <p:spPr>
          <a:xfrm>
            <a:off x="1219200" y="3967051"/>
            <a:ext cx="402354" cy="144014"/>
          </a:xfrm>
          <a:prstGeom prst="rect">
            <a:avLst/>
          </a:prstGeom>
          <a:noFill/>
          <a:ln/>
        </p:spPr>
        <p:txBody>
          <a:bodyPr wrap="none" lIns="0" tIns="0" rIns="0" bIns="0" rtlCol="0" anchor="t">
            <a:spAutoFit/>
          </a:bodyPr>
          <a:lstStyle/>
          <a:p>
            <a:pPr>
              <a:lnSpc>
                <a:spcPts val="1200"/>
              </a:lnSpc>
            </a:pPr>
            <a:r>
              <a:rPr lang="en-US" sz="845" b="1" dirty="0">
                <a:solidFill>
                  <a:srgbClr val="0066CC"/>
                </a:solidFill>
              </a:rPr>
              <a:t>Methods</a:t>
            </a:r>
            <a:endParaRPr lang="en-US" sz="845" dirty="0"/>
          </a:p>
        </p:txBody>
      </p:sp>
      <p:sp>
        <p:nvSpPr>
          <p:cNvPr id="17" name="Text 14"/>
          <p:cNvSpPr/>
          <p:nvPr/>
        </p:nvSpPr>
        <p:spPr>
          <a:xfrm>
            <a:off x="1219201" y="4174221"/>
            <a:ext cx="1473545"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verify_password(password)</a:t>
            </a:r>
            <a:endParaRPr lang="en-US" sz="899" dirty="0"/>
          </a:p>
        </p:txBody>
      </p:sp>
      <p:sp>
        <p:nvSpPr>
          <p:cNvPr id="18" name="Text 15"/>
          <p:cNvSpPr/>
          <p:nvPr/>
        </p:nvSpPr>
        <p:spPr>
          <a:xfrm>
            <a:off x="1219200" y="4360405"/>
            <a:ext cx="647998"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get_role()</a:t>
            </a:r>
            <a:endParaRPr lang="en-US" sz="899" dirty="0"/>
          </a:p>
        </p:txBody>
      </p:sp>
      <p:sp>
        <p:nvSpPr>
          <p:cNvPr id="19" name="Shape 16"/>
          <p:cNvSpPr/>
          <p:nvPr/>
        </p:nvSpPr>
        <p:spPr>
          <a:xfrm>
            <a:off x="6200775" y="2386943"/>
            <a:ext cx="5038725" cy="2140595"/>
          </a:xfrm>
          <a:prstGeom prst="rect">
            <a:avLst/>
          </a:prstGeom>
          <a:solidFill>
            <a:srgbClr val="FFFFFF"/>
          </a:solidFill>
          <a:ln/>
        </p:spPr>
        <p:txBody>
          <a:bodyPr/>
          <a:lstStyle/>
          <a:p>
            <a:endParaRPr lang="en-US" sz="2400"/>
          </a:p>
        </p:txBody>
      </p:sp>
      <p:sp>
        <p:nvSpPr>
          <p:cNvPr id="20" name="Text 17"/>
          <p:cNvSpPr/>
          <p:nvPr/>
        </p:nvSpPr>
        <p:spPr>
          <a:xfrm>
            <a:off x="1219200" y="4174221"/>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21" name="Text 18"/>
          <p:cNvSpPr/>
          <p:nvPr/>
        </p:nvSpPr>
        <p:spPr>
          <a:xfrm>
            <a:off x="1219200" y="4360405"/>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22" name="Text 19"/>
          <p:cNvSpPr/>
          <p:nvPr/>
        </p:nvSpPr>
        <p:spPr>
          <a:xfrm>
            <a:off x="6467475" y="2539343"/>
            <a:ext cx="1136530" cy="227242"/>
          </a:xfrm>
          <a:prstGeom prst="rect">
            <a:avLst/>
          </a:prstGeom>
          <a:noFill/>
          <a:ln/>
        </p:spPr>
        <p:txBody>
          <a:bodyPr wrap="none" lIns="0" tIns="0" rIns="0" bIns="0" rtlCol="0" anchor="t">
            <a:spAutoFit/>
          </a:bodyPr>
          <a:lstStyle/>
          <a:p>
            <a:pPr>
              <a:lnSpc>
                <a:spcPts val="1867"/>
              </a:lnSpc>
            </a:pPr>
            <a:r>
              <a:rPr lang="en-US" sz="1316" b="1" dirty="0">
                <a:solidFill>
                  <a:srgbClr val="1A1A2E"/>
                </a:solidFill>
              </a:rPr>
              <a:t>SecurityIncident</a:t>
            </a:r>
            <a:endParaRPr lang="en-US" sz="1316" dirty="0"/>
          </a:p>
        </p:txBody>
      </p:sp>
      <p:sp>
        <p:nvSpPr>
          <p:cNvPr id="23" name="Text 20"/>
          <p:cNvSpPr/>
          <p:nvPr/>
        </p:nvSpPr>
        <p:spPr>
          <a:xfrm>
            <a:off x="6467475" y="2837000"/>
            <a:ext cx="954749" cy="133819"/>
          </a:xfrm>
          <a:prstGeom prst="rect">
            <a:avLst/>
          </a:prstGeom>
          <a:noFill/>
          <a:ln/>
        </p:spPr>
        <p:txBody>
          <a:bodyPr wrap="none" lIns="0" tIns="0" rIns="0" bIns="0" rtlCol="0" anchor="t">
            <a:spAutoFit/>
          </a:bodyPr>
          <a:lstStyle/>
          <a:p>
            <a:pPr>
              <a:lnSpc>
                <a:spcPts val="1067"/>
              </a:lnSpc>
            </a:pPr>
            <a:r>
              <a:rPr lang="en-US" sz="828" kern="0" spc="1" dirty="0">
                <a:solidFill>
                  <a:srgbClr val="666666"/>
                </a:solidFill>
              </a:rPr>
              <a:t>Cybersecurity Domain</a:t>
            </a:r>
            <a:endParaRPr lang="en-US" sz="828" dirty="0"/>
          </a:p>
        </p:txBody>
      </p:sp>
      <p:sp>
        <p:nvSpPr>
          <p:cNvPr id="24" name="Text 21"/>
          <p:cNvSpPr/>
          <p:nvPr/>
        </p:nvSpPr>
        <p:spPr>
          <a:xfrm>
            <a:off x="6467475" y="3106080"/>
            <a:ext cx="455253" cy="144014"/>
          </a:xfrm>
          <a:prstGeom prst="rect">
            <a:avLst/>
          </a:prstGeom>
          <a:noFill/>
          <a:ln/>
        </p:spPr>
        <p:txBody>
          <a:bodyPr wrap="none" lIns="0" tIns="0" rIns="0" bIns="0" rtlCol="0" anchor="t">
            <a:spAutoFit/>
          </a:bodyPr>
          <a:lstStyle/>
          <a:p>
            <a:pPr>
              <a:lnSpc>
                <a:spcPts val="1200"/>
              </a:lnSpc>
            </a:pPr>
            <a:r>
              <a:rPr lang="en-US" sz="845" b="1" dirty="0">
                <a:solidFill>
                  <a:srgbClr val="0066CC"/>
                </a:solidFill>
              </a:rPr>
              <a:t>Attributes</a:t>
            </a:r>
            <a:endParaRPr lang="en-US" sz="845" dirty="0"/>
          </a:p>
        </p:txBody>
      </p:sp>
      <p:sp>
        <p:nvSpPr>
          <p:cNvPr id="25" name="Text 22"/>
          <p:cNvSpPr/>
          <p:nvPr/>
        </p:nvSpPr>
        <p:spPr>
          <a:xfrm>
            <a:off x="6467476" y="3313250"/>
            <a:ext cx="454035"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id: int</a:t>
            </a:r>
            <a:endParaRPr lang="en-US" sz="899" dirty="0"/>
          </a:p>
        </p:txBody>
      </p:sp>
      <p:sp>
        <p:nvSpPr>
          <p:cNvPr id="26" name="Text 23"/>
          <p:cNvSpPr/>
          <p:nvPr/>
        </p:nvSpPr>
        <p:spPr>
          <a:xfrm>
            <a:off x="6467475" y="3499434"/>
            <a:ext cx="1011880"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incident_type: str</a:t>
            </a:r>
            <a:endParaRPr lang="en-US" sz="899" dirty="0"/>
          </a:p>
        </p:txBody>
      </p:sp>
      <p:sp>
        <p:nvSpPr>
          <p:cNvPr id="27" name="Text 24"/>
          <p:cNvSpPr/>
          <p:nvPr/>
        </p:nvSpPr>
        <p:spPr>
          <a:xfrm>
            <a:off x="6467475" y="3685618"/>
            <a:ext cx="732958"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severity: str</a:t>
            </a:r>
            <a:endParaRPr lang="en-US" sz="899" dirty="0"/>
          </a:p>
        </p:txBody>
      </p:sp>
      <p:sp>
        <p:nvSpPr>
          <p:cNvPr id="28" name="Text 25"/>
          <p:cNvSpPr/>
          <p:nvPr/>
        </p:nvSpPr>
        <p:spPr>
          <a:xfrm>
            <a:off x="6467475" y="3313250"/>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29" name="Text 26"/>
          <p:cNvSpPr/>
          <p:nvPr/>
        </p:nvSpPr>
        <p:spPr>
          <a:xfrm>
            <a:off x="6467475" y="3499434"/>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30" name="Text 27"/>
          <p:cNvSpPr/>
          <p:nvPr/>
        </p:nvSpPr>
        <p:spPr>
          <a:xfrm>
            <a:off x="6467475" y="3685618"/>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31" name="Text 28"/>
          <p:cNvSpPr/>
          <p:nvPr/>
        </p:nvSpPr>
        <p:spPr>
          <a:xfrm>
            <a:off x="6467475" y="3967051"/>
            <a:ext cx="402354" cy="144014"/>
          </a:xfrm>
          <a:prstGeom prst="rect">
            <a:avLst/>
          </a:prstGeom>
          <a:noFill/>
          <a:ln/>
        </p:spPr>
        <p:txBody>
          <a:bodyPr wrap="none" lIns="0" tIns="0" rIns="0" bIns="0" rtlCol="0" anchor="t">
            <a:spAutoFit/>
          </a:bodyPr>
          <a:lstStyle/>
          <a:p>
            <a:pPr>
              <a:lnSpc>
                <a:spcPts val="1200"/>
              </a:lnSpc>
            </a:pPr>
            <a:r>
              <a:rPr lang="en-US" sz="845" b="1" dirty="0">
                <a:solidFill>
                  <a:srgbClr val="0066CC"/>
                </a:solidFill>
              </a:rPr>
              <a:t>Methods</a:t>
            </a:r>
            <a:endParaRPr lang="en-US" sz="845" dirty="0"/>
          </a:p>
        </p:txBody>
      </p:sp>
      <p:sp>
        <p:nvSpPr>
          <p:cNvPr id="32" name="Text 29"/>
          <p:cNvSpPr/>
          <p:nvPr/>
        </p:nvSpPr>
        <p:spPr>
          <a:xfrm>
            <a:off x="6467475" y="4174221"/>
            <a:ext cx="1467133"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update_status(new_status)</a:t>
            </a:r>
            <a:endParaRPr lang="en-US" sz="899" dirty="0"/>
          </a:p>
        </p:txBody>
      </p:sp>
      <p:sp>
        <p:nvSpPr>
          <p:cNvPr id="33" name="Text 30"/>
          <p:cNvSpPr/>
          <p:nvPr/>
        </p:nvSpPr>
        <p:spPr>
          <a:xfrm>
            <a:off x="6467475" y="4360405"/>
            <a:ext cx="1111266"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get_severity_level()</a:t>
            </a:r>
            <a:endParaRPr lang="en-US" sz="899" dirty="0"/>
          </a:p>
        </p:txBody>
      </p:sp>
      <p:sp>
        <p:nvSpPr>
          <p:cNvPr id="34" name="Shape 31"/>
          <p:cNvSpPr/>
          <p:nvPr/>
        </p:nvSpPr>
        <p:spPr>
          <a:xfrm>
            <a:off x="952500" y="4737088"/>
            <a:ext cx="5038725" cy="2140595"/>
          </a:xfrm>
          <a:prstGeom prst="rect">
            <a:avLst/>
          </a:prstGeom>
          <a:solidFill>
            <a:srgbClr val="FFFFFF"/>
          </a:solidFill>
          <a:ln/>
        </p:spPr>
        <p:txBody>
          <a:bodyPr/>
          <a:lstStyle/>
          <a:p>
            <a:endParaRPr lang="en-US" sz="2400"/>
          </a:p>
        </p:txBody>
      </p:sp>
      <p:sp>
        <p:nvSpPr>
          <p:cNvPr id="35" name="Text 32"/>
          <p:cNvSpPr/>
          <p:nvPr/>
        </p:nvSpPr>
        <p:spPr>
          <a:xfrm>
            <a:off x="6467475" y="4174221"/>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36" name="Text 33"/>
          <p:cNvSpPr/>
          <p:nvPr/>
        </p:nvSpPr>
        <p:spPr>
          <a:xfrm>
            <a:off x="6467475" y="4360405"/>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37" name="Text 34"/>
          <p:cNvSpPr/>
          <p:nvPr/>
        </p:nvSpPr>
        <p:spPr>
          <a:xfrm>
            <a:off x="1219200" y="4889488"/>
            <a:ext cx="535852" cy="227242"/>
          </a:xfrm>
          <a:prstGeom prst="rect">
            <a:avLst/>
          </a:prstGeom>
          <a:noFill/>
          <a:ln/>
        </p:spPr>
        <p:txBody>
          <a:bodyPr wrap="none" lIns="0" tIns="0" rIns="0" bIns="0" rtlCol="0" anchor="t">
            <a:spAutoFit/>
          </a:bodyPr>
          <a:lstStyle/>
          <a:p>
            <a:pPr>
              <a:lnSpc>
                <a:spcPts val="1867"/>
              </a:lnSpc>
            </a:pPr>
            <a:r>
              <a:rPr lang="en-US" sz="1316" b="1" dirty="0">
                <a:solidFill>
                  <a:srgbClr val="1A1A2E"/>
                </a:solidFill>
              </a:rPr>
              <a:t>Dataset</a:t>
            </a:r>
            <a:endParaRPr lang="en-US" sz="1316" dirty="0"/>
          </a:p>
        </p:txBody>
      </p:sp>
      <p:sp>
        <p:nvSpPr>
          <p:cNvPr id="38" name="Text 35"/>
          <p:cNvSpPr/>
          <p:nvPr/>
        </p:nvSpPr>
        <p:spPr>
          <a:xfrm>
            <a:off x="1219200" y="5187145"/>
            <a:ext cx="916148" cy="133819"/>
          </a:xfrm>
          <a:prstGeom prst="rect">
            <a:avLst/>
          </a:prstGeom>
          <a:noFill/>
          <a:ln/>
        </p:spPr>
        <p:txBody>
          <a:bodyPr wrap="none" lIns="0" tIns="0" rIns="0" bIns="0" rtlCol="0" anchor="t">
            <a:spAutoFit/>
          </a:bodyPr>
          <a:lstStyle/>
          <a:p>
            <a:pPr>
              <a:lnSpc>
                <a:spcPts val="1067"/>
              </a:lnSpc>
            </a:pPr>
            <a:r>
              <a:rPr lang="en-US" sz="828" kern="0" spc="1" dirty="0">
                <a:solidFill>
                  <a:srgbClr val="666666"/>
                </a:solidFill>
              </a:rPr>
              <a:t>Data Science Domain</a:t>
            </a:r>
            <a:endParaRPr lang="en-US" sz="828" dirty="0"/>
          </a:p>
        </p:txBody>
      </p:sp>
      <p:sp>
        <p:nvSpPr>
          <p:cNvPr id="39" name="Text 36"/>
          <p:cNvSpPr/>
          <p:nvPr/>
        </p:nvSpPr>
        <p:spPr>
          <a:xfrm>
            <a:off x="1219201" y="5456225"/>
            <a:ext cx="452047" cy="144014"/>
          </a:xfrm>
          <a:prstGeom prst="rect">
            <a:avLst/>
          </a:prstGeom>
          <a:noFill/>
          <a:ln/>
        </p:spPr>
        <p:txBody>
          <a:bodyPr wrap="none" lIns="0" tIns="0" rIns="0" bIns="0" rtlCol="0" anchor="t">
            <a:spAutoFit/>
          </a:bodyPr>
          <a:lstStyle/>
          <a:p>
            <a:pPr>
              <a:lnSpc>
                <a:spcPts val="1200"/>
              </a:lnSpc>
            </a:pPr>
            <a:r>
              <a:rPr lang="en-US" sz="845" b="1" dirty="0">
                <a:solidFill>
                  <a:srgbClr val="0066CC"/>
                </a:solidFill>
              </a:rPr>
              <a:t>Attributes</a:t>
            </a:r>
            <a:endParaRPr lang="en-US" sz="845" dirty="0"/>
          </a:p>
        </p:txBody>
      </p:sp>
      <p:sp>
        <p:nvSpPr>
          <p:cNvPr id="40" name="Text 37"/>
          <p:cNvSpPr/>
          <p:nvPr/>
        </p:nvSpPr>
        <p:spPr>
          <a:xfrm>
            <a:off x="1219201" y="5663394"/>
            <a:ext cx="454035"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id: int</a:t>
            </a:r>
            <a:endParaRPr lang="en-US" sz="899" dirty="0"/>
          </a:p>
        </p:txBody>
      </p:sp>
      <p:sp>
        <p:nvSpPr>
          <p:cNvPr id="41" name="Text 38"/>
          <p:cNvSpPr/>
          <p:nvPr/>
        </p:nvSpPr>
        <p:spPr>
          <a:xfrm>
            <a:off x="1219200" y="5849578"/>
            <a:ext cx="627159"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name: str</a:t>
            </a:r>
            <a:endParaRPr lang="en-US" sz="899" dirty="0"/>
          </a:p>
        </p:txBody>
      </p:sp>
      <p:sp>
        <p:nvSpPr>
          <p:cNvPr id="42" name="Text 39"/>
          <p:cNvSpPr/>
          <p:nvPr/>
        </p:nvSpPr>
        <p:spPr>
          <a:xfrm>
            <a:off x="1219201" y="6035762"/>
            <a:ext cx="540597"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size: int</a:t>
            </a:r>
            <a:endParaRPr lang="en-US" sz="899" dirty="0"/>
          </a:p>
        </p:txBody>
      </p:sp>
      <p:sp>
        <p:nvSpPr>
          <p:cNvPr id="43" name="Text 40"/>
          <p:cNvSpPr/>
          <p:nvPr/>
        </p:nvSpPr>
        <p:spPr>
          <a:xfrm>
            <a:off x="1219200" y="5663394"/>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44" name="Text 41"/>
          <p:cNvSpPr/>
          <p:nvPr/>
        </p:nvSpPr>
        <p:spPr>
          <a:xfrm>
            <a:off x="1219200" y="5849578"/>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45" name="Text 42"/>
          <p:cNvSpPr/>
          <p:nvPr/>
        </p:nvSpPr>
        <p:spPr>
          <a:xfrm>
            <a:off x="1219200" y="6035762"/>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46" name="Text 43"/>
          <p:cNvSpPr/>
          <p:nvPr/>
        </p:nvSpPr>
        <p:spPr>
          <a:xfrm>
            <a:off x="1219200" y="6317196"/>
            <a:ext cx="402354" cy="144014"/>
          </a:xfrm>
          <a:prstGeom prst="rect">
            <a:avLst/>
          </a:prstGeom>
          <a:noFill/>
          <a:ln/>
        </p:spPr>
        <p:txBody>
          <a:bodyPr wrap="none" lIns="0" tIns="0" rIns="0" bIns="0" rtlCol="0" anchor="t">
            <a:spAutoFit/>
          </a:bodyPr>
          <a:lstStyle/>
          <a:p>
            <a:pPr>
              <a:lnSpc>
                <a:spcPts val="1200"/>
              </a:lnSpc>
            </a:pPr>
            <a:r>
              <a:rPr lang="en-US" sz="845" b="1" dirty="0">
                <a:solidFill>
                  <a:srgbClr val="0066CC"/>
                </a:solidFill>
              </a:rPr>
              <a:t>Methods</a:t>
            </a:r>
            <a:endParaRPr lang="en-US" sz="845" dirty="0"/>
          </a:p>
        </p:txBody>
      </p:sp>
      <p:sp>
        <p:nvSpPr>
          <p:cNvPr id="47" name="Text 44"/>
          <p:cNvSpPr/>
          <p:nvPr/>
        </p:nvSpPr>
        <p:spPr>
          <a:xfrm>
            <a:off x="1219201" y="6524365"/>
            <a:ext cx="1109663"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calculate_size_mb()</a:t>
            </a:r>
            <a:endParaRPr lang="en-US" sz="899" dirty="0"/>
          </a:p>
        </p:txBody>
      </p:sp>
      <p:sp>
        <p:nvSpPr>
          <p:cNvPr id="48" name="Text 45"/>
          <p:cNvSpPr/>
          <p:nvPr/>
        </p:nvSpPr>
        <p:spPr>
          <a:xfrm>
            <a:off x="1219200" y="6710549"/>
            <a:ext cx="774636"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get_source()</a:t>
            </a:r>
            <a:endParaRPr lang="en-US" sz="899" dirty="0"/>
          </a:p>
        </p:txBody>
      </p:sp>
      <p:sp>
        <p:nvSpPr>
          <p:cNvPr id="49" name="Shape 46"/>
          <p:cNvSpPr/>
          <p:nvPr/>
        </p:nvSpPr>
        <p:spPr>
          <a:xfrm>
            <a:off x="6200775" y="4737088"/>
            <a:ext cx="5038725" cy="2140595"/>
          </a:xfrm>
          <a:prstGeom prst="rect">
            <a:avLst/>
          </a:prstGeom>
          <a:solidFill>
            <a:srgbClr val="FFFFFF"/>
          </a:solidFill>
          <a:ln/>
        </p:spPr>
        <p:txBody>
          <a:bodyPr/>
          <a:lstStyle/>
          <a:p>
            <a:endParaRPr lang="en-US" sz="2400"/>
          </a:p>
        </p:txBody>
      </p:sp>
      <p:sp>
        <p:nvSpPr>
          <p:cNvPr id="50" name="Text 47"/>
          <p:cNvSpPr/>
          <p:nvPr/>
        </p:nvSpPr>
        <p:spPr>
          <a:xfrm>
            <a:off x="1219200" y="6524365"/>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51" name="Text 48"/>
          <p:cNvSpPr/>
          <p:nvPr/>
        </p:nvSpPr>
        <p:spPr>
          <a:xfrm>
            <a:off x="1219200" y="6710549"/>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52" name="Text 49"/>
          <p:cNvSpPr/>
          <p:nvPr/>
        </p:nvSpPr>
        <p:spPr>
          <a:xfrm>
            <a:off x="6467475" y="4889488"/>
            <a:ext cx="544508" cy="227242"/>
          </a:xfrm>
          <a:prstGeom prst="rect">
            <a:avLst/>
          </a:prstGeom>
          <a:noFill/>
          <a:ln/>
        </p:spPr>
        <p:txBody>
          <a:bodyPr wrap="none" lIns="0" tIns="0" rIns="0" bIns="0" rtlCol="0" anchor="t">
            <a:spAutoFit/>
          </a:bodyPr>
          <a:lstStyle/>
          <a:p>
            <a:pPr>
              <a:lnSpc>
                <a:spcPts val="1867"/>
              </a:lnSpc>
            </a:pPr>
            <a:r>
              <a:rPr lang="en-US" sz="1316" b="1" dirty="0">
                <a:solidFill>
                  <a:srgbClr val="1A1A2E"/>
                </a:solidFill>
              </a:rPr>
              <a:t>ITTicket</a:t>
            </a:r>
            <a:endParaRPr lang="en-US" sz="1316" dirty="0"/>
          </a:p>
        </p:txBody>
      </p:sp>
      <p:sp>
        <p:nvSpPr>
          <p:cNvPr id="53" name="Text 50"/>
          <p:cNvSpPr/>
          <p:nvPr/>
        </p:nvSpPr>
        <p:spPr>
          <a:xfrm>
            <a:off x="6467476" y="5187145"/>
            <a:ext cx="948337" cy="133819"/>
          </a:xfrm>
          <a:prstGeom prst="rect">
            <a:avLst/>
          </a:prstGeom>
          <a:noFill/>
          <a:ln/>
        </p:spPr>
        <p:txBody>
          <a:bodyPr wrap="none" lIns="0" tIns="0" rIns="0" bIns="0" rtlCol="0" anchor="t">
            <a:spAutoFit/>
          </a:bodyPr>
          <a:lstStyle/>
          <a:p>
            <a:pPr>
              <a:lnSpc>
                <a:spcPts val="1067"/>
              </a:lnSpc>
            </a:pPr>
            <a:r>
              <a:rPr lang="en-US" sz="828" kern="0" spc="1" dirty="0">
                <a:solidFill>
                  <a:srgbClr val="666666"/>
                </a:solidFill>
              </a:rPr>
              <a:t>IT Operations Domain</a:t>
            </a:r>
            <a:endParaRPr lang="en-US" sz="828" dirty="0"/>
          </a:p>
        </p:txBody>
      </p:sp>
      <p:sp>
        <p:nvSpPr>
          <p:cNvPr id="54" name="Text 51"/>
          <p:cNvSpPr/>
          <p:nvPr/>
        </p:nvSpPr>
        <p:spPr>
          <a:xfrm>
            <a:off x="6467475" y="5456225"/>
            <a:ext cx="455253" cy="144014"/>
          </a:xfrm>
          <a:prstGeom prst="rect">
            <a:avLst/>
          </a:prstGeom>
          <a:noFill/>
          <a:ln/>
        </p:spPr>
        <p:txBody>
          <a:bodyPr wrap="none" lIns="0" tIns="0" rIns="0" bIns="0" rtlCol="0" anchor="t">
            <a:spAutoFit/>
          </a:bodyPr>
          <a:lstStyle/>
          <a:p>
            <a:pPr>
              <a:lnSpc>
                <a:spcPts val="1200"/>
              </a:lnSpc>
            </a:pPr>
            <a:r>
              <a:rPr lang="en-US" sz="845" b="1" dirty="0">
                <a:solidFill>
                  <a:srgbClr val="0066CC"/>
                </a:solidFill>
              </a:rPr>
              <a:t>Attributes</a:t>
            </a:r>
            <a:endParaRPr lang="en-US" sz="845" dirty="0"/>
          </a:p>
        </p:txBody>
      </p:sp>
      <p:sp>
        <p:nvSpPr>
          <p:cNvPr id="55" name="Text 52"/>
          <p:cNvSpPr/>
          <p:nvPr/>
        </p:nvSpPr>
        <p:spPr>
          <a:xfrm>
            <a:off x="6467476" y="5663394"/>
            <a:ext cx="454035"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id: int</a:t>
            </a:r>
            <a:endParaRPr lang="en-US" sz="899" dirty="0"/>
          </a:p>
        </p:txBody>
      </p:sp>
      <p:sp>
        <p:nvSpPr>
          <p:cNvPr id="56" name="Text 53"/>
          <p:cNvSpPr/>
          <p:nvPr/>
        </p:nvSpPr>
        <p:spPr>
          <a:xfrm>
            <a:off x="6467476" y="5849578"/>
            <a:ext cx="550215"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title: str</a:t>
            </a:r>
            <a:endParaRPr lang="en-US" sz="899" dirty="0"/>
          </a:p>
        </p:txBody>
      </p:sp>
      <p:sp>
        <p:nvSpPr>
          <p:cNvPr id="57" name="Text 54"/>
          <p:cNvSpPr/>
          <p:nvPr/>
        </p:nvSpPr>
        <p:spPr>
          <a:xfrm>
            <a:off x="6467475" y="6035762"/>
            <a:ext cx="710516"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priority: str</a:t>
            </a:r>
            <a:endParaRPr lang="en-US" sz="899" dirty="0"/>
          </a:p>
        </p:txBody>
      </p:sp>
      <p:sp>
        <p:nvSpPr>
          <p:cNvPr id="58" name="Text 55"/>
          <p:cNvSpPr/>
          <p:nvPr/>
        </p:nvSpPr>
        <p:spPr>
          <a:xfrm>
            <a:off x="6467475" y="5663394"/>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59" name="Text 56"/>
          <p:cNvSpPr/>
          <p:nvPr/>
        </p:nvSpPr>
        <p:spPr>
          <a:xfrm>
            <a:off x="6467475" y="5849578"/>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60" name="Text 57"/>
          <p:cNvSpPr/>
          <p:nvPr/>
        </p:nvSpPr>
        <p:spPr>
          <a:xfrm>
            <a:off x="6467475" y="6035762"/>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61" name="Text 58"/>
          <p:cNvSpPr/>
          <p:nvPr/>
        </p:nvSpPr>
        <p:spPr>
          <a:xfrm>
            <a:off x="6467475" y="6317196"/>
            <a:ext cx="402354" cy="144014"/>
          </a:xfrm>
          <a:prstGeom prst="rect">
            <a:avLst/>
          </a:prstGeom>
          <a:noFill/>
          <a:ln/>
        </p:spPr>
        <p:txBody>
          <a:bodyPr wrap="none" lIns="0" tIns="0" rIns="0" bIns="0" rtlCol="0" anchor="t">
            <a:spAutoFit/>
          </a:bodyPr>
          <a:lstStyle/>
          <a:p>
            <a:pPr>
              <a:lnSpc>
                <a:spcPts val="1200"/>
              </a:lnSpc>
            </a:pPr>
            <a:r>
              <a:rPr lang="en-US" sz="845" b="1" dirty="0">
                <a:solidFill>
                  <a:srgbClr val="0066CC"/>
                </a:solidFill>
              </a:rPr>
              <a:t>Methods</a:t>
            </a:r>
            <a:endParaRPr lang="en-US" sz="845" dirty="0"/>
          </a:p>
        </p:txBody>
      </p:sp>
      <p:sp>
        <p:nvSpPr>
          <p:cNvPr id="62" name="Text 59"/>
          <p:cNvSpPr/>
          <p:nvPr/>
        </p:nvSpPr>
        <p:spPr>
          <a:xfrm>
            <a:off x="6467475" y="6524365"/>
            <a:ext cx="906082"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assign_to(staff)</a:t>
            </a:r>
            <a:endParaRPr lang="en-US" sz="899" dirty="0"/>
          </a:p>
        </p:txBody>
      </p:sp>
      <p:sp>
        <p:nvSpPr>
          <p:cNvPr id="63" name="Text 60"/>
          <p:cNvSpPr/>
          <p:nvPr/>
        </p:nvSpPr>
        <p:spPr>
          <a:xfrm>
            <a:off x="6467475" y="6710549"/>
            <a:ext cx="813108" cy="155427"/>
          </a:xfrm>
          <a:prstGeom prst="rect">
            <a:avLst/>
          </a:prstGeom>
          <a:noFill/>
          <a:ln/>
        </p:spPr>
        <p:txBody>
          <a:bodyPr wrap="none" lIns="181356" tIns="0" rIns="0" bIns="0" rtlCol="0" anchor="t">
            <a:spAutoFit/>
          </a:bodyPr>
          <a:lstStyle/>
          <a:p>
            <a:pPr>
              <a:lnSpc>
                <a:spcPts val="1333"/>
              </a:lnSpc>
            </a:pPr>
            <a:r>
              <a:rPr lang="en-US" sz="899" dirty="0">
                <a:solidFill>
                  <a:srgbClr val="333333"/>
                </a:solidFill>
              </a:rPr>
              <a:t>close_ticket()</a:t>
            </a:r>
            <a:endParaRPr lang="en-US" sz="899" dirty="0"/>
          </a:p>
        </p:txBody>
      </p:sp>
      <p:sp>
        <p:nvSpPr>
          <p:cNvPr id="64" name="Text 61"/>
          <p:cNvSpPr/>
          <p:nvPr/>
        </p:nvSpPr>
        <p:spPr>
          <a:xfrm>
            <a:off x="6467475" y="6524365"/>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65" name="Text 62"/>
          <p:cNvSpPr/>
          <p:nvPr/>
        </p:nvSpPr>
        <p:spPr>
          <a:xfrm>
            <a:off x="6467475" y="6710549"/>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952501" y="762000"/>
            <a:ext cx="1136017" cy="146258"/>
          </a:xfrm>
          <a:prstGeom prst="rect">
            <a:avLst/>
          </a:prstGeom>
          <a:noFill/>
          <a:ln/>
        </p:spPr>
        <p:txBody>
          <a:bodyPr wrap="none" lIns="0" tIns="0" rIns="0" bIns="0" rtlCol="0" anchor="t">
            <a:spAutoFit/>
          </a:bodyPr>
          <a:lstStyle/>
          <a:p>
            <a:pPr>
              <a:lnSpc>
                <a:spcPts val="1200"/>
              </a:lnSpc>
            </a:pPr>
            <a:r>
              <a:rPr lang="en-US" sz="911" b="1" kern="0" spc="1" dirty="0">
                <a:solidFill>
                  <a:srgbClr val="0066CC"/>
                </a:solidFill>
              </a:rPr>
              <a:t>Identifying Service Classes</a:t>
            </a:r>
            <a:endParaRPr lang="en-US" sz="911" dirty="0"/>
          </a:p>
        </p:txBody>
      </p:sp>
      <p:sp>
        <p:nvSpPr>
          <p:cNvPr id="4" name="Text 1"/>
          <p:cNvSpPr/>
          <p:nvPr/>
        </p:nvSpPr>
        <p:spPr>
          <a:xfrm>
            <a:off x="952501" y="1057275"/>
            <a:ext cx="2982804" cy="370486"/>
          </a:xfrm>
          <a:prstGeom prst="rect">
            <a:avLst/>
          </a:prstGeom>
          <a:noFill/>
          <a:ln/>
        </p:spPr>
        <p:txBody>
          <a:bodyPr wrap="none" lIns="0" tIns="0" rIns="0" bIns="0" rtlCol="0" anchor="t">
            <a:spAutoFit/>
          </a:bodyPr>
          <a:lstStyle/>
          <a:p>
            <a:pPr>
              <a:lnSpc>
                <a:spcPts val="3067"/>
              </a:lnSpc>
            </a:pPr>
            <a:r>
              <a:rPr lang="en-US" sz="2136" b="1" dirty="0">
                <a:solidFill>
                  <a:srgbClr val="1A1A2E"/>
                </a:solidFill>
              </a:rPr>
              <a:t>Identifying Service Classes</a:t>
            </a:r>
            <a:endParaRPr lang="en-US" sz="2136" dirty="0"/>
          </a:p>
        </p:txBody>
      </p:sp>
      <p:sp>
        <p:nvSpPr>
          <p:cNvPr id="5" name="Text 2"/>
          <p:cNvSpPr/>
          <p:nvPr/>
        </p:nvSpPr>
        <p:spPr>
          <a:xfrm>
            <a:off x="952500" y="1682094"/>
            <a:ext cx="5884624" cy="217945"/>
          </a:xfrm>
          <a:prstGeom prst="rect">
            <a:avLst/>
          </a:prstGeom>
          <a:noFill/>
          <a:ln/>
        </p:spPr>
        <p:txBody>
          <a:bodyPr wrap="none" lIns="0" tIns="0" rIns="0" bIns="0" rtlCol="0" anchor="t">
            <a:spAutoFit/>
          </a:bodyPr>
          <a:lstStyle/>
          <a:p>
            <a:pPr>
              <a:lnSpc>
                <a:spcPts val="1867"/>
              </a:lnSpc>
            </a:pPr>
            <a:r>
              <a:rPr lang="en-US" sz="1040" dirty="0">
                <a:solidFill>
                  <a:srgbClr val="333333"/>
                </a:solidFill>
              </a:rPr>
              <a:t>Service classes coordinate application operations, encapsulate business logic, and manage shared resources.</a:t>
            </a:r>
            <a:endParaRPr lang="en-US" sz="1040" dirty="0"/>
          </a:p>
        </p:txBody>
      </p:sp>
      <p:sp>
        <p:nvSpPr>
          <p:cNvPr id="6" name="Shape 3"/>
          <p:cNvSpPr/>
          <p:nvPr/>
        </p:nvSpPr>
        <p:spPr>
          <a:xfrm>
            <a:off x="952500" y="2063093"/>
            <a:ext cx="10287000" cy="1004888"/>
          </a:xfrm>
          <a:prstGeom prst="rect">
            <a:avLst/>
          </a:prstGeom>
          <a:solidFill>
            <a:srgbClr val="FFFFFF"/>
          </a:solidFill>
          <a:ln/>
        </p:spPr>
        <p:txBody>
          <a:bodyPr/>
          <a:lstStyle/>
          <a:p>
            <a:endParaRPr lang="en-US" sz="2400"/>
          </a:p>
        </p:txBody>
      </p:sp>
      <p:sp>
        <p:nvSpPr>
          <p:cNvPr id="7" name="Text 4"/>
          <p:cNvSpPr/>
          <p:nvPr/>
        </p:nvSpPr>
        <p:spPr>
          <a:xfrm>
            <a:off x="1181100" y="2177394"/>
            <a:ext cx="1279004" cy="227242"/>
          </a:xfrm>
          <a:prstGeom prst="rect">
            <a:avLst/>
          </a:prstGeom>
          <a:noFill/>
          <a:ln/>
        </p:spPr>
        <p:txBody>
          <a:bodyPr wrap="none" lIns="0" tIns="0" rIns="0" bIns="0" rtlCol="0" anchor="t">
            <a:spAutoFit/>
          </a:bodyPr>
          <a:lstStyle/>
          <a:p>
            <a:pPr>
              <a:lnSpc>
                <a:spcPts val="1867"/>
              </a:lnSpc>
            </a:pPr>
            <a:r>
              <a:rPr lang="en-US" sz="1316" b="1" dirty="0">
                <a:solidFill>
                  <a:srgbClr val="1A1A2E"/>
                </a:solidFill>
              </a:rPr>
              <a:t>DatabaseManager</a:t>
            </a:r>
            <a:endParaRPr lang="en-US" sz="1316" dirty="0"/>
          </a:p>
        </p:txBody>
      </p:sp>
      <p:sp>
        <p:nvSpPr>
          <p:cNvPr id="8" name="Text 5"/>
          <p:cNvSpPr/>
          <p:nvPr/>
        </p:nvSpPr>
        <p:spPr>
          <a:xfrm>
            <a:off x="1181101" y="2475050"/>
            <a:ext cx="774827" cy="133819"/>
          </a:xfrm>
          <a:prstGeom prst="rect">
            <a:avLst/>
          </a:prstGeom>
          <a:noFill/>
          <a:ln/>
        </p:spPr>
        <p:txBody>
          <a:bodyPr wrap="none" lIns="0" tIns="0" rIns="0" bIns="0" rtlCol="0" anchor="t">
            <a:spAutoFit/>
          </a:bodyPr>
          <a:lstStyle/>
          <a:p>
            <a:pPr>
              <a:lnSpc>
                <a:spcPts val="1067"/>
              </a:lnSpc>
            </a:pPr>
            <a:r>
              <a:rPr lang="en-US" sz="828" kern="0" spc="1" dirty="0">
                <a:solidFill>
                  <a:srgbClr val="666666"/>
                </a:solidFill>
              </a:rPr>
              <a:t>Data Access Layer</a:t>
            </a:r>
            <a:endParaRPr lang="en-US" sz="828" dirty="0"/>
          </a:p>
        </p:txBody>
      </p:sp>
      <p:sp>
        <p:nvSpPr>
          <p:cNvPr id="9" name="Text 6"/>
          <p:cNvSpPr/>
          <p:nvPr/>
        </p:nvSpPr>
        <p:spPr>
          <a:xfrm>
            <a:off x="1181100" y="2667931"/>
            <a:ext cx="2667000" cy="391839"/>
          </a:xfrm>
          <a:prstGeom prst="rect">
            <a:avLst/>
          </a:prstGeom>
          <a:noFill/>
          <a:ln/>
        </p:spPr>
        <p:txBody>
          <a:bodyPr wrap="square" lIns="0" tIns="0" rIns="0" bIns="0" rtlCol="0" anchor="t">
            <a:spAutoFit/>
          </a:bodyPr>
          <a:lstStyle/>
          <a:p>
            <a:pPr>
              <a:lnSpc>
                <a:spcPts val="1600"/>
              </a:lnSpc>
            </a:pPr>
            <a:r>
              <a:rPr lang="en-US" sz="969" dirty="0">
                <a:solidFill>
                  <a:srgbClr val="333333"/>
                </a:solidFill>
              </a:rPr>
              <a:t>Centralizes DB connections, queries, and transactions.</a:t>
            </a:r>
            <a:endParaRPr lang="en-US" sz="969" dirty="0"/>
          </a:p>
        </p:txBody>
      </p:sp>
      <p:sp>
        <p:nvSpPr>
          <p:cNvPr id="10" name="Text 7"/>
          <p:cNvSpPr/>
          <p:nvPr/>
        </p:nvSpPr>
        <p:spPr>
          <a:xfrm>
            <a:off x="4076700" y="2177393"/>
            <a:ext cx="6934200" cy="144014"/>
          </a:xfrm>
          <a:prstGeom prst="rect">
            <a:avLst/>
          </a:prstGeom>
          <a:noFill/>
          <a:ln/>
        </p:spPr>
        <p:txBody>
          <a:bodyPr wrap="square" lIns="0" tIns="0" rIns="0" bIns="0" rtlCol="0" anchor="t">
            <a:spAutoFit/>
          </a:bodyPr>
          <a:lstStyle/>
          <a:p>
            <a:pPr>
              <a:lnSpc>
                <a:spcPts val="1200"/>
              </a:lnSpc>
            </a:pPr>
            <a:r>
              <a:rPr lang="en-US" sz="845" b="1" dirty="0">
                <a:solidFill>
                  <a:srgbClr val="0066CC"/>
                </a:solidFill>
              </a:rPr>
              <a:t>Key Methods</a:t>
            </a:r>
            <a:endParaRPr lang="en-US" sz="845" dirty="0"/>
          </a:p>
        </p:txBody>
      </p:sp>
      <p:sp>
        <p:nvSpPr>
          <p:cNvPr id="11" name="Text 8"/>
          <p:cNvSpPr/>
          <p:nvPr/>
        </p:nvSpPr>
        <p:spPr>
          <a:xfrm>
            <a:off x="4076701" y="2509503"/>
            <a:ext cx="3390900" cy="155427"/>
          </a:xfrm>
          <a:prstGeom prst="rect">
            <a:avLst/>
          </a:prstGeom>
          <a:noFill/>
          <a:ln/>
        </p:spPr>
        <p:txBody>
          <a:bodyPr wrap="square" lIns="136144" tIns="0" rIns="0" bIns="0" rtlCol="0" anchor="t">
            <a:spAutoFit/>
          </a:bodyPr>
          <a:lstStyle/>
          <a:p>
            <a:pPr>
              <a:lnSpc>
                <a:spcPts val="1333"/>
              </a:lnSpc>
            </a:pPr>
            <a:r>
              <a:rPr lang="en-US" sz="899" dirty="0">
                <a:solidFill>
                  <a:srgbClr val="333333"/>
                </a:solidFill>
              </a:rPr>
              <a:t>connect() - Open connection</a:t>
            </a:r>
            <a:endParaRPr lang="en-US" sz="899" dirty="0"/>
          </a:p>
        </p:txBody>
      </p:sp>
      <p:sp>
        <p:nvSpPr>
          <p:cNvPr id="12" name="Text 9"/>
          <p:cNvSpPr/>
          <p:nvPr/>
        </p:nvSpPr>
        <p:spPr>
          <a:xfrm>
            <a:off x="7620001" y="2509503"/>
            <a:ext cx="3390900" cy="155427"/>
          </a:xfrm>
          <a:prstGeom prst="rect">
            <a:avLst/>
          </a:prstGeom>
          <a:noFill/>
          <a:ln/>
        </p:spPr>
        <p:txBody>
          <a:bodyPr wrap="square" lIns="136144" tIns="0" rIns="0" bIns="0" rtlCol="0" anchor="t">
            <a:spAutoFit/>
          </a:bodyPr>
          <a:lstStyle/>
          <a:p>
            <a:pPr>
              <a:lnSpc>
                <a:spcPts val="1333"/>
              </a:lnSpc>
            </a:pPr>
            <a:r>
              <a:rPr lang="en-US" sz="899" dirty="0">
                <a:solidFill>
                  <a:srgbClr val="333333"/>
                </a:solidFill>
              </a:rPr>
              <a:t>execute_query(sql, params)</a:t>
            </a:r>
            <a:endParaRPr lang="en-US" sz="899" dirty="0"/>
          </a:p>
        </p:txBody>
      </p:sp>
      <p:sp>
        <p:nvSpPr>
          <p:cNvPr id="13" name="Text 10"/>
          <p:cNvSpPr/>
          <p:nvPr/>
        </p:nvSpPr>
        <p:spPr>
          <a:xfrm>
            <a:off x="4076701" y="2807793"/>
            <a:ext cx="3390900" cy="155427"/>
          </a:xfrm>
          <a:prstGeom prst="rect">
            <a:avLst/>
          </a:prstGeom>
          <a:noFill/>
          <a:ln/>
        </p:spPr>
        <p:txBody>
          <a:bodyPr wrap="square" lIns="136144" tIns="0" rIns="0" bIns="0" rtlCol="0" anchor="t">
            <a:spAutoFit/>
          </a:bodyPr>
          <a:lstStyle/>
          <a:p>
            <a:pPr>
              <a:lnSpc>
                <a:spcPts val="1333"/>
              </a:lnSpc>
            </a:pPr>
            <a:r>
              <a:rPr lang="en-US" sz="899" dirty="0">
                <a:solidFill>
                  <a:srgbClr val="333333"/>
                </a:solidFill>
              </a:rPr>
              <a:t>fetch_one()/fetch_all()</a:t>
            </a:r>
            <a:endParaRPr lang="en-US" sz="899" dirty="0"/>
          </a:p>
        </p:txBody>
      </p:sp>
      <p:sp>
        <p:nvSpPr>
          <p:cNvPr id="14" name="Text 11"/>
          <p:cNvSpPr/>
          <p:nvPr/>
        </p:nvSpPr>
        <p:spPr>
          <a:xfrm>
            <a:off x="7620001" y="2807793"/>
            <a:ext cx="3390900" cy="155427"/>
          </a:xfrm>
          <a:prstGeom prst="rect">
            <a:avLst/>
          </a:prstGeom>
          <a:noFill/>
          <a:ln/>
        </p:spPr>
        <p:txBody>
          <a:bodyPr wrap="square" lIns="136144" tIns="0" rIns="0" bIns="0" rtlCol="0" anchor="t">
            <a:spAutoFit/>
          </a:bodyPr>
          <a:lstStyle/>
          <a:p>
            <a:pPr>
              <a:lnSpc>
                <a:spcPts val="1333"/>
              </a:lnSpc>
            </a:pPr>
            <a:r>
              <a:rPr lang="en-US" sz="899" dirty="0">
                <a:solidFill>
                  <a:srgbClr val="333333"/>
                </a:solidFill>
              </a:rPr>
              <a:t>close() - Close connection</a:t>
            </a:r>
            <a:endParaRPr lang="en-US" sz="899" dirty="0"/>
          </a:p>
        </p:txBody>
      </p:sp>
      <p:sp>
        <p:nvSpPr>
          <p:cNvPr id="15" name="Shape 12"/>
          <p:cNvSpPr/>
          <p:nvPr/>
        </p:nvSpPr>
        <p:spPr>
          <a:xfrm>
            <a:off x="952500" y="3182280"/>
            <a:ext cx="10287000" cy="1004888"/>
          </a:xfrm>
          <a:prstGeom prst="rect">
            <a:avLst/>
          </a:prstGeom>
          <a:solidFill>
            <a:srgbClr val="FFFFFF"/>
          </a:solidFill>
          <a:ln/>
        </p:spPr>
        <p:txBody>
          <a:bodyPr/>
          <a:lstStyle/>
          <a:p>
            <a:endParaRPr lang="en-US" sz="2400"/>
          </a:p>
        </p:txBody>
      </p:sp>
      <p:sp>
        <p:nvSpPr>
          <p:cNvPr id="16" name="Text 13"/>
          <p:cNvSpPr/>
          <p:nvPr/>
        </p:nvSpPr>
        <p:spPr>
          <a:xfrm>
            <a:off x="4076700" y="2509503"/>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17" name="Text 14"/>
          <p:cNvSpPr/>
          <p:nvPr/>
        </p:nvSpPr>
        <p:spPr>
          <a:xfrm>
            <a:off x="7620000" y="2509503"/>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18" name="Text 15"/>
          <p:cNvSpPr/>
          <p:nvPr/>
        </p:nvSpPr>
        <p:spPr>
          <a:xfrm>
            <a:off x="4076700" y="2807793"/>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19" name="Text 16"/>
          <p:cNvSpPr/>
          <p:nvPr/>
        </p:nvSpPr>
        <p:spPr>
          <a:xfrm>
            <a:off x="7620000" y="2807793"/>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20" name="Text 17"/>
          <p:cNvSpPr/>
          <p:nvPr/>
        </p:nvSpPr>
        <p:spPr>
          <a:xfrm>
            <a:off x="1181100" y="3296580"/>
            <a:ext cx="966418" cy="227242"/>
          </a:xfrm>
          <a:prstGeom prst="rect">
            <a:avLst/>
          </a:prstGeom>
          <a:noFill/>
          <a:ln/>
        </p:spPr>
        <p:txBody>
          <a:bodyPr wrap="none" lIns="0" tIns="0" rIns="0" bIns="0" rtlCol="0" anchor="t">
            <a:spAutoFit/>
          </a:bodyPr>
          <a:lstStyle/>
          <a:p>
            <a:pPr>
              <a:lnSpc>
                <a:spcPts val="1867"/>
              </a:lnSpc>
            </a:pPr>
            <a:r>
              <a:rPr lang="en-US" sz="1316" b="1" dirty="0">
                <a:solidFill>
                  <a:srgbClr val="1A1A2E"/>
                </a:solidFill>
              </a:rPr>
              <a:t>AuthManager</a:t>
            </a:r>
            <a:endParaRPr lang="en-US" sz="1316" dirty="0"/>
          </a:p>
        </p:txBody>
      </p:sp>
      <p:sp>
        <p:nvSpPr>
          <p:cNvPr id="21" name="Text 18"/>
          <p:cNvSpPr/>
          <p:nvPr/>
        </p:nvSpPr>
        <p:spPr>
          <a:xfrm>
            <a:off x="1181101" y="3594237"/>
            <a:ext cx="979051" cy="133819"/>
          </a:xfrm>
          <a:prstGeom prst="rect">
            <a:avLst/>
          </a:prstGeom>
          <a:noFill/>
          <a:ln/>
        </p:spPr>
        <p:txBody>
          <a:bodyPr wrap="none" lIns="0" tIns="0" rIns="0" bIns="0" rtlCol="0" anchor="t">
            <a:spAutoFit/>
          </a:bodyPr>
          <a:lstStyle/>
          <a:p>
            <a:pPr>
              <a:lnSpc>
                <a:spcPts val="1067"/>
              </a:lnSpc>
            </a:pPr>
            <a:r>
              <a:rPr lang="en-US" sz="828" kern="0" spc="1" dirty="0">
                <a:solidFill>
                  <a:srgbClr val="666666"/>
                </a:solidFill>
              </a:rPr>
              <a:t>Authentication Service</a:t>
            </a:r>
            <a:endParaRPr lang="en-US" sz="828" dirty="0"/>
          </a:p>
        </p:txBody>
      </p:sp>
      <p:sp>
        <p:nvSpPr>
          <p:cNvPr id="22" name="Text 19"/>
          <p:cNvSpPr/>
          <p:nvPr/>
        </p:nvSpPr>
        <p:spPr>
          <a:xfrm>
            <a:off x="1181100" y="3787118"/>
            <a:ext cx="2667000" cy="391839"/>
          </a:xfrm>
          <a:prstGeom prst="rect">
            <a:avLst/>
          </a:prstGeom>
          <a:noFill/>
          <a:ln/>
        </p:spPr>
        <p:txBody>
          <a:bodyPr wrap="square" lIns="0" tIns="0" rIns="0" bIns="0" rtlCol="0" anchor="t">
            <a:spAutoFit/>
          </a:bodyPr>
          <a:lstStyle/>
          <a:p>
            <a:pPr>
              <a:lnSpc>
                <a:spcPts val="1600"/>
              </a:lnSpc>
            </a:pPr>
            <a:r>
              <a:rPr lang="en-US" sz="969" dirty="0">
                <a:solidFill>
                  <a:srgbClr val="333333"/>
                </a:solidFill>
              </a:rPr>
              <a:t>Manages authentication, registration, sessions, and roles.</a:t>
            </a:r>
            <a:endParaRPr lang="en-US" sz="969" dirty="0"/>
          </a:p>
        </p:txBody>
      </p:sp>
      <p:sp>
        <p:nvSpPr>
          <p:cNvPr id="23" name="Text 20"/>
          <p:cNvSpPr/>
          <p:nvPr/>
        </p:nvSpPr>
        <p:spPr>
          <a:xfrm>
            <a:off x="4076700" y="3296580"/>
            <a:ext cx="6934200" cy="144014"/>
          </a:xfrm>
          <a:prstGeom prst="rect">
            <a:avLst/>
          </a:prstGeom>
          <a:noFill/>
          <a:ln/>
        </p:spPr>
        <p:txBody>
          <a:bodyPr wrap="square" lIns="0" tIns="0" rIns="0" bIns="0" rtlCol="0" anchor="t">
            <a:spAutoFit/>
          </a:bodyPr>
          <a:lstStyle/>
          <a:p>
            <a:pPr>
              <a:lnSpc>
                <a:spcPts val="1200"/>
              </a:lnSpc>
            </a:pPr>
            <a:r>
              <a:rPr lang="en-US" sz="845" b="1" dirty="0">
                <a:solidFill>
                  <a:srgbClr val="0066CC"/>
                </a:solidFill>
              </a:rPr>
              <a:t>Key Methods</a:t>
            </a:r>
            <a:endParaRPr lang="en-US" sz="845" dirty="0"/>
          </a:p>
        </p:txBody>
      </p:sp>
      <p:sp>
        <p:nvSpPr>
          <p:cNvPr id="24" name="Text 21"/>
          <p:cNvSpPr/>
          <p:nvPr/>
        </p:nvSpPr>
        <p:spPr>
          <a:xfrm>
            <a:off x="4076701" y="3628691"/>
            <a:ext cx="3390900" cy="155427"/>
          </a:xfrm>
          <a:prstGeom prst="rect">
            <a:avLst/>
          </a:prstGeom>
          <a:noFill/>
          <a:ln/>
        </p:spPr>
        <p:txBody>
          <a:bodyPr wrap="square" lIns="136144" tIns="0" rIns="0" bIns="0" rtlCol="0" anchor="t">
            <a:spAutoFit/>
          </a:bodyPr>
          <a:lstStyle/>
          <a:p>
            <a:pPr>
              <a:lnSpc>
                <a:spcPts val="1333"/>
              </a:lnSpc>
            </a:pPr>
            <a:r>
              <a:rPr lang="en-US" sz="899" dirty="0">
                <a:solidFill>
                  <a:srgbClr val="333333"/>
                </a:solidFill>
              </a:rPr>
              <a:t>register_user(...)</a:t>
            </a:r>
            <a:endParaRPr lang="en-US" sz="899" dirty="0"/>
          </a:p>
        </p:txBody>
      </p:sp>
      <p:sp>
        <p:nvSpPr>
          <p:cNvPr id="25" name="Text 22"/>
          <p:cNvSpPr/>
          <p:nvPr/>
        </p:nvSpPr>
        <p:spPr>
          <a:xfrm>
            <a:off x="7620001" y="3628691"/>
            <a:ext cx="3390900" cy="155427"/>
          </a:xfrm>
          <a:prstGeom prst="rect">
            <a:avLst/>
          </a:prstGeom>
          <a:noFill/>
          <a:ln/>
        </p:spPr>
        <p:txBody>
          <a:bodyPr wrap="square" lIns="136144" tIns="0" rIns="0" bIns="0" rtlCol="0" anchor="t">
            <a:spAutoFit/>
          </a:bodyPr>
          <a:lstStyle/>
          <a:p>
            <a:pPr>
              <a:lnSpc>
                <a:spcPts val="1333"/>
              </a:lnSpc>
            </a:pPr>
            <a:r>
              <a:rPr lang="en-US" sz="899" dirty="0">
                <a:solidFill>
                  <a:srgbClr val="333333"/>
                </a:solidFill>
              </a:rPr>
              <a:t>login_user(...)</a:t>
            </a:r>
            <a:endParaRPr lang="en-US" sz="899" dirty="0"/>
          </a:p>
        </p:txBody>
      </p:sp>
      <p:sp>
        <p:nvSpPr>
          <p:cNvPr id="26" name="Text 23"/>
          <p:cNvSpPr/>
          <p:nvPr/>
        </p:nvSpPr>
        <p:spPr>
          <a:xfrm>
            <a:off x="4076701" y="3926979"/>
            <a:ext cx="3390900" cy="155427"/>
          </a:xfrm>
          <a:prstGeom prst="rect">
            <a:avLst/>
          </a:prstGeom>
          <a:noFill/>
          <a:ln/>
        </p:spPr>
        <p:txBody>
          <a:bodyPr wrap="square" lIns="136144" tIns="0" rIns="0" bIns="0" rtlCol="0" anchor="t">
            <a:spAutoFit/>
          </a:bodyPr>
          <a:lstStyle/>
          <a:p>
            <a:pPr>
              <a:lnSpc>
                <a:spcPts val="1333"/>
              </a:lnSpc>
            </a:pPr>
            <a:r>
              <a:rPr lang="en-US" sz="899" dirty="0">
                <a:solidFill>
                  <a:srgbClr val="333333"/>
                </a:solidFill>
              </a:rPr>
              <a:t>hash/verify_password(...)</a:t>
            </a:r>
            <a:endParaRPr lang="en-US" sz="899" dirty="0"/>
          </a:p>
        </p:txBody>
      </p:sp>
      <p:sp>
        <p:nvSpPr>
          <p:cNvPr id="27" name="Text 24"/>
          <p:cNvSpPr/>
          <p:nvPr/>
        </p:nvSpPr>
        <p:spPr>
          <a:xfrm>
            <a:off x="7620001" y="3926979"/>
            <a:ext cx="3390900" cy="155427"/>
          </a:xfrm>
          <a:prstGeom prst="rect">
            <a:avLst/>
          </a:prstGeom>
          <a:noFill/>
          <a:ln/>
        </p:spPr>
        <p:txBody>
          <a:bodyPr wrap="square" lIns="136144" tIns="0" rIns="0" bIns="0" rtlCol="0" anchor="t">
            <a:spAutoFit/>
          </a:bodyPr>
          <a:lstStyle/>
          <a:p>
            <a:pPr>
              <a:lnSpc>
                <a:spcPts val="1333"/>
              </a:lnSpc>
            </a:pPr>
            <a:r>
              <a:rPr lang="en-US" sz="899" dirty="0">
                <a:solidFill>
                  <a:srgbClr val="333333"/>
                </a:solidFill>
              </a:rPr>
              <a:t>get_user_role(...)</a:t>
            </a:r>
            <a:endParaRPr lang="en-US" sz="899" dirty="0"/>
          </a:p>
        </p:txBody>
      </p:sp>
      <p:sp>
        <p:nvSpPr>
          <p:cNvPr id="28" name="Shape 25"/>
          <p:cNvSpPr/>
          <p:nvPr/>
        </p:nvSpPr>
        <p:spPr>
          <a:xfrm>
            <a:off x="952500" y="4301468"/>
            <a:ext cx="10287000" cy="1004888"/>
          </a:xfrm>
          <a:prstGeom prst="rect">
            <a:avLst/>
          </a:prstGeom>
          <a:solidFill>
            <a:srgbClr val="FFFFFF"/>
          </a:solidFill>
          <a:ln/>
        </p:spPr>
        <p:txBody>
          <a:bodyPr/>
          <a:lstStyle/>
          <a:p>
            <a:endParaRPr lang="en-US" sz="2400"/>
          </a:p>
        </p:txBody>
      </p:sp>
      <p:sp>
        <p:nvSpPr>
          <p:cNvPr id="29" name="Text 26"/>
          <p:cNvSpPr/>
          <p:nvPr/>
        </p:nvSpPr>
        <p:spPr>
          <a:xfrm>
            <a:off x="4076700" y="3628691"/>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30" name="Text 27"/>
          <p:cNvSpPr/>
          <p:nvPr/>
        </p:nvSpPr>
        <p:spPr>
          <a:xfrm>
            <a:off x="7620000" y="3628691"/>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31" name="Text 28"/>
          <p:cNvSpPr/>
          <p:nvPr/>
        </p:nvSpPr>
        <p:spPr>
          <a:xfrm>
            <a:off x="4076700" y="3926979"/>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32" name="Text 29"/>
          <p:cNvSpPr/>
          <p:nvPr/>
        </p:nvSpPr>
        <p:spPr>
          <a:xfrm>
            <a:off x="7620000" y="3926979"/>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33" name="Text 30"/>
          <p:cNvSpPr/>
          <p:nvPr/>
        </p:nvSpPr>
        <p:spPr>
          <a:xfrm>
            <a:off x="1181100" y="4415768"/>
            <a:ext cx="777136" cy="227242"/>
          </a:xfrm>
          <a:prstGeom prst="rect">
            <a:avLst/>
          </a:prstGeom>
          <a:noFill/>
          <a:ln/>
        </p:spPr>
        <p:txBody>
          <a:bodyPr wrap="none" lIns="0" tIns="0" rIns="0" bIns="0" rtlCol="0" anchor="t">
            <a:spAutoFit/>
          </a:bodyPr>
          <a:lstStyle/>
          <a:p>
            <a:pPr>
              <a:lnSpc>
                <a:spcPts val="1867"/>
              </a:lnSpc>
            </a:pPr>
            <a:r>
              <a:rPr lang="en-US" sz="1316" b="1" dirty="0">
                <a:solidFill>
                  <a:srgbClr val="1A1A2E"/>
                </a:solidFill>
              </a:rPr>
              <a:t>AIAssistant</a:t>
            </a:r>
            <a:endParaRPr lang="en-US" sz="1316" dirty="0"/>
          </a:p>
        </p:txBody>
      </p:sp>
      <p:sp>
        <p:nvSpPr>
          <p:cNvPr id="34" name="Text 31"/>
          <p:cNvSpPr/>
          <p:nvPr/>
        </p:nvSpPr>
        <p:spPr>
          <a:xfrm>
            <a:off x="1181100" y="4713425"/>
            <a:ext cx="927754" cy="133819"/>
          </a:xfrm>
          <a:prstGeom prst="rect">
            <a:avLst/>
          </a:prstGeom>
          <a:noFill/>
          <a:ln/>
        </p:spPr>
        <p:txBody>
          <a:bodyPr wrap="none" lIns="0" tIns="0" rIns="0" bIns="0" rtlCol="0" anchor="t">
            <a:spAutoFit/>
          </a:bodyPr>
          <a:lstStyle/>
          <a:p>
            <a:pPr>
              <a:lnSpc>
                <a:spcPts val="1067"/>
              </a:lnSpc>
            </a:pPr>
            <a:r>
              <a:rPr lang="en-US" sz="828" kern="0" spc="1" dirty="0">
                <a:solidFill>
                  <a:srgbClr val="666666"/>
                </a:solidFill>
              </a:rPr>
              <a:t>AI Integration Service</a:t>
            </a:r>
            <a:endParaRPr lang="en-US" sz="828" dirty="0"/>
          </a:p>
        </p:txBody>
      </p:sp>
      <p:sp>
        <p:nvSpPr>
          <p:cNvPr id="35" name="Text 32"/>
          <p:cNvSpPr/>
          <p:nvPr/>
        </p:nvSpPr>
        <p:spPr>
          <a:xfrm>
            <a:off x="1181100" y="4906306"/>
            <a:ext cx="2667000" cy="186654"/>
          </a:xfrm>
          <a:prstGeom prst="rect">
            <a:avLst/>
          </a:prstGeom>
          <a:noFill/>
          <a:ln/>
        </p:spPr>
        <p:txBody>
          <a:bodyPr wrap="square" lIns="0" tIns="0" rIns="0" bIns="0" rtlCol="0" anchor="t">
            <a:spAutoFit/>
          </a:bodyPr>
          <a:lstStyle/>
          <a:p>
            <a:pPr>
              <a:lnSpc>
                <a:spcPts val="1600"/>
              </a:lnSpc>
            </a:pPr>
            <a:r>
              <a:rPr lang="en-US" sz="969" dirty="0">
                <a:solidFill>
                  <a:srgbClr val="333333"/>
                </a:solidFill>
              </a:rPr>
              <a:t>Integrates ChatGPT for domain-specific assistance.</a:t>
            </a:r>
            <a:endParaRPr lang="en-US" sz="969" dirty="0"/>
          </a:p>
        </p:txBody>
      </p:sp>
      <p:sp>
        <p:nvSpPr>
          <p:cNvPr id="36" name="Text 33"/>
          <p:cNvSpPr/>
          <p:nvPr/>
        </p:nvSpPr>
        <p:spPr>
          <a:xfrm>
            <a:off x="4076700" y="4415768"/>
            <a:ext cx="6934200" cy="144014"/>
          </a:xfrm>
          <a:prstGeom prst="rect">
            <a:avLst/>
          </a:prstGeom>
          <a:noFill/>
          <a:ln/>
        </p:spPr>
        <p:txBody>
          <a:bodyPr wrap="square" lIns="0" tIns="0" rIns="0" bIns="0" rtlCol="0" anchor="t">
            <a:spAutoFit/>
          </a:bodyPr>
          <a:lstStyle/>
          <a:p>
            <a:pPr>
              <a:lnSpc>
                <a:spcPts val="1200"/>
              </a:lnSpc>
            </a:pPr>
            <a:r>
              <a:rPr lang="en-US" sz="845" b="1" dirty="0">
                <a:solidFill>
                  <a:srgbClr val="0066CC"/>
                </a:solidFill>
              </a:rPr>
              <a:t>Key Methods</a:t>
            </a:r>
            <a:endParaRPr lang="en-US" sz="845" dirty="0"/>
          </a:p>
        </p:txBody>
      </p:sp>
      <p:sp>
        <p:nvSpPr>
          <p:cNvPr id="37" name="Text 34"/>
          <p:cNvSpPr/>
          <p:nvPr/>
        </p:nvSpPr>
        <p:spPr>
          <a:xfrm>
            <a:off x="4076701" y="4747878"/>
            <a:ext cx="3390900" cy="155427"/>
          </a:xfrm>
          <a:prstGeom prst="rect">
            <a:avLst/>
          </a:prstGeom>
          <a:noFill/>
          <a:ln/>
        </p:spPr>
        <p:txBody>
          <a:bodyPr wrap="square" lIns="136144" tIns="0" rIns="0" bIns="0" rtlCol="0" anchor="t">
            <a:spAutoFit/>
          </a:bodyPr>
          <a:lstStyle/>
          <a:p>
            <a:pPr>
              <a:lnSpc>
                <a:spcPts val="1333"/>
              </a:lnSpc>
            </a:pPr>
            <a:r>
              <a:rPr lang="en-US" sz="899" dirty="0">
                <a:solidFill>
                  <a:srgbClr val="333333"/>
                </a:solidFill>
              </a:rPr>
              <a:t>set_system_prompt(...)</a:t>
            </a:r>
            <a:endParaRPr lang="en-US" sz="899" dirty="0"/>
          </a:p>
        </p:txBody>
      </p:sp>
      <p:sp>
        <p:nvSpPr>
          <p:cNvPr id="38" name="Text 35"/>
          <p:cNvSpPr/>
          <p:nvPr/>
        </p:nvSpPr>
        <p:spPr>
          <a:xfrm>
            <a:off x="7620001" y="4747878"/>
            <a:ext cx="3390900" cy="155427"/>
          </a:xfrm>
          <a:prstGeom prst="rect">
            <a:avLst/>
          </a:prstGeom>
          <a:noFill/>
          <a:ln/>
        </p:spPr>
        <p:txBody>
          <a:bodyPr wrap="square" lIns="136144" tIns="0" rIns="0" bIns="0" rtlCol="0" anchor="t">
            <a:spAutoFit/>
          </a:bodyPr>
          <a:lstStyle/>
          <a:p>
            <a:pPr>
              <a:lnSpc>
                <a:spcPts val="1333"/>
              </a:lnSpc>
            </a:pPr>
            <a:r>
              <a:rPr lang="en-US" sz="899" dirty="0">
                <a:solidFill>
                  <a:srgbClr val="333333"/>
                </a:solidFill>
              </a:rPr>
              <a:t>send_message()/stream_response()</a:t>
            </a:r>
            <a:endParaRPr lang="en-US" sz="899" dirty="0"/>
          </a:p>
        </p:txBody>
      </p:sp>
      <p:sp>
        <p:nvSpPr>
          <p:cNvPr id="39" name="Text 36"/>
          <p:cNvSpPr/>
          <p:nvPr/>
        </p:nvSpPr>
        <p:spPr>
          <a:xfrm>
            <a:off x="4076701" y="5046167"/>
            <a:ext cx="3390900" cy="155427"/>
          </a:xfrm>
          <a:prstGeom prst="rect">
            <a:avLst/>
          </a:prstGeom>
          <a:noFill/>
          <a:ln/>
        </p:spPr>
        <p:txBody>
          <a:bodyPr wrap="square" lIns="136144" tIns="0" rIns="0" bIns="0" rtlCol="0" anchor="t">
            <a:spAutoFit/>
          </a:bodyPr>
          <a:lstStyle/>
          <a:p>
            <a:pPr>
              <a:lnSpc>
                <a:spcPts val="1333"/>
              </a:lnSpc>
            </a:pPr>
            <a:r>
              <a:rPr lang="en-US" sz="899" dirty="0">
                <a:solidFill>
                  <a:srgbClr val="333333"/>
                </a:solidFill>
              </a:rPr>
              <a:t>clear_history()</a:t>
            </a:r>
            <a:endParaRPr lang="en-US" sz="899" dirty="0"/>
          </a:p>
        </p:txBody>
      </p:sp>
      <p:sp>
        <p:nvSpPr>
          <p:cNvPr id="40" name="Text 37"/>
          <p:cNvSpPr/>
          <p:nvPr/>
        </p:nvSpPr>
        <p:spPr>
          <a:xfrm>
            <a:off x="7620001" y="5046167"/>
            <a:ext cx="3390900" cy="155427"/>
          </a:xfrm>
          <a:prstGeom prst="rect">
            <a:avLst/>
          </a:prstGeom>
          <a:noFill/>
          <a:ln/>
        </p:spPr>
        <p:txBody>
          <a:bodyPr wrap="square" lIns="136144" tIns="0" rIns="0" bIns="0" rtlCol="0" anchor="t">
            <a:spAutoFit/>
          </a:bodyPr>
          <a:lstStyle/>
          <a:p>
            <a:pPr>
              <a:lnSpc>
                <a:spcPts val="1333"/>
              </a:lnSpc>
            </a:pPr>
            <a:r>
              <a:rPr lang="en-US" sz="899" dirty="0">
                <a:solidFill>
                  <a:srgbClr val="333333"/>
                </a:solidFill>
              </a:rPr>
              <a:t>analyze_incident(...)</a:t>
            </a:r>
            <a:endParaRPr lang="en-US" sz="899" dirty="0"/>
          </a:p>
        </p:txBody>
      </p:sp>
      <p:sp>
        <p:nvSpPr>
          <p:cNvPr id="41" name="Text 38"/>
          <p:cNvSpPr/>
          <p:nvPr/>
        </p:nvSpPr>
        <p:spPr>
          <a:xfrm>
            <a:off x="4076700" y="4747878"/>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42" name="Text 39"/>
          <p:cNvSpPr/>
          <p:nvPr/>
        </p:nvSpPr>
        <p:spPr>
          <a:xfrm>
            <a:off x="7620000" y="4747878"/>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43" name="Text 40"/>
          <p:cNvSpPr/>
          <p:nvPr/>
        </p:nvSpPr>
        <p:spPr>
          <a:xfrm>
            <a:off x="4076700" y="5046167"/>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
        <p:nvSpPr>
          <p:cNvPr id="44" name="Text 41"/>
          <p:cNvSpPr/>
          <p:nvPr/>
        </p:nvSpPr>
        <p:spPr>
          <a:xfrm>
            <a:off x="7620000" y="5046167"/>
            <a:ext cx="577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endParaRPr lang="en-US" sz="899"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12192000" cy="7020855"/>
          </a:xfrm>
          <a:prstGeom prst="rect">
            <a:avLst/>
          </a:prstGeom>
        </p:spPr>
      </p:pic>
      <p:sp>
        <p:nvSpPr>
          <p:cNvPr id="4" name="Text 1"/>
          <p:cNvSpPr/>
          <p:nvPr/>
        </p:nvSpPr>
        <p:spPr>
          <a:xfrm>
            <a:off x="952501" y="1057275"/>
            <a:ext cx="3171637" cy="370486"/>
          </a:xfrm>
          <a:prstGeom prst="rect">
            <a:avLst/>
          </a:prstGeom>
          <a:noFill/>
          <a:ln/>
        </p:spPr>
        <p:txBody>
          <a:bodyPr wrap="none" lIns="0" tIns="0" rIns="0" bIns="0" rtlCol="0" anchor="t">
            <a:spAutoFit/>
          </a:bodyPr>
          <a:lstStyle/>
          <a:p>
            <a:pPr>
              <a:lnSpc>
                <a:spcPts val="3067"/>
              </a:lnSpc>
            </a:pPr>
            <a:r>
              <a:rPr lang="en-US" sz="2136" b="1" dirty="0">
                <a:solidFill>
                  <a:srgbClr val="1A1A2E"/>
                </a:solidFill>
              </a:rPr>
              <a:t>Benefits of OOP Refactoring</a:t>
            </a:r>
            <a:endParaRPr lang="en-US" sz="2136" dirty="0"/>
          </a:p>
        </p:txBody>
      </p:sp>
      <p:sp>
        <p:nvSpPr>
          <p:cNvPr id="5" name="Shape 2"/>
          <p:cNvSpPr/>
          <p:nvPr/>
        </p:nvSpPr>
        <p:spPr>
          <a:xfrm>
            <a:off x="952500" y="1929743"/>
            <a:ext cx="10287000" cy="881063"/>
          </a:xfrm>
          <a:prstGeom prst="rect">
            <a:avLst/>
          </a:prstGeom>
          <a:solidFill>
            <a:srgbClr val="FFFFFF"/>
          </a:solidFill>
          <a:ln/>
        </p:spPr>
        <p:txBody>
          <a:bodyPr/>
          <a:lstStyle/>
          <a:p>
            <a:endParaRPr lang="en-US" sz="2400"/>
          </a:p>
        </p:txBody>
      </p:sp>
      <p:sp>
        <p:nvSpPr>
          <p:cNvPr id="6" name="Shape 3"/>
          <p:cNvSpPr/>
          <p:nvPr/>
        </p:nvSpPr>
        <p:spPr>
          <a:xfrm>
            <a:off x="1219200" y="2044043"/>
            <a:ext cx="457200" cy="457200"/>
          </a:xfrm>
          <a:prstGeom prst="rect">
            <a:avLst/>
          </a:prstGeom>
          <a:solidFill>
            <a:srgbClr val="E8EEF5"/>
          </a:solidFill>
          <a:ln/>
        </p:spPr>
        <p:txBody>
          <a:bodyPr/>
          <a:lstStyle/>
          <a:p>
            <a:endParaRPr lang="en-US" sz="2400"/>
          </a:p>
        </p:txBody>
      </p:sp>
      <p:sp>
        <p:nvSpPr>
          <p:cNvPr id="7" name="Text 4"/>
          <p:cNvSpPr/>
          <p:nvPr/>
        </p:nvSpPr>
        <p:spPr>
          <a:xfrm>
            <a:off x="1219200" y="2159021"/>
            <a:ext cx="457200" cy="227242"/>
          </a:xfrm>
          <a:prstGeom prst="rect">
            <a:avLst/>
          </a:prstGeom>
          <a:noFill/>
          <a:ln/>
        </p:spPr>
        <p:txBody>
          <a:bodyPr wrap="square" lIns="0" tIns="0" rIns="0" bIns="0" rtlCol="0" anchor="ctr">
            <a:spAutoFit/>
          </a:bodyPr>
          <a:lstStyle/>
          <a:p>
            <a:pPr algn="ctr">
              <a:lnSpc>
                <a:spcPts val="1867"/>
              </a:lnSpc>
            </a:pPr>
            <a:r>
              <a:rPr lang="en-US" sz="1316" b="1" dirty="0">
                <a:solidFill>
                  <a:srgbClr val="0066CC"/>
                </a:solidFill>
              </a:rPr>
              <a:t>1</a:t>
            </a:r>
            <a:endParaRPr lang="en-US" sz="1316" dirty="0"/>
          </a:p>
        </p:txBody>
      </p:sp>
      <p:sp>
        <p:nvSpPr>
          <p:cNvPr id="8" name="Text 5"/>
          <p:cNvSpPr/>
          <p:nvPr/>
        </p:nvSpPr>
        <p:spPr>
          <a:xfrm>
            <a:off x="1866900" y="2044044"/>
            <a:ext cx="1245534"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Better Organization</a:t>
            </a:r>
            <a:endParaRPr lang="en-US" sz="1180" dirty="0"/>
          </a:p>
        </p:txBody>
      </p:sp>
      <p:sp>
        <p:nvSpPr>
          <p:cNvPr id="9" name="Text 6"/>
          <p:cNvSpPr/>
          <p:nvPr/>
        </p:nvSpPr>
        <p:spPr>
          <a:xfrm>
            <a:off x="1866901" y="2353605"/>
            <a:ext cx="9105900" cy="461601"/>
          </a:xfrm>
          <a:prstGeom prst="rect">
            <a:avLst/>
          </a:prstGeom>
          <a:noFill/>
          <a:ln/>
        </p:spPr>
        <p:txBody>
          <a:bodyPr wrap="square" lIns="0" tIns="0" rIns="0" bIns="0" rtlCol="0" anchor="t">
            <a:spAutoFit/>
          </a:bodyPr>
          <a:lstStyle/>
          <a:p>
            <a:pPr>
              <a:lnSpc>
                <a:spcPts val="1867"/>
              </a:lnSpc>
            </a:pPr>
            <a:r>
              <a:rPr lang="en-US" sz="1040" dirty="0">
                <a:solidFill>
                  <a:srgbClr val="333333"/>
                </a:solidFill>
              </a:rPr>
              <a:t>Related data and behavior are grouped together in classes. Code is organized by domain entities (User, SecurityIncident, Dataset, ITTicket) and services (DatabaseManager, AuthManager, AIAssistant), making the codebase more intuitive and easier to navigate.</a:t>
            </a:r>
            <a:endParaRPr lang="en-US" sz="1040" dirty="0"/>
          </a:p>
        </p:txBody>
      </p:sp>
      <p:sp>
        <p:nvSpPr>
          <p:cNvPr id="10" name="Shape 7"/>
          <p:cNvSpPr/>
          <p:nvPr/>
        </p:nvSpPr>
        <p:spPr>
          <a:xfrm>
            <a:off x="952500" y="2925106"/>
            <a:ext cx="10287000" cy="881063"/>
          </a:xfrm>
          <a:prstGeom prst="rect">
            <a:avLst/>
          </a:prstGeom>
          <a:solidFill>
            <a:srgbClr val="FFFFFF"/>
          </a:solidFill>
          <a:ln/>
        </p:spPr>
        <p:txBody>
          <a:bodyPr/>
          <a:lstStyle/>
          <a:p>
            <a:endParaRPr lang="en-US" sz="2400"/>
          </a:p>
        </p:txBody>
      </p:sp>
      <p:sp>
        <p:nvSpPr>
          <p:cNvPr id="11" name="Shape 8"/>
          <p:cNvSpPr/>
          <p:nvPr/>
        </p:nvSpPr>
        <p:spPr>
          <a:xfrm>
            <a:off x="1219200" y="3039405"/>
            <a:ext cx="457200" cy="457200"/>
          </a:xfrm>
          <a:prstGeom prst="rect">
            <a:avLst/>
          </a:prstGeom>
          <a:solidFill>
            <a:srgbClr val="E8EEF5"/>
          </a:solidFill>
          <a:ln/>
        </p:spPr>
        <p:txBody>
          <a:bodyPr/>
          <a:lstStyle/>
          <a:p>
            <a:endParaRPr lang="en-US" sz="2400"/>
          </a:p>
        </p:txBody>
      </p:sp>
      <p:sp>
        <p:nvSpPr>
          <p:cNvPr id="12" name="Text 9"/>
          <p:cNvSpPr/>
          <p:nvPr/>
        </p:nvSpPr>
        <p:spPr>
          <a:xfrm>
            <a:off x="1219200" y="3154384"/>
            <a:ext cx="457200" cy="227242"/>
          </a:xfrm>
          <a:prstGeom prst="rect">
            <a:avLst/>
          </a:prstGeom>
          <a:noFill/>
          <a:ln/>
        </p:spPr>
        <p:txBody>
          <a:bodyPr wrap="square" lIns="0" tIns="0" rIns="0" bIns="0" rtlCol="0" anchor="ctr">
            <a:spAutoFit/>
          </a:bodyPr>
          <a:lstStyle/>
          <a:p>
            <a:pPr algn="ctr">
              <a:lnSpc>
                <a:spcPts val="1867"/>
              </a:lnSpc>
            </a:pPr>
            <a:r>
              <a:rPr lang="en-US" sz="1316" b="1" dirty="0">
                <a:solidFill>
                  <a:srgbClr val="0066CC"/>
                </a:solidFill>
              </a:rPr>
              <a:t>2</a:t>
            </a:r>
            <a:endParaRPr lang="en-US" sz="1316" dirty="0"/>
          </a:p>
        </p:txBody>
      </p:sp>
      <p:sp>
        <p:nvSpPr>
          <p:cNvPr id="13" name="Text 10"/>
          <p:cNvSpPr/>
          <p:nvPr/>
        </p:nvSpPr>
        <p:spPr>
          <a:xfrm>
            <a:off x="1866900" y="3039406"/>
            <a:ext cx="1051570"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Code Reusability</a:t>
            </a:r>
            <a:endParaRPr lang="en-US" sz="1180" dirty="0"/>
          </a:p>
        </p:txBody>
      </p:sp>
      <p:sp>
        <p:nvSpPr>
          <p:cNvPr id="14" name="Text 11"/>
          <p:cNvSpPr/>
          <p:nvPr/>
        </p:nvSpPr>
        <p:spPr>
          <a:xfrm>
            <a:off x="1866901" y="3348968"/>
            <a:ext cx="9105900" cy="461601"/>
          </a:xfrm>
          <a:prstGeom prst="rect">
            <a:avLst/>
          </a:prstGeom>
          <a:noFill/>
          <a:ln/>
        </p:spPr>
        <p:txBody>
          <a:bodyPr wrap="square" lIns="0" tIns="0" rIns="0" bIns="0" rtlCol="0" anchor="t">
            <a:spAutoFit/>
          </a:bodyPr>
          <a:lstStyle/>
          <a:p>
            <a:pPr>
              <a:lnSpc>
                <a:spcPts val="1867"/>
              </a:lnSpc>
            </a:pPr>
            <a:r>
              <a:rPr lang="en-US" sz="1040" dirty="0">
                <a:solidFill>
                  <a:srgbClr val="333333"/>
                </a:solidFill>
              </a:rPr>
              <a:t>Classes can be reused across different parts of the application and even in future projects. Inheritance allows you to extend existing classes without modifying them. Common functionality is defined once and shared through inheritance or composition.</a:t>
            </a:r>
            <a:endParaRPr lang="en-US" sz="1040" dirty="0"/>
          </a:p>
        </p:txBody>
      </p:sp>
      <p:sp>
        <p:nvSpPr>
          <p:cNvPr id="15" name="Shape 12"/>
          <p:cNvSpPr/>
          <p:nvPr/>
        </p:nvSpPr>
        <p:spPr>
          <a:xfrm>
            <a:off x="952500" y="3920469"/>
            <a:ext cx="10287000" cy="1109663"/>
          </a:xfrm>
          <a:prstGeom prst="rect">
            <a:avLst/>
          </a:prstGeom>
          <a:solidFill>
            <a:srgbClr val="FFFFFF"/>
          </a:solidFill>
          <a:ln/>
        </p:spPr>
        <p:txBody>
          <a:bodyPr/>
          <a:lstStyle/>
          <a:p>
            <a:endParaRPr lang="en-US" sz="2400"/>
          </a:p>
        </p:txBody>
      </p:sp>
      <p:sp>
        <p:nvSpPr>
          <p:cNvPr id="16" name="Shape 13"/>
          <p:cNvSpPr/>
          <p:nvPr/>
        </p:nvSpPr>
        <p:spPr>
          <a:xfrm>
            <a:off x="1219200" y="4034768"/>
            <a:ext cx="457200" cy="457200"/>
          </a:xfrm>
          <a:prstGeom prst="rect">
            <a:avLst/>
          </a:prstGeom>
          <a:solidFill>
            <a:srgbClr val="E8EEF5"/>
          </a:solidFill>
          <a:ln/>
        </p:spPr>
        <p:txBody>
          <a:bodyPr/>
          <a:lstStyle/>
          <a:p>
            <a:endParaRPr lang="en-US" sz="2400"/>
          </a:p>
        </p:txBody>
      </p:sp>
      <p:sp>
        <p:nvSpPr>
          <p:cNvPr id="17" name="Text 14"/>
          <p:cNvSpPr/>
          <p:nvPr/>
        </p:nvSpPr>
        <p:spPr>
          <a:xfrm>
            <a:off x="1219200" y="4149747"/>
            <a:ext cx="457200" cy="227242"/>
          </a:xfrm>
          <a:prstGeom prst="rect">
            <a:avLst/>
          </a:prstGeom>
          <a:noFill/>
          <a:ln/>
        </p:spPr>
        <p:txBody>
          <a:bodyPr wrap="square" lIns="0" tIns="0" rIns="0" bIns="0" rtlCol="0" anchor="ctr">
            <a:spAutoFit/>
          </a:bodyPr>
          <a:lstStyle/>
          <a:p>
            <a:pPr algn="ctr">
              <a:lnSpc>
                <a:spcPts val="1867"/>
              </a:lnSpc>
            </a:pPr>
            <a:r>
              <a:rPr lang="en-US" sz="1316" b="1" dirty="0">
                <a:solidFill>
                  <a:srgbClr val="0066CC"/>
                </a:solidFill>
              </a:rPr>
              <a:t>3</a:t>
            </a:r>
            <a:endParaRPr lang="en-US" sz="1316" dirty="0"/>
          </a:p>
        </p:txBody>
      </p:sp>
      <p:sp>
        <p:nvSpPr>
          <p:cNvPr id="18" name="Text 15"/>
          <p:cNvSpPr/>
          <p:nvPr/>
        </p:nvSpPr>
        <p:spPr>
          <a:xfrm>
            <a:off x="1866900" y="4034769"/>
            <a:ext cx="1248740"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Easier Maintenance</a:t>
            </a:r>
            <a:endParaRPr lang="en-US" sz="1180" dirty="0"/>
          </a:p>
        </p:txBody>
      </p:sp>
      <p:sp>
        <p:nvSpPr>
          <p:cNvPr id="19" name="Text 16"/>
          <p:cNvSpPr/>
          <p:nvPr/>
        </p:nvSpPr>
        <p:spPr>
          <a:xfrm>
            <a:off x="1866901" y="4344331"/>
            <a:ext cx="9105900" cy="461601"/>
          </a:xfrm>
          <a:prstGeom prst="rect">
            <a:avLst/>
          </a:prstGeom>
          <a:noFill/>
          <a:ln/>
        </p:spPr>
        <p:txBody>
          <a:bodyPr wrap="square" lIns="0" tIns="0" rIns="0" bIns="0" rtlCol="0" anchor="t">
            <a:spAutoFit/>
          </a:bodyPr>
          <a:lstStyle/>
          <a:p>
            <a:pPr>
              <a:lnSpc>
                <a:spcPts val="1867"/>
              </a:lnSpc>
            </a:pPr>
            <a:r>
              <a:rPr lang="en-US" sz="1040" dirty="0">
                <a:solidFill>
                  <a:srgbClr val="333333"/>
                </a:solidFill>
              </a:rPr>
              <a:t>Changes are localized to specific classes rather than scattered across multiple functions. Adding a new field to SecurityIncident only requires updating the SecurityIncident class. Bug fixes are contained within the relevant class, reducing the risk of breaking unrelated functionality.</a:t>
            </a:r>
            <a:endParaRPr lang="en-US" sz="1040" dirty="0"/>
          </a:p>
        </p:txBody>
      </p:sp>
      <p:sp>
        <p:nvSpPr>
          <p:cNvPr id="20" name="Shape 17"/>
          <p:cNvSpPr/>
          <p:nvPr/>
        </p:nvSpPr>
        <p:spPr>
          <a:xfrm>
            <a:off x="952500" y="5144431"/>
            <a:ext cx="10287000" cy="881063"/>
          </a:xfrm>
          <a:prstGeom prst="rect">
            <a:avLst/>
          </a:prstGeom>
          <a:solidFill>
            <a:srgbClr val="FFFFFF"/>
          </a:solidFill>
          <a:ln/>
        </p:spPr>
        <p:txBody>
          <a:bodyPr/>
          <a:lstStyle/>
          <a:p>
            <a:endParaRPr lang="en-US" sz="2400"/>
          </a:p>
        </p:txBody>
      </p:sp>
      <p:sp>
        <p:nvSpPr>
          <p:cNvPr id="21" name="Shape 18"/>
          <p:cNvSpPr/>
          <p:nvPr/>
        </p:nvSpPr>
        <p:spPr>
          <a:xfrm>
            <a:off x="1219200" y="5258731"/>
            <a:ext cx="457200" cy="457200"/>
          </a:xfrm>
          <a:prstGeom prst="rect">
            <a:avLst/>
          </a:prstGeom>
          <a:solidFill>
            <a:srgbClr val="E8EEF5"/>
          </a:solidFill>
          <a:ln/>
        </p:spPr>
        <p:txBody>
          <a:bodyPr/>
          <a:lstStyle/>
          <a:p>
            <a:endParaRPr lang="en-US" sz="2400"/>
          </a:p>
        </p:txBody>
      </p:sp>
      <p:sp>
        <p:nvSpPr>
          <p:cNvPr id="22" name="Text 19"/>
          <p:cNvSpPr/>
          <p:nvPr/>
        </p:nvSpPr>
        <p:spPr>
          <a:xfrm>
            <a:off x="1219200" y="5373709"/>
            <a:ext cx="457200" cy="227242"/>
          </a:xfrm>
          <a:prstGeom prst="rect">
            <a:avLst/>
          </a:prstGeom>
          <a:noFill/>
          <a:ln/>
        </p:spPr>
        <p:txBody>
          <a:bodyPr wrap="square" lIns="0" tIns="0" rIns="0" bIns="0" rtlCol="0" anchor="ctr">
            <a:spAutoFit/>
          </a:bodyPr>
          <a:lstStyle/>
          <a:p>
            <a:pPr algn="ctr">
              <a:lnSpc>
                <a:spcPts val="1867"/>
              </a:lnSpc>
            </a:pPr>
            <a:r>
              <a:rPr lang="en-US" sz="1316" b="1" dirty="0">
                <a:solidFill>
                  <a:srgbClr val="0066CC"/>
                </a:solidFill>
              </a:rPr>
              <a:t>4</a:t>
            </a:r>
            <a:endParaRPr lang="en-US" sz="1316" dirty="0"/>
          </a:p>
        </p:txBody>
      </p:sp>
      <p:sp>
        <p:nvSpPr>
          <p:cNvPr id="23" name="Text 20"/>
          <p:cNvSpPr/>
          <p:nvPr/>
        </p:nvSpPr>
        <p:spPr>
          <a:xfrm>
            <a:off x="1866900" y="5258732"/>
            <a:ext cx="1304844"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Improved Testability</a:t>
            </a:r>
            <a:endParaRPr lang="en-US" sz="1180" dirty="0"/>
          </a:p>
        </p:txBody>
      </p:sp>
      <p:sp>
        <p:nvSpPr>
          <p:cNvPr id="24" name="Text 21"/>
          <p:cNvSpPr/>
          <p:nvPr/>
        </p:nvSpPr>
        <p:spPr>
          <a:xfrm>
            <a:off x="1866901" y="5568294"/>
            <a:ext cx="9105900" cy="461601"/>
          </a:xfrm>
          <a:prstGeom prst="rect">
            <a:avLst/>
          </a:prstGeom>
          <a:noFill/>
          <a:ln/>
        </p:spPr>
        <p:txBody>
          <a:bodyPr wrap="square" lIns="0" tIns="0" rIns="0" bIns="0" rtlCol="0" anchor="t">
            <a:spAutoFit/>
          </a:bodyPr>
          <a:lstStyle/>
          <a:p>
            <a:pPr>
              <a:lnSpc>
                <a:spcPts val="1867"/>
              </a:lnSpc>
            </a:pPr>
            <a:r>
              <a:rPr lang="en-US" sz="1040" dirty="0">
                <a:solidFill>
                  <a:srgbClr val="333333"/>
                </a:solidFill>
              </a:rPr>
              <a:t>Classes can be tested independently with unit tests. Mock objects can replace dependencies (e.g., mock DatabaseManager for testing AuthManager). Clear interfaces make it easy to write comprehensive test suites, ensuring code quality and reliability.</a:t>
            </a:r>
            <a:endParaRPr lang="en-US" sz="1040" dirty="0"/>
          </a:p>
        </p:txBody>
      </p:sp>
      <p:sp>
        <p:nvSpPr>
          <p:cNvPr id="25" name="Shape 22"/>
          <p:cNvSpPr/>
          <p:nvPr/>
        </p:nvSpPr>
        <p:spPr>
          <a:xfrm>
            <a:off x="952500" y="6139794"/>
            <a:ext cx="10287000" cy="881063"/>
          </a:xfrm>
          <a:prstGeom prst="rect">
            <a:avLst/>
          </a:prstGeom>
          <a:solidFill>
            <a:srgbClr val="FFFFFF"/>
          </a:solidFill>
          <a:ln/>
        </p:spPr>
        <p:txBody>
          <a:bodyPr/>
          <a:lstStyle/>
          <a:p>
            <a:endParaRPr lang="en-US" sz="2400"/>
          </a:p>
        </p:txBody>
      </p:sp>
      <p:sp>
        <p:nvSpPr>
          <p:cNvPr id="26" name="Shape 23"/>
          <p:cNvSpPr/>
          <p:nvPr/>
        </p:nvSpPr>
        <p:spPr>
          <a:xfrm>
            <a:off x="1219200" y="6254093"/>
            <a:ext cx="457200" cy="457200"/>
          </a:xfrm>
          <a:prstGeom prst="rect">
            <a:avLst/>
          </a:prstGeom>
          <a:solidFill>
            <a:srgbClr val="E8EEF5"/>
          </a:solidFill>
          <a:ln/>
        </p:spPr>
        <p:txBody>
          <a:bodyPr/>
          <a:lstStyle/>
          <a:p>
            <a:endParaRPr lang="en-US" sz="2400"/>
          </a:p>
        </p:txBody>
      </p:sp>
      <p:sp>
        <p:nvSpPr>
          <p:cNvPr id="27" name="Text 24"/>
          <p:cNvSpPr/>
          <p:nvPr/>
        </p:nvSpPr>
        <p:spPr>
          <a:xfrm>
            <a:off x="1219200" y="6369072"/>
            <a:ext cx="457200" cy="227242"/>
          </a:xfrm>
          <a:prstGeom prst="rect">
            <a:avLst/>
          </a:prstGeom>
          <a:noFill/>
          <a:ln/>
        </p:spPr>
        <p:txBody>
          <a:bodyPr wrap="square" lIns="0" tIns="0" rIns="0" bIns="0" rtlCol="0" anchor="ctr">
            <a:spAutoFit/>
          </a:bodyPr>
          <a:lstStyle/>
          <a:p>
            <a:pPr algn="ctr">
              <a:lnSpc>
                <a:spcPts val="1867"/>
              </a:lnSpc>
            </a:pPr>
            <a:r>
              <a:rPr lang="en-US" sz="1316" b="1" dirty="0">
                <a:solidFill>
                  <a:srgbClr val="0066CC"/>
                </a:solidFill>
              </a:rPr>
              <a:t>5</a:t>
            </a:r>
            <a:endParaRPr lang="en-US" sz="1316" dirty="0"/>
          </a:p>
        </p:txBody>
      </p:sp>
      <p:sp>
        <p:nvSpPr>
          <p:cNvPr id="28" name="Text 25"/>
          <p:cNvSpPr/>
          <p:nvPr/>
        </p:nvSpPr>
        <p:spPr>
          <a:xfrm>
            <a:off x="1866901" y="6254094"/>
            <a:ext cx="641201"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Scalability</a:t>
            </a:r>
            <a:endParaRPr lang="en-US" sz="1180" dirty="0"/>
          </a:p>
        </p:txBody>
      </p:sp>
      <p:sp>
        <p:nvSpPr>
          <p:cNvPr id="29" name="Text 26"/>
          <p:cNvSpPr/>
          <p:nvPr/>
        </p:nvSpPr>
        <p:spPr>
          <a:xfrm>
            <a:off x="1866901" y="6563655"/>
            <a:ext cx="9105900" cy="461601"/>
          </a:xfrm>
          <a:prstGeom prst="rect">
            <a:avLst/>
          </a:prstGeom>
          <a:noFill/>
          <a:ln/>
        </p:spPr>
        <p:txBody>
          <a:bodyPr wrap="square" lIns="0" tIns="0" rIns="0" bIns="0" rtlCol="0" anchor="t">
            <a:spAutoFit/>
          </a:bodyPr>
          <a:lstStyle/>
          <a:p>
            <a:pPr>
              <a:lnSpc>
                <a:spcPts val="1867"/>
              </a:lnSpc>
            </a:pPr>
            <a:r>
              <a:rPr lang="en-US" sz="1040" dirty="0">
                <a:solidFill>
                  <a:srgbClr val="333333"/>
                </a:solidFill>
              </a:rPr>
              <a:t>Easy to add new features without breaking existing code. New domain entities can be added by creating new classes that follow the same patterns. The system can grow organically as requirements evolve, with minimal refactoring of existing code.</a:t>
            </a:r>
            <a:endParaRPr lang="en-US" sz="104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12192000" cy="6959761"/>
          </a:xfrm>
          <a:prstGeom prst="rect">
            <a:avLst/>
          </a:prstGeom>
        </p:spPr>
      </p:pic>
      <p:sp>
        <p:nvSpPr>
          <p:cNvPr id="4" name="Text 1"/>
          <p:cNvSpPr/>
          <p:nvPr/>
        </p:nvSpPr>
        <p:spPr>
          <a:xfrm>
            <a:off x="952501" y="1057275"/>
            <a:ext cx="2510303" cy="370486"/>
          </a:xfrm>
          <a:prstGeom prst="rect">
            <a:avLst/>
          </a:prstGeom>
          <a:noFill/>
          <a:ln/>
        </p:spPr>
        <p:txBody>
          <a:bodyPr wrap="none" lIns="0" tIns="0" rIns="0" bIns="0" rtlCol="0" anchor="t">
            <a:spAutoFit/>
          </a:bodyPr>
          <a:lstStyle/>
          <a:p>
            <a:pPr>
              <a:lnSpc>
                <a:spcPts val="3067"/>
              </a:lnSpc>
            </a:pPr>
            <a:r>
              <a:rPr lang="en-US" sz="2136" b="1" dirty="0">
                <a:solidFill>
                  <a:srgbClr val="1A1A2E"/>
                </a:solidFill>
              </a:rPr>
              <a:t>OOP Design Principles (SOLID)</a:t>
            </a:r>
            <a:endParaRPr lang="en-US" sz="2136" dirty="0"/>
          </a:p>
        </p:txBody>
      </p:sp>
      <p:sp>
        <p:nvSpPr>
          <p:cNvPr id="5" name="Shape 2"/>
          <p:cNvSpPr/>
          <p:nvPr/>
        </p:nvSpPr>
        <p:spPr>
          <a:xfrm>
            <a:off x="952501" y="1701143"/>
            <a:ext cx="5076825" cy="1663973"/>
          </a:xfrm>
          <a:prstGeom prst="rect">
            <a:avLst/>
          </a:prstGeom>
          <a:solidFill>
            <a:srgbClr val="FFFFFF"/>
          </a:solidFill>
          <a:ln/>
        </p:spPr>
        <p:txBody>
          <a:bodyPr/>
          <a:lstStyle/>
          <a:p>
            <a:endParaRPr lang="en-US" sz="2400"/>
          </a:p>
        </p:txBody>
      </p:sp>
      <p:sp>
        <p:nvSpPr>
          <p:cNvPr id="6" name="Shape 3"/>
          <p:cNvSpPr/>
          <p:nvPr/>
        </p:nvSpPr>
        <p:spPr>
          <a:xfrm>
            <a:off x="1181101" y="1853543"/>
            <a:ext cx="342900" cy="342900"/>
          </a:xfrm>
          <a:prstGeom prst="rect">
            <a:avLst/>
          </a:prstGeom>
          <a:solidFill>
            <a:srgbClr val="E8EEF5"/>
          </a:solidFill>
          <a:ln/>
        </p:spPr>
        <p:txBody>
          <a:bodyPr/>
          <a:lstStyle/>
          <a:p>
            <a:endParaRPr lang="en-US" sz="2400"/>
          </a:p>
        </p:txBody>
      </p:sp>
      <p:sp>
        <p:nvSpPr>
          <p:cNvPr id="7" name="Text 4"/>
          <p:cNvSpPr/>
          <p:nvPr/>
        </p:nvSpPr>
        <p:spPr>
          <a:xfrm>
            <a:off x="1181101" y="1935161"/>
            <a:ext cx="342900" cy="179665"/>
          </a:xfrm>
          <a:prstGeom prst="rect">
            <a:avLst/>
          </a:prstGeom>
          <a:noFill/>
          <a:ln/>
        </p:spPr>
        <p:txBody>
          <a:bodyPr wrap="square" lIns="0" tIns="0" rIns="0" bIns="0" rtlCol="0" anchor="ctr">
            <a:spAutoFit/>
          </a:bodyPr>
          <a:lstStyle/>
          <a:p>
            <a:pPr algn="ctr">
              <a:lnSpc>
                <a:spcPts val="1467"/>
              </a:lnSpc>
            </a:pPr>
            <a:r>
              <a:rPr lang="en-US" sz="1045" b="1" dirty="0">
                <a:solidFill>
                  <a:srgbClr val="0066CC"/>
                </a:solidFill>
              </a:rPr>
              <a:t>SR</a:t>
            </a:r>
            <a:endParaRPr lang="en-US" sz="1045" dirty="0"/>
          </a:p>
        </p:txBody>
      </p:sp>
      <p:sp>
        <p:nvSpPr>
          <p:cNvPr id="8" name="Text 5"/>
          <p:cNvSpPr/>
          <p:nvPr/>
        </p:nvSpPr>
        <p:spPr>
          <a:xfrm>
            <a:off x="1638300" y="1908313"/>
            <a:ext cx="1293624"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Single Responsibility</a:t>
            </a:r>
            <a:endParaRPr lang="en-US" sz="1180" dirty="0"/>
          </a:p>
        </p:txBody>
      </p:sp>
      <p:sp>
        <p:nvSpPr>
          <p:cNvPr id="9" name="Text 6"/>
          <p:cNvSpPr/>
          <p:nvPr/>
        </p:nvSpPr>
        <p:spPr>
          <a:xfrm>
            <a:off x="1181101" y="2310743"/>
            <a:ext cx="4619625" cy="414281"/>
          </a:xfrm>
          <a:prstGeom prst="rect">
            <a:avLst/>
          </a:prstGeom>
          <a:noFill/>
          <a:ln/>
        </p:spPr>
        <p:txBody>
          <a:bodyPr wrap="square" lIns="0" tIns="0" rIns="0" bIns="0" rtlCol="0" anchor="t">
            <a:spAutoFit/>
          </a:bodyPr>
          <a:lstStyle/>
          <a:p>
            <a:pPr>
              <a:lnSpc>
                <a:spcPts val="1733"/>
              </a:lnSpc>
            </a:pPr>
            <a:r>
              <a:rPr lang="en-US" sz="969" dirty="0">
                <a:solidFill>
                  <a:srgbClr val="333333"/>
                </a:solidFill>
              </a:rPr>
              <a:t>Each class should have one, and only one, reason to change. A class should focus on a single responsibility or concern, making it easier to understand, test, and maintain.</a:t>
            </a:r>
            <a:endParaRPr lang="en-US" sz="969" dirty="0"/>
          </a:p>
        </p:txBody>
      </p:sp>
      <p:sp>
        <p:nvSpPr>
          <p:cNvPr id="10" name="Text 7"/>
          <p:cNvSpPr/>
          <p:nvPr/>
        </p:nvSpPr>
        <p:spPr>
          <a:xfrm>
            <a:off x="1181101" y="3026979"/>
            <a:ext cx="4619625" cy="299697"/>
          </a:xfrm>
          <a:prstGeom prst="rect">
            <a:avLst/>
          </a:prstGeom>
          <a:noFill/>
          <a:ln/>
        </p:spPr>
        <p:txBody>
          <a:bodyPr wrap="square" lIns="0" tIns="0" rIns="0" bIns="0" rtlCol="0" anchor="t">
            <a:spAutoFit/>
          </a:bodyPr>
          <a:lstStyle/>
          <a:p>
            <a:pPr>
              <a:lnSpc>
                <a:spcPts val="1200"/>
              </a:lnSpc>
            </a:pPr>
            <a:r>
              <a:rPr lang="en-US" sz="899" i="1" dirty="0">
                <a:solidFill>
                  <a:srgbClr val="666666"/>
                </a:solidFill>
              </a:rPr>
              <a:t>Example: DatabaseManager handles only database operations, not authentication or business logic.</a:t>
            </a:r>
            <a:endParaRPr lang="en-US" sz="899" dirty="0"/>
          </a:p>
        </p:txBody>
      </p:sp>
      <p:sp>
        <p:nvSpPr>
          <p:cNvPr id="11" name="Shape 8"/>
          <p:cNvSpPr/>
          <p:nvPr/>
        </p:nvSpPr>
        <p:spPr>
          <a:xfrm>
            <a:off x="6162676" y="1701143"/>
            <a:ext cx="5076825" cy="1663973"/>
          </a:xfrm>
          <a:prstGeom prst="rect">
            <a:avLst/>
          </a:prstGeom>
          <a:solidFill>
            <a:srgbClr val="FFFFFF"/>
          </a:solidFill>
          <a:ln/>
        </p:spPr>
        <p:txBody>
          <a:bodyPr/>
          <a:lstStyle/>
          <a:p>
            <a:endParaRPr lang="en-US" sz="2400"/>
          </a:p>
        </p:txBody>
      </p:sp>
      <p:sp>
        <p:nvSpPr>
          <p:cNvPr id="12" name="Shape 9"/>
          <p:cNvSpPr/>
          <p:nvPr/>
        </p:nvSpPr>
        <p:spPr>
          <a:xfrm>
            <a:off x="6391275" y="1853543"/>
            <a:ext cx="342900" cy="342900"/>
          </a:xfrm>
          <a:prstGeom prst="rect">
            <a:avLst/>
          </a:prstGeom>
          <a:solidFill>
            <a:srgbClr val="E8EEF5"/>
          </a:solidFill>
          <a:ln/>
        </p:spPr>
        <p:txBody>
          <a:bodyPr/>
          <a:lstStyle/>
          <a:p>
            <a:endParaRPr lang="en-US" sz="2400"/>
          </a:p>
        </p:txBody>
      </p:sp>
      <p:sp>
        <p:nvSpPr>
          <p:cNvPr id="13" name="Text 10"/>
          <p:cNvSpPr/>
          <p:nvPr/>
        </p:nvSpPr>
        <p:spPr>
          <a:xfrm>
            <a:off x="6391275" y="1935161"/>
            <a:ext cx="342900" cy="179665"/>
          </a:xfrm>
          <a:prstGeom prst="rect">
            <a:avLst/>
          </a:prstGeom>
          <a:noFill/>
          <a:ln/>
        </p:spPr>
        <p:txBody>
          <a:bodyPr wrap="square" lIns="0" tIns="0" rIns="0" bIns="0" rtlCol="0" anchor="ctr">
            <a:spAutoFit/>
          </a:bodyPr>
          <a:lstStyle/>
          <a:p>
            <a:pPr algn="ctr">
              <a:lnSpc>
                <a:spcPts val="1467"/>
              </a:lnSpc>
            </a:pPr>
            <a:r>
              <a:rPr lang="en-US" sz="1045" b="1" dirty="0">
                <a:solidFill>
                  <a:srgbClr val="0066CC"/>
                </a:solidFill>
              </a:rPr>
              <a:t>DRY</a:t>
            </a:r>
            <a:endParaRPr lang="en-US" sz="1045" dirty="0"/>
          </a:p>
        </p:txBody>
      </p:sp>
      <p:sp>
        <p:nvSpPr>
          <p:cNvPr id="14" name="Text 11"/>
          <p:cNvSpPr/>
          <p:nvPr/>
        </p:nvSpPr>
        <p:spPr>
          <a:xfrm>
            <a:off x="6848475" y="1908313"/>
            <a:ext cx="1383392"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Don't Repeat Yourself</a:t>
            </a:r>
            <a:endParaRPr lang="en-US" sz="1180" dirty="0"/>
          </a:p>
        </p:txBody>
      </p:sp>
      <p:sp>
        <p:nvSpPr>
          <p:cNvPr id="15" name="Text 12"/>
          <p:cNvSpPr/>
          <p:nvPr/>
        </p:nvSpPr>
        <p:spPr>
          <a:xfrm>
            <a:off x="6391276" y="2310743"/>
            <a:ext cx="4619625" cy="414281"/>
          </a:xfrm>
          <a:prstGeom prst="rect">
            <a:avLst/>
          </a:prstGeom>
          <a:noFill/>
          <a:ln/>
        </p:spPr>
        <p:txBody>
          <a:bodyPr wrap="square" lIns="0" tIns="0" rIns="0" bIns="0" rtlCol="0" anchor="t">
            <a:spAutoFit/>
          </a:bodyPr>
          <a:lstStyle/>
          <a:p>
            <a:pPr>
              <a:lnSpc>
                <a:spcPts val="1733"/>
              </a:lnSpc>
            </a:pPr>
            <a:r>
              <a:rPr lang="en-US" sz="969" dirty="0">
                <a:solidFill>
                  <a:srgbClr val="333333"/>
                </a:solidFill>
              </a:rPr>
              <a:t>Avoid code duplication by extracting common functionality into reusable classes or methods. Every piece of knowledge should have a single, authoritative representation.</a:t>
            </a:r>
            <a:endParaRPr lang="en-US" sz="969" dirty="0"/>
          </a:p>
        </p:txBody>
      </p:sp>
      <p:sp>
        <p:nvSpPr>
          <p:cNvPr id="16" name="Text 13"/>
          <p:cNvSpPr/>
          <p:nvPr/>
        </p:nvSpPr>
        <p:spPr>
          <a:xfrm>
            <a:off x="6391276" y="3026979"/>
            <a:ext cx="4619625" cy="145809"/>
          </a:xfrm>
          <a:prstGeom prst="rect">
            <a:avLst/>
          </a:prstGeom>
          <a:noFill/>
          <a:ln/>
        </p:spPr>
        <p:txBody>
          <a:bodyPr wrap="square" lIns="0" tIns="0" rIns="0" bIns="0" rtlCol="0" anchor="t">
            <a:spAutoFit/>
          </a:bodyPr>
          <a:lstStyle/>
          <a:p>
            <a:pPr>
              <a:lnSpc>
                <a:spcPts val="1200"/>
              </a:lnSpc>
            </a:pPr>
            <a:r>
              <a:rPr lang="en-US" sz="899" i="1" dirty="0">
                <a:solidFill>
                  <a:srgbClr val="666666"/>
                </a:solidFill>
              </a:rPr>
              <a:t>Example: Instead of repeating CRUD code for each domain, use a base class or shared methods.</a:t>
            </a:r>
            <a:endParaRPr lang="en-US" sz="899" dirty="0"/>
          </a:p>
        </p:txBody>
      </p:sp>
      <p:sp>
        <p:nvSpPr>
          <p:cNvPr id="17" name="Shape 14"/>
          <p:cNvSpPr/>
          <p:nvPr/>
        </p:nvSpPr>
        <p:spPr>
          <a:xfrm>
            <a:off x="952501" y="3498466"/>
            <a:ext cx="5076825" cy="1663973"/>
          </a:xfrm>
          <a:prstGeom prst="rect">
            <a:avLst/>
          </a:prstGeom>
          <a:solidFill>
            <a:srgbClr val="FFFFFF"/>
          </a:solidFill>
          <a:ln/>
        </p:spPr>
        <p:txBody>
          <a:bodyPr/>
          <a:lstStyle/>
          <a:p>
            <a:endParaRPr lang="en-US" sz="2400"/>
          </a:p>
        </p:txBody>
      </p:sp>
      <p:sp>
        <p:nvSpPr>
          <p:cNvPr id="18" name="Shape 15"/>
          <p:cNvSpPr/>
          <p:nvPr/>
        </p:nvSpPr>
        <p:spPr>
          <a:xfrm>
            <a:off x="1181101" y="3650866"/>
            <a:ext cx="342900" cy="342900"/>
          </a:xfrm>
          <a:prstGeom prst="rect">
            <a:avLst/>
          </a:prstGeom>
          <a:solidFill>
            <a:srgbClr val="E8EEF5"/>
          </a:solidFill>
          <a:ln/>
        </p:spPr>
        <p:txBody>
          <a:bodyPr/>
          <a:lstStyle/>
          <a:p>
            <a:endParaRPr lang="en-US" sz="2400"/>
          </a:p>
        </p:txBody>
      </p:sp>
      <p:sp>
        <p:nvSpPr>
          <p:cNvPr id="19" name="Text 16"/>
          <p:cNvSpPr/>
          <p:nvPr/>
        </p:nvSpPr>
        <p:spPr>
          <a:xfrm>
            <a:off x="1181101" y="3732484"/>
            <a:ext cx="342900" cy="179665"/>
          </a:xfrm>
          <a:prstGeom prst="rect">
            <a:avLst/>
          </a:prstGeom>
          <a:noFill/>
          <a:ln/>
        </p:spPr>
        <p:txBody>
          <a:bodyPr wrap="square" lIns="0" tIns="0" rIns="0" bIns="0" rtlCol="0" anchor="ctr">
            <a:spAutoFit/>
          </a:bodyPr>
          <a:lstStyle/>
          <a:p>
            <a:pPr algn="ctr">
              <a:lnSpc>
                <a:spcPts val="1467"/>
              </a:lnSpc>
            </a:pPr>
            <a:r>
              <a:rPr lang="en-US" sz="1045" b="1" dirty="0">
                <a:solidFill>
                  <a:srgbClr val="0066CC"/>
                </a:solidFill>
              </a:rPr>
              <a:t>EN</a:t>
            </a:r>
            <a:endParaRPr lang="en-US" sz="1045" dirty="0"/>
          </a:p>
        </p:txBody>
      </p:sp>
      <p:sp>
        <p:nvSpPr>
          <p:cNvPr id="20" name="Text 17"/>
          <p:cNvSpPr/>
          <p:nvPr/>
        </p:nvSpPr>
        <p:spPr>
          <a:xfrm>
            <a:off x="1638300" y="3705636"/>
            <a:ext cx="884858"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Encapsulation</a:t>
            </a:r>
            <a:endParaRPr lang="en-US" sz="1180" dirty="0"/>
          </a:p>
        </p:txBody>
      </p:sp>
      <p:sp>
        <p:nvSpPr>
          <p:cNvPr id="21" name="Text 18"/>
          <p:cNvSpPr/>
          <p:nvPr/>
        </p:nvSpPr>
        <p:spPr>
          <a:xfrm>
            <a:off x="1181101" y="4108066"/>
            <a:ext cx="4619625" cy="414281"/>
          </a:xfrm>
          <a:prstGeom prst="rect">
            <a:avLst/>
          </a:prstGeom>
          <a:noFill/>
          <a:ln/>
        </p:spPr>
        <p:txBody>
          <a:bodyPr wrap="square" lIns="0" tIns="0" rIns="0" bIns="0" rtlCol="0" anchor="t">
            <a:spAutoFit/>
          </a:bodyPr>
          <a:lstStyle/>
          <a:p>
            <a:pPr>
              <a:lnSpc>
                <a:spcPts val="1733"/>
              </a:lnSpc>
            </a:pPr>
            <a:r>
              <a:rPr lang="en-US" sz="969" dirty="0">
                <a:solidFill>
                  <a:srgbClr val="333333"/>
                </a:solidFill>
              </a:rPr>
              <a:t>Hide internal implementation details and expose only necessary interfaces. Use private attributes and provide public methods for controlled access to data.</a:t>
            </a:r>
            <a:endParaRPr lang="en-US" sz="969" dirty="0"/>
          </a:p>
        </p:txBody>
      </p:sp>
      <p:sp>
        <p:nvSpPr>
          <p:cNvPr id="22" name="Text 19"/>
          <p:cNvSpPr/>
          <p:nvPr/>
        </p:nvSpPr>
        <p:spPr>
          <a:xfrm>
            <a:off x="1181101" y="4824302"/>
            <a:ext cx="4619625" cy="145809"/>
          </a:xfrm>
          <a:prstGeom prst="rect">
            <a:avLst/>
          </a:prstGeom>
          <a:noFill/>
          <a:ln/>
        </p:spPr>
        <p:txBody>
          <a:bodyPr wrap="square" lIns="0" tIns="0" rIns="0" bIns="0" rtlCol="0" anchor="t">
            <a:spAutoFit/>
          </a:bodyPr>
          <a:lstStyle/>
          <a:p>
            <a:pPr>
              <a:lnSpc>
                <a:spcPts val="1200"/>
              </a:lnSpc>
            </a:pPr>
            <a:r>
              <a:rPr lang="en-US" sz="899" i="1" dirty="0">
                <a:solidFill>
                  <a:srgbClr val="666666"/>
                </a:solidFill>
              </a:rPr>
              <a:t>Example: User class has private __password_hash and public verify_password() method.</a:t>
            </a:r>
            <a:endParaRPr lang="en-US" sz="899" dirty="0"/>
          </a:p>
        </p:txBody>
      </p:sp>
      <p:sp>
        <p:nvSpPr>
          <p:cNvPr id="23" name="Shape 20"/>
          <p:cNvSpPr/>
          <p:nvPr/>
        </p:nvSpPr>
        <p:spPr>
          <a:xfrm>
            <a:off x="6162676" y="3498466"/>
            <a:ext cx="5076825" cy="1663973"/>
          </a:xfrm>
          <a:prstGeom prst="rect">
            <a:avLst/>
          </a:prstGeom>
          <a:solidFill>
            <a:srgbClr val="FFFFFF"/>
          </a:solidFill>
          <a:ln/>
        </p:spPr>
        <p:txBody>
          <a:bodyPr/>
          <a:lstStyle/>
          <a:p>
            <a:endParaRPr lang="en-US" sz="2400"/>
          </a:p>
        </p:txBody>
      </p:sp>
      <p:sp>
        <p:nvSpPr>
          <p:cNvPr id="24" name="Shape 21"/>
          <p:cNvSpPr/>
          <p:nvPr/>
        </p:nvSpPr>
        <p:spPr>
          <a:xfrm>
            <a:off x="6391275" y="3650866"/>
            <a:ext cx="342900" cy="342900"/>
          </a:xfrm>
          <a:prstGeom prst="rect">
            <a:avLst/>
          </a:prstGeom>
          <a:solidFill>
            <a:srgbClr val="E8EEF5"/>
          </a:solidFill>
          <a:ln/>
        </p:spPr>
        <p:txBody>
          <a:bodyPr/>
          <a:lstStyle/>
          <a:p>
            <a:endParaRPr lang="en-US" sz="2400"/>
          </a:p>
        </p:txBody>
      </p:sp>
      <p:sp>
        <p:nvSpPr>
          <p:cNvPr id="25" name="Text 22"/>
          <p:cNvSpPr/>
          <p:nvPr/>
        </p:nvSpPr>
        <p:spPr>
          <a:xfrm>
            <a:off x="6391275" y="3732484"/>
            <a:ext cx="342900" cy="179665"/>
          </a:xfrm>
          <a:prstGeom prst="rect">
            <a:avLst/>
          </a:prstGeom>
          <a:noFill/>
          <a:ln/>
        </p:spPr>
        <p:txBody>
          <a:bodyPr wrap="square" lIns="0" tIns="0" rIns="0" bIns="0" rtlCol="0" anchor="ctr">
            <a:spAutoFit/>
          </a:bodyPr>
          <a:lstStyle/>
          <a:p>
            <a:pPr algn="ctr">
              <a:lnSpc>
                <a:spcPts val="1467"/>
              </a:lnSpc>
            </a:pPr>
            <a:r>
              <a:rPr lang="en-US" sz="1045" b="1" dirty="0">
                <a:solidFill>
                  <a:srgbClr val="0066CC"/>
                </a:solidFill>
              </a:rPr>
              <a:t>CI</a:t>
            </a:r>
            <a:endParaRPr lang="en-US" sz="1045" dirty="0"/>
          </a:p>
        </p:txBody>
      </p:sp>
      <p:sp>
        <p:nvSpPr>
          <p:cNvPr id="26" name="Text 23"/>
          <p:cNvSpPr/>
          <p:nvPr/>
        </p:nvSpPr>
        <p:spPr>
          <a:xfrm>
            <a:off x="6848475" y="3705636"/>
            <a:ext cx="1875513"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Composition over Inheritance</a:t>
            </a:r>
            <a:endParaRPr lang="en-US" sz="1180" dirty="0"/>
          </a:p>
        </p:txBody>
      </p:sp>
      <p:sp>
        <p:nvSpPr>
          <p:cNvPr id="27" name="Text 24"/>
          <p:cNvSpPr/>
          <p:nvPr/>
        </p:nvSpPr>
        <p:spPr>
          <a:xfrm>
            <a:off x="6391276" y="4108066"/>
            <a:ext cx="4619625" cy="414281"/>
          </a:xfrm>
          <a:prstGeom prst="rect">
            <a:avLst/>
          </a:prstGeom>
          <a:noFill/>
          <a:ln/>
        </p:spPr>
        <p:txBody>
          <a:bodyPr wrap="square" lIns="0" tIns="0" rIns="0" bIns="0" rtlCol="0" anchor="t">
            <a:spAutoFit/>
          </a:bodyPr>
          <a:lstStyle/>
          <a:p>
            <a:pPr>
              <a:lnSpc>
                <a:spcPts val="1733"/>
              </a:lnSpc>
            </a:pPr>
            <a:r>
              <a:rPr lang="en-US" sz="969" dirty="0">
                <a:solidFill>
                  <a:srgbClr val="333333"/>
                </a:solidFill>
              </a:rPr>
              <a:t>Favor object composition (has-a relationship) over class inheritance (is-a relationship) when possible. Composition provides more flexibility and reduces tight coupling between classes.</a:t>
            </a:r>
            <a:endParaRPr lang="en-US" sz="969" dirty="0"/>
          </a:p>
        </p:txBody>
      </p:sp>
      <p:sp>
        <p:nvSpPr>
          <p:cNvPr id="28" name="Text 25"/>
          <p:cNvSpPr/>
          <p:nvPr/>
        </p:nvSpPr>
        <p:spPr>
          <a:xfrm>
            <a:off x="6391275" y="4824302"/>
            <a:ext cx="3701334" cy="145809"/>
          </a:xfrm>
          <a:prstGeom prst="rect">
            <a:avLst/>
          </a:prstGeom>
          <a:noFill/>
          <a:ln/>
        </p:spPr>
        <p:txBody>
          <a:bodyPr wrap="none" lIns="0" tIns="0" rIns="0" bIns="0" rtlCol="0" anchor="t">
            <a:spAutoFit/>
          </a:bodyPr>
          <a:lstStyle/>
          <a:p>
            <a:pPr>
              <a:lnSpc>
                <a:spcPts val="1200"/>
              </a:lnSpc>
            </a:pPr>
            <a:r>
              <a:rPr lang="en-US" sz="899" i="1" dirty="0">
                <a:solidFill>
                  <a:srgbClr val="666666"/>
                </a:solidFill>
              </a:rPr>
              <a:t>Example: AuthManager has-a DatabaseManager rather than inheriting from it.</a:t>
            </a:r>
            <a:endParaRPr lang="en-US" sz="899" dirty="0"/>
          </a:p>
        </p:txBody>
      </p:sp>
      <p:sp>
        <p:nvSpPr>
          <p:cNvPr id="29" name="Shape 26"/>
          <p:cNvSpPr/>
          <p:nvPr/>
        </p:nvSpPr>
        <p:spPr>
          <a:xfrm>
            <a:off x="952501" y="5295788"/>
            <a:ext cx="5076825" cy="1663973"/>
          </a:xfrm>
          <a:prstGeom prst="rect">
            <a:avLst/>
          </a:prstGeom>
          <a:solidFill>
            <a:srgbClr val="FFFFFF"/>
          </a:solidFill>
          <a:ln/>
        </p:spPr>
        <p:txBody>
          <a:bodyPr/>
          <a:lstStyle/>
          <a:p>
            <a:endParaRPr lang="en-US" sz="2400"/>
          </a:p>
        </p:txBody>
      </p:sp>
      <p:sp>
        <p:nvSpPr>
          <p:cNvPr id="30" name="Shape 27"/>
          <p:cNvSpPr/>
          <p:nvPr/>
        </p:nvSpPr>
        <p:spPr>
          <a:xfrm>
            <a:off x="1181101" y="5448189"/>
            <a:ext cx="342900" cy="342900"/>
          </a:xfrm>
          <a:prstGeom prst="rect">
            <a:avLst/>
          </a:prstGeom>
          <a:solidFill>
            <a:srgbClr val="E8EEF5"/>
          </a:solidFill>
          <a:ln/>
        </p:spPr>
        <p:txBody>
          <a:bodyPr/>
          <a:lstStyle/>
          <a:p>
            <a:endParaRPr lang="en-US" sz="2400"/>
          </a:p>
        </p:txBody>
      </p:sp>
      <p:sp>
        <p:nvSpPr>
          <p:cNvPr id="31" name="Text 28"/>
          <p:cNvSpPr/>
          <p:nvPr/>
        </p:nvSpPr>
        <p:spPr>
          <a:xfrm>
            <a:off x="1181101" y="5529806"/>
            <a:ext cx="342900" cy="179665"/>
          </a:xfrm>
          <a:prstGeom prst="rect">
            <a:avLst/>
          </a:prstGeom>
          <a:noFill/>
          <a:ln/>
        </p:spPr>
        <p:txBody>
          <a:bodyPr wrap="square" lIns="0" tIns="0" rIns="0" bIns="0" rtlCol="0" anchor="ctr">
            <a:spAutoFit/>
          </a:bodyPr>
          <a:lstStyle/>
          <a:p>
            <a:pPr algn="ctr">
              <a:lnSpc>
                <a:spcPts val="1467"/>
              </a:lnSpc>
            </a:pPr>
            <a:r>
              <a:rPr lang="en-US" sz="1045" b="1" dirty="0">
                <a:solidFill>
                  <a:srgbClr val="0066CC"/>
                </a:solidFill>
              </a:rPr>
              <a:t>IF</a:t>
            </a:r>
            <a:endParaRPr lang="en-US" sz="1045" dirty="0"/>
          </a:p>
        </p:txBody>
      </p:sp>
      <p:sp>
        <p:nvSpPr>
          <p:cNvPr id="32" name="Text 29"/>
          <p:cNvSpPr/>
          <p:nvPr/>
        </p:nvSpPr>
        <p:spPr>
          <a:xfrm>
            <a:off x="1638301" y="5502958"/>
            <a:ext cx="989053" cy="193771"/>
          </a:xfrm>
          <a:prstGeom prst="rect">
            <a:avLst/>
          </a:prstGeom>
          <a:noFill/>
          <a:ln/>
        </p:spPr>
        <p:txBody>
          <a:bodyPr wrap="none" lIns="0" tIns="0" rIns="0" bIns="0" rtlCol="0" anchor="t">
            <a:spAutoFit/>
          </a:bodyPr>
          <a:lstStyle/>
          <a:p>
            <a:pPr>
              <a:lnSpc>
                <a:spcPts val="1600"/>
              </a:lnSpc>
            </a:pPr>
            <a:r>
              <a:rPr lang="en-US" sz="1180" b="1" dirty="0">
                <a:solidFill>
                  <a:srgbClr val="1A1A2E"/>
                </a:solidFill>
              </a:rPr>
              <a:t>Clear Interfaces</a:t>
            </a:r>
            <a:endParaRPr lang="en-US" sz="1180" dirty="0"/>
          </a:p>
        </p:txBody>
      </p:sp>
      <p:sp>
        <p:nvSpPr>
          <p:cNvPr id="33" name="Text 30"/>
          <p:cNvSpPr/>
          <p:nvPr/>
        </p:nvSpPr>
        <p:spPr>
          <a:xfrm>
            <a:off x="1181101" y="5905389"/>
            <a:ext cx="4619625" cy="632289"/>
          </a:xfrm>
          <a:prstGeom prst="rect">
            <a:avLst/>
          </a:prstGeom>
          <a:noFill/>
          <a:ln/>
        </p:spPr>
        <p:txBody>
          <a:bodyPr wrap="square" lIns="0" tIns="0" rIns="0" bIns="0" rtlCol="0" anchor="t">
            <a:spAutoFit/>
          </a:bodyPr>
          <a:lstStyle/>
          <a:p>
            <a:pPr>
              <a:lnSpc>
                <a:spcPts val="1733"/>
              </a:lnSpc>
            </a:pPr>
            <a:r>
              <a:rPr lang="en-US" sz="969" dirty="0">
                <a:solidFill>
                  <a:srgbClr val="333333"/>
                </a:solidFill>
              </a:rPr>
              <a:t>Design simple, intuitive interfaces for your classes. Method names should be descriptive, parameters should be clear, and the class's purpose should be obvious from its public methods.</a:t>
            </a:r>
            <a:endParaRPr lang="en-US" sz="969" dirty="0"/>
          </a:p>
        </p:txBody>
      </p:sp>
      <p:sp>
        <p:nvSpPr>
          <p:cNvPr id="34" name="Text 31"/>
          <p:cNvSpPr/>
          <p:nvPr/>
        </p:nvSpPr>
        <p:spPr>
          <a:xfrm>
            <a:off x="1181101" y="6621625"/>
            <a:ext cx="4619625" cy="145809"/>
          </a:xfrm>
          <a:prstGeom prst="rect">
            <a:avLst/>
          </a:prstGeom>
          <a:noFill/>
          <a:ln/>
        </p:spPr>
        <p:txBody>
          <a:bodyPr wrap="square" lIns="0" tIns="0" rIns="0" bIns="0" rtlCol="0" anchor="t">
            <a:spAutoFit/>
          </a:bodyPr>
          <a:lstStyle/>
          <a:p>
            <a:pPr>
              <a:lnSpc>
                <a:spcPts val="1200"/>
              </a:lnSpc>
            </a:pPr>
            <a:r>
              <a:rPr lang="en-US" sz="899" i="1" dirty="0">
                <a:solidFill>
                  <a:srgbClr val="666666"/>
                </a:solidFill>
              </a:rPr>
              <a:t>Example: DatabaseManager.execute_query(sql, params) is clear and self-documenting.</a:t>
            </a:r>
            <a:endParaRPr lang="en-US" sz="899"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952500" y="1057275"/>
            <a:ext cx="2929072" cy="370486"/>
          </a:xfrm>
          <a:prstGeom prst="rect">
            <a:avLst/>
          </a:prstGeom>
          <a:noFill/>
          <a:ln/>
        </p:spPr>
        <p:txBody>
          <a:bodyPr wrap="none" lIns="0" tIns="0" rIns="0" bIns="0" rtlCol="0" anchor="t">
            <a:spAutoFit/>
          </a:bodyPr>
          <a:lstStyle/>
          <a:p>
            <a:pPr>
              <a:lnSpc>
                <a:spcPts val="3067"/>
              </a:lnSpc>
            </a:pPr>
            <a:r>
              <a:rPr lang="en-US" sz="2136" b="1" dirty="0">
                <a:solidFill>
                  <a:srgbClr val="1A1A2E"/>
                </a:solidFill>
              </a:rPr>
              <a:t>UML Class Diagram Basics</a:t>
            </a:r>
            <a:endParaRPr lang="en-US" sz="2136" dirty="0"/>
          </a:p>
        </p:txBody>
      </p:sp>
      <p:sp>
        <p:nvSpPr>
          <p:cNvPr id="5" name="Shape 2"/>
          <p:cNvSpPr/>
          <p:nvPr/>
        </p:nvSpPr>
        <p:spPr>
          <a:xfrm>
            <a:off x="952500" y="1834494"/>
            <a:ext cx="4953000" cy="876300"/>
          </a:xfrm>
          <a:prstGeom prst="rect">
            <a:avLst/>
          </a:prstGeom>
          <a:solidFill>
            <a:srgbClr val="E8EEF5"/>
          </a:solidFill>
          <a:ln/>
        </p:spPr>
        <p:txBody>
          <a:bodyPr/>
          <a:lstStyle/>
          <a:p>
            <a:endParaRPr lang="en-US" sz="2400"/>
          </a:p>
        </p:txBody>
      </p:sp>
      <p:sp>
        <p:nvSpPr>
          <p:cNvPr id="6" name="Text 3"/>
          <p:cNvSpPr/>
          <p:nvPr/>
        </p:nvSpPr>
        <p:spPr>
          <a:xfrm>
            <a:off x="1181100" y="2024993"/>
            <a:ext cx="4495800" cy="461601"/>
          </a:xfrm>
          <a:prstGeom prst="rect">
            <a:avLst/>
          </a:prstGeom>
          <a:noFill/>
          <a:ln/>
        </p:spPr>
        <p:txBody>
          <a:bodyPr wrap="square" lIns="0" tIns="0" rIns="0" bIns="0" rtlCol="0" anchor="t">
            <a:spAutoFit/>
          </a:bodyPr>
          <a:lstStyle/>
          <a:p>
            <a:pPr>
              <a:lnSpc>
                <a:spcPts val="1867"/>
              </a:lnSpc>
            </a:pPr>
            <a:r>
              <a:rPr lang="en-US" sz="979" b="1" dirty="0">
                <a:solidFill>
                  <a:srgbClr val="1A1A2E"/>
                </a:solidFill>
              </a:rPr>
              <a:t>UML (Unified Modeling Language)</a:t>
            </a:r>
            <a:r>
              <a:rPr lang="en-US" sz="1040" dirty="0">
                <a:solidFill>
                  <a:srgbClr val="1A1A2E"/>
                </a:solidFill>
              </a:rPr>
              <a:t> class diagrams visualize the structure of object-oriented systems. They show classes, their attributes, methods, and relationships.</a:t>
            </a:r>
            <a:endParaRPr lang="en-US" sz="979" dirty="0"/>
          </a:p>
        </p:txBody>
      </p:sp>
      <p:sp>
        <p:nvSpPr>
          <p:cNvPr id="7" name="Shape 4"/>
          <p:cNvSpPr/>
          <p:nvPr/>
        </p:nvSpPr>
        <p:spPr>
          <a:xfrm>
            <a:off x="952500" y="2939394"/>
            <a:ext cx="4953000" cy="3333751"/>
          </a:xfrm>
          <a:prstGeom prst="rect">
            <a:avLst/>
          </a:prstGeom>
          <a:solidFill>
            <a:srgbClr val="FFFFFF"/>
          </a:solidFill>
          <a:ln/>
        </p:spPr>
        <p:txBody>
          <a:bodyPr/>
          <a:lstStyle/>
          <a:p>
            <a:endParaRPr lang="en-US" sz="2400"/>
          </a:p>
        </p:txBody>
      </p:sp>
      <p:sp>
        <p:nvSpPr>
          <p:cNvPr id="8" name="Text 5"/>
          <p:cNvSpPr/>
          <p:nvPr/>
        </p:nvSpPr>
        <p:spPr>
          <a:xfrm>
            <a:off x="1219201" y="3167993"/>
            <a:ext cx="924933" cy="146258"/>
          </a:xfrm>
          <a:prstGeom prst="rect">
            <a:avLst/>
          </a:prstGeom>
          <a:noFill/>
          <a:ln/>
        </p:spPr>
        <p:txBody>
          <a:bodyPr wrap="none" lIns="0" tIns="0" rIns="0" bIns="0" rtlCol="0" anchor="t">
            <a:spAutoFit/>
          </a:bodyPr>
          <a:lstStyle/>
          <a:p>
            <a:pPr>
              <a:lnSpc>
                <a:spcPts val="1200"/>
              </a:lnSpc>
            </a:pPr>
            <a:r>
              <a:rPr lang="en-US" sz="911" b="1" dirty="0">
                <a:solidFill>
                  <a:srgbClr val="0066CC"/>
                </a:solidFill>
              </a:rPr>
              <a:t>Class Box Structure</a:t>
            </a:r>
            <a:endParaRPr lang="en-US" sz="911" dirty="0"/>
          </a:p>
        </p:txBody>
      </p:sp>
      <p:sp>
        <p:nvSpPr>
          <p:cNvPr id="9" name="Shape 6"/>
          <p:cNvSpPr/>
          <p:nvPr/>
        </p:nvSpPr>
        <p:spPr>
          <a:xfrm>
            <a:off x="1238251" y="3558517"/>
            <a:ext cx="3009900" cy="476251"/>
          </a:xfrm>
          <a:prstGeom prst="rect">
            <a:avLst/>
          </a:prstGeom>
          <a:solidFill>
            <a:srgbClr val="E8EEF5"/>
          </a:solidFill>
          <a:ln/>
        </p:spPr>
        <p:txBody>
          <a:bodyPr/>
          <a:lstStyle/>
          <a:p>
            <a:endParaRPr lang="en-US" sz="2400"/>
          </a:p>
        </p:txBody>
      </p:sp>
      <p:sp>
        <p:nvSpPr>
          <p:cNvPr id="10" name="Shape 7"/>
          <p:cNvSpPr/>
          <p:nvPr/>
        </p:nvSpPr>
        <p:spPr>
          <a:xfrm>
            <a:off x="1238251" y="4015717"/>
            <a:ext cx="3009900" cy="19051"/>
          </a:xfrm>
          <a:prstGeom prst="rect">
            <a:avLst/>
          </a:prstGeom>
          <a:solidFill>
            <a:srgbClr val="1A1A2E"/>
          </a:solidFill>
          <a:ln/>
        </p:spPr>
        <p:txBody>
          <a:bodyPr/>
          <a:lstStyle/>
          <a:p>
            <a:endParaRPr lang="en-US" sz="2400"/>
          </a:p>
        </p:txBody>
      </p:sp>
      <p:sp>
        <p:nvSpPr>
          <p:cNvPr id="11" name="Text 8"/>
          <p:cNvSpPr/>
          <p:nvPr/>
        </p:nvSpPr>
        <p:spPr>
          <a:xfrm>
            <a:off x="2597327" y="3710918"/>
            <a:ext cx="291747" cy="193771"/>
          </a:xfrm>
          <a:prstGeom prst="rect">
            <a:avLst/>
          </a:prstGeom>
          <a:noFill/>
          <a:ln/>
        </p:spPr>
        <p:txBody>
          <a:bodyPr wrap="none" lIns="0" tIns="0" rIns="0" bIns="0" rtlCol="0" anchor="t">
            <a:spAutoFit/>
          </a:bodyPr>
          <a:lstStyle/>
          <a:p>
            <a:pPr algn="ctr">
              <a:lnSpc>
                <a:spcPts val="1600"/>
              </a:lnSpc>
            </a:pPr>
            <a:r>
              <a:rPr lang="en-US" sz="1180" b="1" dirty="0">
                <a:solidFill>
                  <a:srgbClr val="1A1A2E"/>
                </a:solidFill>
              </a:rPr>
              <a:t>User</a:t>
            </a:r>
            <a:endParaRPr lang="en-US" sz="1180" dirty="0"/>
          </a:p>
        </p:txBody>
      </p:sp>
      <p:sp>
        <p:nvSpPr>
          <p:cNvPr id="12" name="Text 9"/>
          <p:cNvSpPr/>
          <p:nvPr/>
        </p:nvSpPr>
        <p:spPr>
          <a:xfrm>
            <a:off x="1428751" y="4187169"/>
            <a:ext cx="390813" cy="110671"/>
          </a:xfrm>
          <a:prstGeom prst="rect">
            <a:avLst/>
          </a:prstGeom>
          <a:noFill/>
          <a:ln/>
        </p:spPr>
        <p:txBody>
          <a:bodyPr wrap="none" lIns="0" tIns="0" rIns="0" bIns="0" rtlCol="0" anchor="t">
            <a:spAutoFit/>
          </a:bodyPr>
          <a:lstStyle/>
          <a:p>
            <a:pPr>
              <a:lnSpc>
                <a:spcPts val="933"/>
              </a:lnSpc>
            </a:pPr>
            <a:r>
              <a:rPr lang="en-US" sz="712" b="1" kern="0" spc="1" dirty="0">
                <a:solidFill>
                  <a:srgbClr val="666666"/>
                </a:solidFill>
              </a:rPr>
              <a:t>Attributes</a:t>
            </a:r>
            <a:endParaRPr lang="en-US" sz="712" dirty="0"/>
          </a:p>
        </p:txBody>
      </p:sp>
      <p:sp>
        <p:nvSpPr>
          <p:cNvPr id="13" name="Text 10"/>
          <p:cNvSpPr/>
          <p:nvPr/>
        </p:nvSpPr>
        <p:spPr>
          <a:xfrm>
            <a:off x="1428751" y="4406243"/>
            <a:ext cx="708527" cy="193899"/>
          </a:xfrm>
          <a:prstGeom prst="rect">
            <a:avLst/>
          </a:prstGeom>
          <a:noFill/>
          <a:ln/>
        </p:spPr>
        <p:txBody>
          <a:bodyPr wrap="none" lIns="0" tIns="0" rIns="0" bIns="0" rtlCol="0" anchor="t">
            <a:spAutoFit/>
          </a:bodyPr>
          <a:lstStyle/>
          <a:p>
            <a:pPr>
              <a:lnSpc>
                <a:spcPts val="1733"/>
              </a:lnSpc>
            </a:pPr>
            <a:r>
              <a:rPr lang="en-US" sz="899" dirty="0">
                <a:solidFill>
                  <a:srgbClr val="333333"/>
                </a:solidFill>
              </a:rPr>
              <a:t>- username: str</a:t>
            </a:r>
            <a:endParaRPr lang="en-US" sz="899" dirty="0"/>
          </a:p>
        </p:txBody>
      </p:sp>
      <p:sp>
        <p:nvSpPr>
          <p:cNvPr id="14" name="Text 11"/>
          <p:cNvSpPr/>
          <p:nvPr/>
        </p:nvSpPr>
        <p:spPr>
          <a:xfrm>
            <a:off x="1428751" y="4629114"/>
            <a:ext cx="968214" cy="193899"/>
          </a:xfrm>
          <a:prstGeom prst="rect">
            <a:avLst/>
          </a:prstGeom>
          <a:noFill/>
          <a:ln/>
        </p:spPr>
        <p:txBody>
          <a:bodyPr wrap="none" lIns="0" tIns="0" rIns="0" bIns="0" rtlCol="0" anchor="t">
            <a:spAutoFit/>
          </a:bodyPr>
          <a:lstStyle/>
          <a:p>
            <a:pPr>
              <a:lnSpc>
                <a:spcPts val="1733"/>
              </a:lnSpc>
            </a:pPr>
            <a:r>
              <a:rPr lang="en-US" sz="899" dirty="0">
                <a:solidFill>
                  <a:srgbClr val="333333"/>
                </a:solidFill>
              </a:rPr>
              <a:t>- password_hash: str</a:t>
            </a:r>
            <a:endParaRPr lang="en-US" sz="899" dirty="0"/>
          </a:p>
        </p:txBody>
      </p:sp>
      <p:sp>
        <p:nvSpPr>
          <p:cNvPr id="15" name="Text 12"/>
          <p:cNvSpPr/>
          <p:nvPr/>
        </p:nvSpPr>
        <p:spPr>
          <a:xfrm>
            <a:off x="1428751" y="4851983"/>
            <a:ext cx="448841" cy="193899"/>
          </a:xfrm>
          <a:prstGeom prst="rect">
            <a:avLst/>
          </a:prstGeom>
          <a:noFill/>
          <a:ln/>
        </p:spPr>
        <p:txBody>
          <a:bodyPr wrap="none" lIns="0" tIns="0" rIns="0" bIns="0" rtlCol="0" anchor="t">
            <a:spAutoFit/>
          </a:bodyPr>
          <a:lstStyle/>
          <a:p>
            <a:pPr>
              <a:lnSpc>
                <a:spcPts val="1733"/>
              </a:lnSpc>
            </a:pPr>
            <a:r>
              <a:rPr lang="en-US" sz="899" dirty="0">
                <a:solidFill>
                  <a:srgbClr val="333333"/>
                </a:solidFill>
              </a:rPr>
              <a:t>+ role: str</a:t>
            </a:r>
            <a:endParaRPr lang="en-US" sz="899" dirty="0"/>
          </a:p>
        </p:txBody>
      </p:sp>
      <p:sp>
        <p:nvSpPr>
          <p:cNvPr id="16" name="Text 13"/>
          <p:cNvSpPr/>
          <p:nvPr/>
        </p:nvSpPr>
        <p:spPr>
          <a:xfrm>
            <a:off x="1428751" y="5246304"/>
            <a:ext cx="345544" cy="110671"/>
          </a:xfrm>
          <a:prstGeom prst="rect">
            <a:avLst/>
          </a:prstGeom>
          <a:noFill/>
          <a:ln/>
        </p:spPr>
        <p:txBody>
          <a:bodyPr wrap="none" lIns="0" tIns="0" rIns="0" bIns="0" rtlCol="0" anchor="t">
            <a:spAutoFit/>
          </a:bodyPr>
          <a:lstStyle/>
          <a:p>
            <a:pPr>
              <a:lnSpc>
                <a:spcPts val="933"/>
              </a:lnSpc>
            </a:pPr>
            <a:r>
              <a:rPr lang="en-US" sz="712" b="1" kern="0" spc="1" dirty="0">
                <a:solidFill>
                  <a:srgbClr val="666666"/>
                </a:solidFill>
              </a:rPr>
              <a:t>Methods</a:t>
            </a:r>
            <a:endParaRPr lang="en-US" sz="712" dirty="0"/>
          </a:p>
        </p:txBody>
      </p:sp>
      <p:sp>
        <p:nvSpPr>
          <p:cNvPr id="17" name="Text 14"/>
          <p:cNvSpPr/>
          <p:nvPr/>
        </p:nvSpPr>
        <p:spPr>
          <a:xfrm>
            <a:off x="1428751" y="5465379"/>
            <a:ext cx="1394613" cy="193899"/>
          </a:xfrm>
          <a:prstGeom prst="rect">
            <a:avLst/>
          </a:prstGeom>
          <a:noFill/>
          <a:ln/>
        </p:spPr>
        <p:txBody>
          <a:bodyPr wrap="none" lIns="0" tIns="0" rIns="0" bIns="0" rtlCol="0" anchor="t">
            <a:spAutoFit/>
          </a:bodyPr>
          <a:lstStyle/>
          <a:p>
            <a:pPr>
              <a:lnSpc>
                <a:spcPts val="1733"/>
              </a:lnSpc>
            </a:pPr>
            <a:r>
              <a:rPr lang="en-US" sz="899" dirty="0">
                <a:solidFill>
                  <a:srgbClr val="333333"/>
                </a:solidFill>
              </a:rPr>
              <a:t>+ verify_password(pwd): bool</a:t>
            </a:r>
            <a:endParaRPr lang="en-US" sz="899" dirty="0"/>
          </a:p>
        </p:txBody>
      </p:sp>
      <p:sp>
        <p:nvSpPr>
          <p:cNvPr id="18" name="Text 15"/>
          <p:cNvSpPr/>
          <p:nvPr/>
        </p:nvSpPr>
        <p:spPr>
          <a:xfrm>
            <a:off x="1428751" y="5688249"/>
            <a:ext cx="726161" cy="193899"/>
          </a:xfrm>
          <a:prstGeom prst="rect">
            <a:avLst/>
          </a:prstGeom>
          <a:noFill/>
          <a:ln/>
        </p:spPr>
        <p:txBody>
          <a:bodyPr wrap="none" lIns="0" tIns="0" rIns="0" bIns="0" rtlCol="0" anchor="t">
            <a:spAutoFit/>
          </a:bodyPr>
          <a:lstStyle/>
          <a:p>
            <a:pPr>
              <a:lnSpc>
                <a:spcPts val="1733"/>
              </a:lnSpc>
            </a:pPr>
            <a:r>
              <a:rPr lang="en-US" sz="899" dirty="0">
                <a:solidFill>
                  <a:srgbClr val="333333"/>
                </a:solidFill>
              </a:rPr>
              <a:t>+ get_role(): str</a:t>
            </a:r>
            <a:endParaRPr lang="en-US" sz="899" dirty="0"/>
          </a:p>
        </p:txBody>
      </p:sp>
      <p:sp>
        <p:nvSpPr>
          <p:cNvPr id="19" name="Text 16"/>
          <p:cNvSpPr/>
          <p:nvPr/>
        </p:nvSpPr>
        <p:spPr>
          <a:xfrm>
            <a:off x="1428751" y="5911119"/>
            <a:ext cx="1242328" cy="193899"/>
          </a:xfrm>
          <a:prstGeom prst="rect">
            <a:avLst/>
          </a:prstGeom>
          <a:noFill/>
          <a:ln/>
        </p:spPr>
        <p:txBody>
          <a:bodyPr wrap="none" lIns="0" tIns="0" rIns="0" bIns="0" rtlCol="0" anchor="t">
            <a:spAutoFit/>
          </a:bodyPr>
          <a:lstStyle/>
          <a:p>
            <a:pPr>
              <a:lnSpc>
                <a:spcPts val="1733"/>
              </a:lnSpc>
            </a:pPr>
            <a:r>
              <a:rPr lang="en-US" sz="899" dirty="0">
                <a:solidFill>
                  <a:srgbClr val="333333"/>
                </a:solidFill>
              </a:rPr>
              <a:t>- hash_password(pwd): str</a:t>
            </a:r>
            <a:endParaRPr lang="en-US" sz="899" dirty="0"/>
          </a:p>
        </p:txBody>
      </p:sp>
      <p:sp>
        <p:nvSpPr>
          <p:cNvPr id="20" name="Shape 17"/>
          <p:cNvSpPr/>
          <p:nvPr/>
        </p:nvSpPr>
        <p:spPr>
          <a:xfrm>
            <a:off x="6286500" y="1834494"/>
            <a:ext cx="4953000" cy="1264444"/>
          </a:xfrm>
          <a:prstGeom prst="rect">
            <a:avLst/>
          </a:prstGeom>
          <a:solidFill>
            <a:srgbClr val="FFFFFF"/>
          </a:solidFill>
          <a:ln/>
        </p:spPr>
        <p:txBody>
          <a:bodyPr/>
          <a:lstStyle/>
          <a:p>
            <a:endParaRPr lang="en-US" sz="2400"/>
          </a:p>
        </p:txBody>
      </p:sp>
      <p:sp>
        <p:nvSpPr>
          <p:cNvPr id="21" name="Text 18"/>
          <p:cNvSpPr/>
          <p:nvPr/>
        </p:nvSpPr>
        <p:spPr>
          <a:xfrm>
            <a:off x="6515100" y="2024994"/>
            <a:ext cx="981038" cy="179665"/>
          </a:xfrm>
          <a:prstGeom prst="rect">
            <a:avLst/>
          </a:prstGeom>
          <a:noFill/>
          <a:ln/>
        </p:spPr>
        <p:txBody>
          <a:bodyPr wrap="none" lIns="0" tIns="0" rIns="0" bIns="0" rtlCol="0" anchor="t">
            <a:spAutoFit/>
          </a:bodyPr>
          <a:lstStyle/>
          <a:p>
            <a:pPr>
              <a:lnSpc>
                <a:spcPts val="1467"/>
              </a:lnSpc>
            </a:pPr>
            <a:r>
              <a:rPr lang="en-US" sz="1045" b="1" dirty="0">
                <a:solidFill>
                  <a:srgbClr val="1A1A2E"/>
                </a:solidFill>
              </a:rPr>
              <a:t>Visibility Symbols</a:t>
            </a:r>
            <a:endParaRPr lang="en-US" sz="1045" dirty="0"/>
          </a:p>
        </p:txBody>
      </p:sp>
      <p:sp>
        <p:nvSpPr>
          <p:cNvPr id="22" name="Text 19"/>
          <p:cNvSpPr/>
          <p:nvPr/>
        </p:nvSpPr>
        <p:spPr>
          <a:xfrm>
            <a:off x="6515100" y="2346462"/>
            <a:ext cx="57708" cy="184731"/>
          </a:xfrm>
          <a:prstGeom prst="rect">
            <a:avLst/>
          </a:prstGeom>
          <a:noFill/>
          <a:ln/>
        </p:spPr>
        <p:txBody>
          <a:bodyPr wrap="none" lIns="0" tIns="0" rIns="0" bIns="0" rtlCol="0" anchor="t">
            <a:spAutoFit/>
          </a:bodyPr>
          <a:lstStyle/>
          <a:p>
            <a:pPr>
              <a:lnSpc>
                <a:spcPts val="1600"/>
              </a:lnSpc>
            </a:pPr>
            <a:r>
              <a:rPr lang="en-US" sz="911" b="1" dirty="0">
                <a:solidFill>
                  <a:srgbClr val="0066CC"/>
                </a:solidFill>
              </a:rPr>
              <a:t>+</a:t>
            </a:r>
            <a:endParaRPr lang="en-US" sz="911" dirty="0"/>
          </a:p>
        </p:txBody>
      </p:sp>
      <p:sp>
        <p:nvSpPr>
          <p:cNvPr id="23" name="Text 20"/>
          <p:cNvSpPr/>
          <p:nvPr/>
        </p:nvSpPr>
        <p:spPr>
          <a:xfrm>
            <a:off x="7239001" y="2346461"/>
            <a:ext cx="1684757" cy="186654"/>
          </a:xfrm>
          <a:prstGeom prst="rect">
            <a:avLst/>
          </a:prstGeom>
          <a:noFill/>
          <a:ln/>
        </p:spPr>
        <p:txBody>
          <a:bodyPr wrap="none" lIns="0" tIns="0" rIns="0" bIns="0" rtlCol="0" anchor="t">
            <a:spAutoFit/>
          </a:bodyPr>
          <a:lstStyle/>
          <a:p>
            <a:pPr>
              <a:lnSpc>
                <a:spcPts val="1600"/>
              </a:lnSpc>
            </a:pPr>
            <a:r>
              <a:rPr lang="en-US" sz="911" b="1" dirty="0">
                <a:solidFill>
                  <a:srgbClr val="333333"/>
                </a:solidFill>
              </a:rPr>
              <a:t>Public:</a:t>
            </a:r>
            <a:r>
              <a:rPr lang="en-US" sz="969" dirty="0">
                <a:solidFill>
                  <a:srgbClr val="333333"/>
                </a:solidFill>
              </a:rPr>
              <a:t> Accessible from anywhere</a:t>
            </a:r>
            <a:endParaRPr lang="en-US" sz="911" dirty="0"/>
          </a:p>
        </p:txBody>
      </p:sp>
      <p:sp>
        <p:nvSpPr>
          <p:cNvPr id="24" name="Text 21"/>
          <p:cNvSpPr/>
          <p:nvPr/>
        </p:nvSpPr>
        <p:spPr>
          <a:xfrm>
            <a:off x="6515100" y="2622687"/>
            <a:ext cx="35266" cy="184731"/>
          </a:xfrm>
          <a:prstGeom prst="rect">
            <a:avLst/>
          </a:prstGeom>
          <a:noFill/>
          <a:ln/>
        </p:spPr>
        <p:txBody>
          <a:bodyPr wrap="none" lIns="0" tIns="0" rIns="0" bIns="0" rtlCol="0" anchor="t">
            <a:spAutoFit/>
          </a:bodyPr>
          <a:lstStyle/>
          <a:p>
            <a:pPr>
              <a:lnSpc>
                <a:spcPts val="1600"/>
              </a:lnSpc>
            </a:pPr>
            <a:r>
              <a:rPr lang="en-US" sz="911" b="1" dirty="0">
                <a:solidFill>
                  <a:srgbClr val="0066CC"/>
                </a:solidFill>
              </a:rPr>
              <a:t>-</a:t>
            </a:r>
            <a:endParaRPr lang="en-US" sz="911" dirty="0"/>
          </a:p>
        </p:txBody>
      </p:sp>
      <p:sp>
        <p:nvSpPr>
          <p:cNvPr id="25" name="Text 22"/>
          <p:cNvSpPr/>
          <p:nvPr/>
        </p:nvSpPr>
        <p:spPr>
          <a:xfrm>
            <a:off x="7239001" y="2622687"/>
            <a:ext cx="1989327" cy="186654"/>
          </a:xfrm>
          <a:prstGeom prst="rect">
            <a:avLst/>
          </a:prstGeom>
          <a:noFill/>
          <a:ln/>
        </p:spPr>
        <p:txBody>
          <a:bodyPr wrap="none" lIns="0" tIns="0" rIns="0" bIns="0" rtlCol="0" anchor="t">
            <a:spAutoFit/>
          </a:bodyPr>
          <a:lstStyle/>
          <a:p>
            <a:pPr>
              <a:lnSpc>
                <a:spcPts val="1600"/>
              </a:lnSpc>
            </a:pPr>
            <a:r>
              <a:rPr lang="en-US" sz="911" b="1" dirty="0">
                <a:solidFill>
                  <a:srgbClr val="333333"/>
                </a:solidFill>
              </a:rPr>
              <a:t>Private:</a:t>
            </a:r>
            <a:r>
              <a:rPr lang="en-US" sz="969" dirty="0">
                <a:solidFill>
                  <a:srgbClr val="333333"/>
                </a:solidFill>
              </a:rPr>
              <a:t> Only accessible within the class</a:t>
            </a:r>
            <a:endParaRPr lang="en-US" sz="911" dirty="0"/>
          </a:p>
        </p:txBody>
      </p:sp>
      <p:sp>
        <p:nvSpPr>
          <p:cNvPr id="26" name="Text 23"/>
          <p:cNvSpPr/>
          <p:nvPr/>
        </p:nvSpPr>
        <p:spPr>
          <a:xfrm>
            <a:off x="6515100" y="2898913"/>
            <a:ext cx="57708" cy="184731"/>
          </a:xfrm>
          <a:prstGeom prst="rect">
            <a:avLst/>
          </a:prstGeom>
          <a:noFill/>
          <a:ln/>
        </p:spPr>
        <p:txBody>
          <a:bodyPr wrap="none" lIns="0" tIns="0" rIns="0" bIns="0" rtlCol="0" anchor="t">
            <a:spAutoFit/>
          </a:bodyPr>
          <a:lstStyle/>
          <a:p>
            <a:pPr>
              <a:lnSpc>
                <a:spcPts val="1600"/>
              </a:lnSpc>
            </a:pPr>
            <a:r>
              <a:rPr lang="en-US" sz="911" b="1" dirty="0">
                <a:solidFill>
                  <a:srgbClr val="0066CC"/>
                </a:solidFill>
              </a:rPr>
              <a:t>#</a:t>
            </a:r>
            <a:endParaRPr lang="en-US" sz="911" dirty="0"/>
          </a:p>
        </p:txBody>
      </p:sp>
      <p:sp>
        <p:nvSpPr>
          <p:cNvPr id="27" name="Text 24"/>
          <p:cNvSpPr/>
          <p:nvPr/>
        </p:nvSpPr>
        <p:spPr>
          <a:xfrm>
            <a:off x="7239000" y="2898912"/>
            <a:ext cx="2449388" cy="186654"/>
          </a:xfrm>
          <a:prstGeom prst="rect">
            <a:avLst/>
          </a:prstGeom>
          <a:noFill/>
          <a:ln/>
        </p:spPr>
        <p:txBody>
          <a:bodyPr wrap="none" lIns="0" tIns="0" rIns="0" bIns="0" rtlCol="0" anchor="t">
            <a:spAutoFit/>
          </a:bodyPr>
          <a:lstStyle/>
          <a:p>
            <a:pPr>
              <a:lnSpc>
                <a:spcPts val="1600"/>
              </a:lnSpc>
            </a:pPr>
            <a:r>
              <a:rPr lang="en-US" sz="911" b="1" dirty="0">
                <a:solidFill>
                  <a:srgbClr val="333333"/>
                </a:solidFill>
              </a:rPr>
              <a:t>Protected:</a:t>
            </a:r>
            <a:r>
              <a:rPr lang="en-US" sz="969" dirty="0">
                <a:solidFill>
                  <a:srgbClr val="333333"/>
                </a:solidFill>
              </a:rPr>
              <a:t> Accessible within class and subclasses</a:t>
            </a:r>
            <a:endParaRPr lang="en-US" sz="911" dirty="0"/>
          </a:p>
        </p:txBody>
      </p:sp>
      <p:sp>
        <p:nvSpPr>
          <p:cNvPr id="28" name="Shape 25"/>
          <p:cNvSpPr/>
          <p:nvPr/>
        </p:nvSpPr>
        <p:spPr>
          <a:xfrm>
            <a:off x="6286500" y="3327537"/>
            <a:ext cx="4953000" cy="2569369"/>
          </a:xfrm>
          <a:prstGeom prst="rect">
            <a:avLst/>
          </a:prstGeom>
          <a:solidFill>
            <a:srgbClr val="FFFFFF"/>
          </a:solidFill>
          <a:ln/>
        </p:spPr>
        <p:txBody>
          <a:bodyPr/>
          <a:lstStyle/>
          <a:p>
            <a:endParaRPr lang="en-US" sz="2400"/>
          </a:p>
        </p:txBody>
      </p:sp>
      <p:sp>
        <p:nvSpPr>
          <p:cNvPr id="29" name="Text 26"/>
          <p:cNvSpPr/>
          <p:nvPr/>
        </p:nvSpPr>
        <p:spPr>
          <a:xfrm>
            <a:off x="6515101" y="3518037"/>
            <a:ext cx="1049967" cy="179665"/>
          </a:xfrm>
          <a:prstGeom prst="rect">
            <a:avLst/>
          </a:prstGeom>
          <a:noFill/>
          <a:ln/>
        </p:spPr>
        <p:txBody>
          <a:bodyPr wrap="none" lIns="0" tIns="0" rIns="0" bIns="0" rtlCol="0" anchor="t">
            <a:spAutoFit/>
          </a:bodyPr>
          <a:lstStyle/>
          <a:p>
            <a:pPr>
              <a:lnSpc>
                <a:spcPts val="1467"/>
              </a:lnSpc>
            </a:pPr>
            <a:r>
              <a:rPr lang="en-US" sz="1045" b="1" dirty="0">
                <a:solidFill>
                  <a:srgbClr val="1A1A2E"/>
                </a:solidFill>
              </a:rPr>
              <a:t>Relationship Types</a:t>
            </a:r>
            <a:endParaRPr lang="en-US" sz="1045" dirty="0"/>
          </a:p>
        </p:txBody>
      </p:sp>
      <p:sp>
        <p:nvSpPr>
          <p:cNvPr id="30" name="Text 27"/>
          <p:cNvSpPr/>
          <p:nvPr/>
        </p:nvSpPr>
        <p:spPr>
          <a:xfrm>
            <a:off x="6515100" y="3839505"/>
            <a:ext cx="762000" cy="145296"/>
          </a:xfrm>
          <a:prstGeom prst="rect">
            <a:avLst/>
          </a:prstGeom>
          <a:noFill/>
          <a:ln/>
        </p:spPr>
        <p:txBody>
          <a:bodyPr wrap="square" lIns="0" tIns="0" rIns="0" bIns="0" rtlCol="0" anchor="t">
            <a:spAutoFit/>
          </a:bodyPr>
          <a:lstStyle/>
          <a:p>
            <a:pPr>
              <a:lnSpc>
                <a:spcPts val="1200"/>
              </a:lnSpc>
            </a:pPr>
            <a:r>
              <a:rPr lang="en-US" sz="911" b="1" dirty="0">
                <a:solidFill>
                  <a:srgbClr val="0066CC"/>
                </a:solidFill>
              </a:rPr>
              <a:t>───▷</a:t>
            </a:r>
            <a:endParaRPr lang="en-US" sz="911" dirty="0"/>
          </a:p>
        </p:txBody>
      </p:sp>
      <p:sp>
        <p:nvSpPr>
          <p:cNvPr id="31" name="Text 28"/>
          <p:cNvSpPr/>
          <p:nvPr/>
        </p:nvSpPr>
        <p:spPr>
          <a:xfrm>
            <a:off x="7391401" y="3839506"/>
            <a:ext cx="3619500" cy="186654"/>
          </a:xfrm>
          <a:prstGeom prst="rect">
            <a:avLst/>
          </a:prstGeom>
          <a:noFill/>
          <a:ln/>
        </p:spPr>
        <p:txBody>
          <a:bodyPr wrap="square" lIns="0" tIns="0" rIns="0" bIns="0" rtlCol="0" anchor="t">
            <a:spAutoFit/>
          </a:bodyPr>
          <a:lstStyle/>
          <a:p>
            <a:pPr>
              <a:lnSpc>
                <a:spcPts val="1600"/>
              </a:lnSpc>
            </a:pPr>
            <a:r>
              <a:rPr lang="en-US" sz="911" b="1" dirty="0">
                <a:solidFill>
                  <a:srgbClr val="333333"/>
                </a:solidFill>
              </a:rPr>
              <a:t>Inheritance:</a:t>
            </a:r>
            <a:r>
              <a:rPr lang="en-US" sz="969" dirty="0">
                <a:solidFill>
                  <a:srgbClr val="333333"/>
                </a:solidFill>
              </a:rPr>
              <a:t> Subclass inherits from superclass (is-a relationship)</a:t>
            </a:r>
            <a:endParaRPr lang="en-US" sz="911" dirty="0"/>
          </a:p>
        </p:txBody>
      </p:sp>
      <p:sp>
        <p:nvSpPr>
          <p:cNvPr id="32" name="Text 29"/>
          <p:cNvSpPr/>
          <p:nvPr/>
        </p:nvSpPr>
        <p:spPr>
          <a:xfrm>
            <a:off x="6515100" y="4353855"/>
            <a:ext cx="762000" cy="145296"/>
          </a:xfrm>
          <a:prstGeom prst="rect">
            <a:avLst/>
          </a:prstGeom>
          <a:noFill/>
          <a:ln/>
        </p:spPr>
        <p:txBody>
          <a:bodyPr wrap="square" lIns="0" tIns="0" rIns="0" bIns="0" rtlCol="0" anchor="t">
            <a:spAutoFit/>
          </a:bodyPr>
          <a:lstStyle/>
          <a:p>
            <a:pPr>
              <a:lnSpc>
                <a:spcPts val="1200"/>
              </a:lnSpc>
            </a:pPr>
            <a:r>
              <a:rPr lang="en-US" sz="911" b="1" dirty="0">
                <a:solidFill>
                  <a:srgbClr val="0066CC"/>
                </a:solidFill>
              </a:rPr>
              <a:t>───◆</a:t>
            </a:r>
            <a:endParaRPr lang="en-US" sz="911" dirty="0"/>
          </a:p>
        </p:txBody>
      </p:sp>
      <p:sp>
        <p:nvSpPr>
          <p:cNvPr id="33" name="Text 30"/>
          <p:cNvSpPr/>
          <p:nvPr/>
        </p:nvSpPr>
        <p:spPr>
          <a:xfrm>
            <a:off x="7391401" y="4353855"/>
            <a:ext cx="3619500" cy="186654"/>
          </a:xfrm>
          <a:prstGeom prst="rect">
            <a:avLst/>
          </a:prstGeom>
          <a:noFill/>
          <a:ln/>
        </p:spPr>
        <p:txBody>
          <a:bodyPr wrap="square" lIns="0" tIns="0" rIns="0" bIns="0" rtlCol="0" anchor="t">
            <a:spAutoFit/>
          </a:bodyPr>
          <a:lstStyle/>
          <a:p>
            <a:pPr>
              <a:lnSpc>
                <a:spcPts val="1600"/>
              </a:lnSpc>
            </a:pPr>
            <a:r>
              <a:rPr lang="en-US" sz="911" b="1" dirty="0">
                <a:solidFill>
                  <a:srgbClr val="333333"/>
                </a:solidFill>
              </a:rPr>
              <a:t>Composition:</a:t>
            </a:r>
            <a:r>
              <a:rPr lang="en-US" sz="969" dirty="0">
                <a:solidFill>
                  <a:srgbClr val="333333"/>
                </a:solidFill>
              </a:rPr>
              <a:t> Strong ownership, part cannot exist without whole (has-a)</a:t>
            </a:r>
            <a:endParaRPr lang="en-US" sz="911" dirty="0"/>
          </a:p>
        </p:txBody>
      </p:sp>
      <p:sp>
        <p:nvSpPr>
          <p:cNvPr id="34" name="Text 31"/>
          <p:cNvSpPr/>
          <p:nvPr/>
        </p:nvSpPr>
        <p:spPr>
          <a:xfrm>
            <a:off x="6515100" y="4868205"/>
            <a:ext cx="762000" cy="145296"/>
          </a:xfrm>
          <a:prstGeom prst="rect">
            <a:avLst/>
          </a:prstGeom>
          <a:noFill/>
          <a:ln/>
        </p:spPr>
        <p:txBody>
          <a:bodyPr wrap="square" lIns="0" tIns="0" rIns="0" bIns="0" rtlCol="0" anchor="t">
            <a:spAutoFit/>
          </a:bodyPr>
          <a:lstStyle/>
          <a:p>
            <a:pPr>
              <a:lnSpc>
                <a:spcPts val="1200"/>
              </a:lnSpc>
            </a:pPr>
            <a:r>
              <a:rPr lang="en-US" sz="911" b="1" dirty="0">
                <a:solidFill>
                  <a:srgbClr val="0066CC"/>
                </a:solidFill>
              </a:rPr>
              <a:t>───◇</a:t>
            </a:r>
            <a:endParaRPr lang="en-US" sz="911" dirty="0"/>
          </a:p>
        </p:txBody>
      </p:sp>
      <p:sp>
        <p:nvSpPr>
          <p:cNvPr id="35" name="Text 32"/>
          <p:cNvSpPr/>
          <p:nvPr/>
        </p:nvSpPr>
        <p:spPr>
          <a:xfrm>
            <a:off x="7391401" y="4868206"/>
            <a:ext cx="3619500" cy="186654"/>
          </a:xfrm>
          <a:prstGeom prst="rect">
            <a:avLst/>
          </a:prstGeom>
          <a:noFill/>
          <a:ln/>
        </p:spPr>
        <p:txBody>
          <a:bodyPr wrap="square" lIns="0" tIns="0" rIns="0" bIns="0" rtlCol="0" anchor="t">
            <a:spAutoFit/>
          </a:bodyPr>
          <a:lstStyle/>
          <a:p>
            <a:pPr>
              <a:lnSpc>
                <a:spcPts val="1600"/>
              </a:lnSpc>
            </a:pPr>
            <a:r>
              <a:rPr lang="en-US" sz="911" b="1" dirty="0">
                <a:solidFill>
                  <a:srgbClr val="333333"/>
                </a:solidFill>
              </a:rPr>
              <a:t>Aggregation:</a:t>
            </a:r>
            <a:r>
              <a:rPr lang="en-US" sz="969" dirty="0">
                <a:solidFill>
                  <a:srgbClr val="333333"/>
                </a:solidFill>
              </a:rPr>
              <a:t> Weak ownership, part can exist independently</a:t>
            </a:r>
            <a:endParaRPr lang="en-US" sz="911" dirty="0"/>
          </a:p>
        </p:txBody>
      </p:sp>
      <p:sp>
        <p:nvSpPr>
          <p:cNvPr id="36" name="Text 33"/>
          <p:cNvSpPr/>
          <p:nvPr/>
        </p:nvSpPr>
        <p:spPr>
          <a:xfrm>
            <a:off x="6515100" y="5382555"/>
            <a:ext cx="762000" cy="146258"/>
          </a:xfrm>
          <a:prstGeom prst="rect">
            <a:avLst/>
          </a:prstGeom>
          <a:noFill/>
          <a:ln/>
        </p:spPr>
        <p:txBody>
          <a:bodyPr wrap="square" lIns="0" tIns="0" rIns="0" bIns="0" rtlCol="0" anchor="t">
            <a:spAutoFit/>
          </a:bodyPr>
          <a:lstStyle/>
          <a:p>
            <a:pPr>
              <a:lnSpc>
                <a:spcPts val="1200"/>
              </a:lnSpc>
            </a:pPr>
            <a:r>
              <a:rPr lang="en-US" sz="911" b="1" dirty="0">
                <a:solidFill>
                  <a:srgbClr val="0066CC"/>
                </a:solidFill>
              </a:rPr>
              <a:t>───→</a:t>
            </a:r>
            <a:endParaRPr lang="en-US" sz="911" dirty="0"/>
          </a:p>
        </p:txBody>
      </p:sp>
      <p:sp>
        <p:nvSpPr>
          <p:cNvPr id="37" name="Text 34"/>
          <p:cNvSpPr/>
          <p:nvPr/>
        </p:nvSpPr>
        <p:spPr>
          <a:xfrm>
            <a:off x="7391401" y="5382555"/>
            <a:ext cx="3619500" cy="391839"/>
          </a:xfrm>
          <a:prstGeom prst="rect">
            <a:avLst/>
          </a:prstGeom>
          <a:noFill/>
          <a:ln/>
        </p:spPr>
        <p:txBody>
          <a:bodyPr wrap="square" lIns="0" tIns="0" rIns="0" bIns="0" rtlCol="0" anchor="t">
            <a:spAutoFit/>
          </a:bodyPr>
          <a:lstStyle/>
          <a:p>
            <a:pPr>
              <a:lnSpc>
                <a:spcPts val="1600"/>
              </a:lnSpc>
            </a:pPr>
            <a:r>
              <a:rPr lang="en-US" sz="911" b="1" dirty="0">
                <a:solidFill>
                  <a:srgbClr val="333333"/>
                </a:solidFill>
              </a:rPr>
              <a:t>Association:</a:t>
            </a:r>
            <a:r>
              <a:rPr lang="en-US" sz="969" dirty="0">
                <a:solidFill>
                  <a:srgbClr val="333333"/>
                </a:solidFill>
              </a:rPr>
              <a:t> General relationship, objects interact but neither owns the other</a:t>
            </a:r>
            <a:endParaRPr lang="en-US" sz="91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952500" y="762000"/>
            <a:ext cx="1068306" cy="146258"/>
          </a:xfrm>
          <a:prstGeom prst="rect">
            <a:avLst/>
          </a:prstGeom>
          <a:noFill/>
          <a:ln/>
        </p:spPr>
        <p:txBody>
          <a:bodyPr wrap="none" lIns="0" tIns="0" rIns="0" bIns="0" rtlCol="0" anchor="t">
            <a:spAutoFit/>
          </a:bodyPr>
          <a:lstStyle/>
          <a:p>
            <a:pPr>
              <a:lnSpc>
                <a:spcPts val="1200"/>
              </a:lnSpc>
            </a:pPr>
            <a:r>
              <a:rPr lang="en-US" sz="911" b="1" kern="0" spc="1" dirty="0">
                <a:solidFill>
                  <a:srgbClr val="0066CC"/>
                </a:solidFill>
              </a:rPr>
              <a:t>UML Diagram Example: Domain Classes</a:t>
            </a:r>
            <a:endParaRPr lang="en-US" sz="911" dirty="0"/>
          </a:p>
        </p:txBody>
      </p:sp>
      <p:sp>
        <p:nvSpPr>
          <p:cNvPr id="4" name="Text 1"/>
          <p:cNvSpPr/>
          <p:nvPr/>
        </p:nvSpPr>
        <p:spPr>
          <a:xfrm>
            <a:off x="952501" y="1057275"/>
            <a:ext cx="4181658" cy="370486"/>
          </a:xfrm>
          <a:prstGeom prst="rect">
            <a:avLst/>
          </a:prstGeom>
          <a:noFill/>
          <a:ln/>
        </p:spPr>
        <p:txBody>
          <a:bodyPr wrap="none" lIns="0" tIns="0" rIns="0" bIns="0" rtlCol="0" anchor="t">
            <a:spAutoFit/>
          </a:bodyPr>
          <a:lstStyle/>
          <a:p>
            <a:pPr>
              <a:lnSpc>
                <a:spcPts val="3067"/>
              </a:lnSpc>
            </a:pPr>
            <a:r>
              <a:rPr lang="en-US" sz="2136" b="1" dirty="0">
                <a:solidFill>
                  <a:srgbClr val="1A1A2E"/>
                </a:solidFill>
              </a:rPr>
              <a:t>UML Diagram: Domain Entity Classes</a:t>
            </a:r>
            <a:endParaRPr lang="en-US" sz="2136" dirty="0"/>
          </a:p>
        </p:txBody>
      </p:sp>
      <p:sp>
        <p:nvSpPr>
          <p:cNvPr id="5" name="Shape 2"/>
          <p:cNvSpPr/>
          <p:nvPr/>
        </p:nvSpPr>
        <p:spPr>
          <a:xfrm>
            <a:off x="952501" y="1853543"/>
            <a:ext cx="5000625" cy="2307840"/>
          </a:xfrm>
          <a:prstGeom prst="rect">
            <a:avLst/>
          </a:prstGeom>
          <a:solidFill>
            <a:srgbClr val="FFFFFF"/>
          </a:solidFill>
          <a:ln w="9144">
            <a:solidFill>
              <a:srgbClr val="1A1A2E"/>
            </a:solidFill>
            <a:prstDash val="solid"/>
          </a:ln>
        </p:spPr>
        <p:txBody>
          <a:bodyPr/>
          <a:lstStyle/>
          <a:p>
            <a:endParaRPr lang="en-US" sz="2400"/>
          </a:p>
        </p:txBody>
      </p:sp>
      <p:sp>
        <p:nvSpPr>
          <p:cNvPr id="6" name="Shape 3"/>
          <p:cNvSpPr/>
          <p:nvPr/>
        </p:nvSpPr>
        <p:spPr>
          <a:xfrm>
            <a:off x="952501" y="1853543"/>
            <a:ext cx="5000625" cy="357188"/>
          </a:xfrm>
          <a:prstGeom prst="rect">
            <a:avLst/>
          </a:prstGeom>
          <a:solidFill>
            <a:srgbClr val="E8EEF5"/>
          </a:solidFill>
          <a:ln/>
        </p:spPr>
        <p:txBody>
          <a:bodyPr/>
          <a:lstStyle/>
          <a:p>
            <a:endParaRPr lang="en-US" sz="2400"/>
          </a:p>
        </p:txBody>
      </p:sp>
      <p:sp>
        <p:nvSpPr>
          <p:cNvPr id="7" name="Shape 4"/>
          <p:cNvSpPr/>
          <p:nvPr/>
        </p:nvSpPr>
        <p:spPr>
          <a:xfrm>
            <a:off x="952501" y="2201206"/>
            <a:ext cx="5000625" cy="9525"/>
          </a:xfrm>
          <a:prstGeom prst="rect">
            <a:avLst/>
          </a:prstGeom>
          <a:solidFill>
            <a:srgbClr val="1A1A2E"/>
          </a:solidFill>
          <a:ln/>
        </p:spPr>
        <p:txBody>
          <a:bodyPr/>
          <a:lstStyle/>
          <a:p>
            <a:endParaRPr lang="en-US" sz="2400"/>
          </a:p>
        </p:txBody>
      </p:sp>
      <p:sp>
        <p:nvSpPr>
          <p:cNvPr id="8" name="Text 5"/>
          <p:cNvSpPr/>
          <p:nvPr/>
        </p:nvSpPr>
        <p:spPr>
          <a:xfrm>
            <a:off x="3306939" y="1967844"/>
            <a:ext cx="291747" cy="193771"/>
          </a:xfrm>
          <a:prstGeom prst="rect">
            <a:avLst/>
          </a:prstGeom>
          <a:noFill/>
          <a:ln/>
        </p:spPr>
        <p:txBody>
          <a:bodyPr wrap="none" lIns="0" tIns="0" rIns="0" bIns="0" rtlCol="0" anchor="t">
            <a:spAutoFit/>
          </a:bodyPr>
          <a:lstStyle/>
          <a:p>
            <a:pPr algn="ctr">
              <a:lnSpc>
                <a:spcPts val="1600"/>
              </a:lnSpc>
            </a:pPr>
            <a:r>
              <a:rPr lang="en-US" sz="1180" b="1" dirty="0">
                <a:solidFill>
                  <a:srgbClr val="1A1A2E"/>
                </a:solidFill>
              </a:rPr>
              <a:t>User</a:t>
            </a:r>
            <a:endParaRPr lang="en-US" sz="1180" dirty="0"/>
          </a:p>
        </p:txBody>
      </p:sp>
      <p:sp>
        <p:nvSpPr>
          <p:cNvPr id="9" name="Text 6"/>
          <p:cNvSpPr/>
          <p:nvPr/>
        </p:nvSpPr>
        <p:spPr>
          <a:xfrm>
            <a:off x="1143001" y="2296455"/>
            <a:ext cx="708527"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username: str</a:t>
            </a:r>
            <a:endParaRPr lang="en-US" sz="899" dirty="0"/>
          </a:p>
        </p:txBody>
      </p:sp>
      <p:sp>
        <p:nvSpPr>
          <p:cNvPr id="10" name="Text 7"/>
          <p:cNvSpPr/>
          <p:nvPr/>
        </p:nvSpPr>
        <p:spPr>
          <a:xfrm>
            <a:off x="1143000" y="2488854"/>
            <a:ext cx="968214"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password_hash: str</a:t>
            </a:r>
            <a:endParaRPr lang="en-US" sz="899" dirty="0"/>
          </a:p>
        </p:txBody>
      </p:sp>
      <p:sp>
        <p:nvSpPr>
          <p:cNvPr id="11" name="Text 8"/>
          <p:cNvSpPr/>
          <p:nvPr/>
        </p:nvSpPr>
        <p:spPr>
          <a:xfrm>
            <a:off x="1143001" y="2681251"/>
            <a:ext cx="426399"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role: str</a:t>
            </a:r>
            <a:endParaRPr lang="en-US" sz="899" dirty="0"/>
          </a:p>
        </p:txBody>
      </p:sp>
      <p:sp>
        <p:nvSpPr>
          <p:cNvPr id="12" name="Text 9"/>
          <p:cNvSpPr/>
          <p:nvPr/>
        </p:nvSpPr>
        <p:spPr>
          <a:xfrm>
            <a:off x="1143000" y="2978423"/>
            <a:ext cx="2029402"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__init__(username, password_hash, role)</a:t>
            </a:r>
            <a:endParaRPr lang="en-US" sz="899" dirty="0"/>
          </a:p>
        </p:txBody>
      </p:sp>
      <p:sp>
        <p:nvSpPr>
          <p:cNvPr id="13" name="Text 10"/>
          <p:cNvSpPr/>
          <p:nvPr/>
        </p:nvSpPr>
        <p:spPr>
          <a:xfrm>
            <a:off x="1143001" y="3170821"/>
            <a:ext cx="1639873"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verify_password(password): bool</a:t>
            </a:r>
            <a:endParaRPr lang="en-US" sz="899" dirty="0"/>
          </a:p>
        </p:txBody>
      </p:sp>
      <p:sp>
        <p:nvSpPr>
          <p:cNvPr id="14" name="Text 11"/>
          <p:cNvSpPr/>
          <p:nvPr/>
        </p:nvSpPr>
        <p:spPr>
          <a:xfrm>
            <a:off x="1143001" y="3363218"/>
            <a:ext cx="727763"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get_role(): str</a:t>
            </a:r>
            <a:endParaRPr lang="en-US" sz="899" dirty="0"/>
          </a:p>
        </p:txBody>
      </p:sp>
      <p:sp>
        <p:nvSpPr>
          <p:cNvPr id="15" name="Text 12"/>
          <p:cNvSpPr/>
          <p:nvPr/>
        </p:nvSpPr>
        <p:spPr>
          <a:xfrm>
            <a:off x="1143001" y="3555617"/>
            <a:ext cx="687689"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__str__(): str</a:t>
            </a:r>
            <a:endParaRPr lang="en-US" sz="899" dirty="0"/>
          </a:p>
        </p:txBody>
      </p:sp>
      <p:sp>
        <p:nvSpPr>
          <p:cNvPr id="16" name="Shape 13"/>
          <p:cNvSpPr/>
          <p:nvPr/>
        </p:nvSpPr>
        <p:spPr>
          <a:xfrm>
            <a:off x="6238876" y="1853543"/>
            <a:ext cx="5000625" cy="2307840"/>
          </a:xfrm>
          <a:prstGeom prst="rect">
            <a:avLst/>
          </a:prstGeom>
          <a:solidFill>
            <a:srgbClr val="FFFFFF"/>
          </a:solidFill>
          <a:ln w="9144">
            <a:solidFill>
              <a:srgbClr val="1A1A2E"/>
            </a:solidFill>
            <a:prstDash val="solid"/>
          </a:ln>
        </p:spPr>
        <p:txBody>
          <a:bodyPr/>
          <a:lstStyle/>
          <a:p>
            <a:endParaRPr lang="en-US" sz="2400"/>
          </a:p>
        </p:txBody>
      </p:sp>
      <p:sp>
        <p:nvSpPr>
          <p:cNvPr id="17" name="Shape 14"/>
          <p:cNvSpPr/>
          <p:nvPr/>
        </p:nvSpPr>
        <p:spPr>
          <a:xfrm>
            <a:off x="6238876" y="1853543"/>
            <a:ext cx="5000625" cy="357188"/>
          </a:xfrm>
          <a:prstGeom prst="rect">
            <a:avLst/>
          </a:prstGeom>
          <a:solidFill>
            <a:srgbClr val="E8EEF5"/>
          </a:solidFill>
          <a:ln/>
        </p:spPr>
        <p:txBody>
          <a:bodyPr/>
          <a:lstStyle/>
          <a:p>
            <a:endParaRPr lang="en-US" sz="2400"/>
          </a:p>
        </p:txBody>
      </p:sp>
      <p:sp>
        <p:nvSpPr>
          <p:cNvPr id="18" name="Shape 15"/>
          <p:cNvSpPr/>
          <p:nvPr/>
        </p:nvSpPr>
        <p:spPr>
          <a:xfrm>
            <a:off x="6238876" y="2201206"/>
            <a:ext cx="5000625" cy="9525"/>
          </a:xfrm>
          <a:prstGeom prst="rect">
            <a:avLst/>
          </a:prstGeom>
          <a:solidFill>
            <a:srgbClr val="1A1A2E"/>
          </a:solidFill>
          <a:ln/>
        </p:spPr>
        <p:txBody>
          <a:bodyPr/>
          <a:lstStyle/>
          <a:p>
            <a:endParaRPr lang="en-US" sz="2400"/>
          </a:p>
        </p:txBody>
      </p:sp>
      <p:sp>
        <p:nvSpPr>
          <p:cNvPr id="19" name="Text 16"/>
          <p:cNvSpPr/>
          <p:nvPr/>
        </p:nvSpPr>
        <p:spPr>
          <a:xfrm>
            <a:off x="8225426" y="1967844"/>
            <a:ext cx="1027524" cy="193771"/>
          </a:xfrm>
          <a:prstGeom prst="rect">
            <a:avLst/>
          </a:prstGeom>
          <a:noFill/>
          <a:ln/>
        </p:spPr>
        <p:txBody>
          <a:bodyPr wrap="none" lIns="0" tIns="0" rIns="0" bIns="0" rtlCol="0" anchor="t">
            <a:spAutoFit/>
          </a:bodyPr>
          <a:lstStyle/>
          <a:p>
            <a:pPr algn="ctr">
              <a:lnSpc>
                <a:spcPts val="1600"/>
              </a:lnSpc>
            </a:pPr>
            <a:r>
              <a:rPr lang="en-US" sz="1180" b="1" dirty="0">
                <a:solidFill>
                  <a:srgbClr val="1A1A2E"/>
                </a:solidFill>
              </a:rPr>
              <a:t>SecurityIncident</a:t>
            </a:r>
            <a:endParaRPr lang="en-US" sz="1180" dirty="0"/>
          </a:p>
        </p:txBody>
      </p:sp>
      <p:sp>
        <p:nvSpPr>
          <p:cNvPr id="20" name="Text 17"/>
          <p:cNvSpPr/>
          <p:nvPr/>
        </p:nvSpPr>
        <p:spPr>
          <a:xfrm>
            <a:off x="6429375" y="2296455"/>
            <a:ext cx="331822"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id: int</a:t>
            </a:r>
            <a:endParaRPr lang="en-US" sz="899" dirty="0"/>
          </a:p>
        </p:txBody>
      </p:sp>
      <p:sp>
        <p:nvSpPr>
          <p:cNvPr id="21" name="Text 18"/>
          <p:cNvSpPr/>
          <p:nvPr/>
        </p:nvSpPr>
        <p:spPr>
          <a:xfrm>
            <a:off x="6429375" y="2488854"/>
            <a:ext cx="889667"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incident_type: str</a:t>
            </a:r>
            <a:endParaRPr lang="en-US" sz="899" dirty="0"/>
          </a:p>
        </p:txBody>
      </p:sp>
      <p:sp>
        <p:nvSpPr>
          <p:cNvPr id="22" name="Text 19"/>
          <p:cNvSpPr/>
          <p:nvPr/>
        </p:nvSpPr>
        <p:spPr>
          <a:xfrm>
            <a:off x="6429375" y="2681251"/>
            <a:ext cx="610745"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severity: str</a:t>
            </a:r>
            <a:endParaRPr lang="en-US" sz="899" dirty="0"/>
          </a:p>
        </p:txBody>
      </p:sp>
      <p:sp>
        <p:nvSpPr>
          <p:cNvPr id="23" name="Text 20"/>
          <p:cNvSpPr/>
          <p:nvPr/>
        </p:nvSpPr>
        <p:spPr>
          <a:xfrm>
            <a:off x="6429375" y="2873649"/>
            <a:ext cx="522579"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status: str</a:t>
            </a:r>
            <a:endParaRPr lang="en-US" sz="899" dirty="0"/>
          </a:p>
        </p:txBody>
      </p:sp>
      <p:sp>
        <p:nvSpPr>
          <p:cNvPr id="24" name="Text 21"/>
          <p:cNvSpPr/>
          <p:nvPr/>
        </p:nvSpPr>
        <p:spPr>
          <a:xfrm>
            <a:off x="6429376" y="3066046"/>
            <a:ext cx="767839"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description: str</a:t>
            </a:r>
            <a:endParaRPr lang="en-US" sz="899" dirty="0"/>
          </a:p>
        </p:txBody>
      </p:sp>
      <p:sp>
        <p:nvSpPr>
          <p:cNvPr id="25" name="Text 22"/>
          <p:cNvSpPr/>
          <p:nvPr/>
        </p:nvSpPr>
        <p:spPr>
          <a:xfrm>
            <a:off x="6429376" y="3363218"/>
            <a:ext cx="1918795"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__init__(id, type, severity, status, desc)</a:t>
            </a:r>
            <a:endParaRPr lang="en-US" sz="899" dirty="0"/>
          </a:p>
        </p:txBody>
      </p:sp>
      <p:sp>
        <p:nvSpPr>
          <p:cNvPr id="26" name="Text 23"/>
          <p:cNvSpPr/>
          <p:nvPr/>
        </p:nvSpPr>
        <p:spPr>
          <a:xfrm>
            <a:off x="6429376" y="3555617"/>
            <a:ext cx="1623842"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update_status(new_status): void</a:t>
            </a:r>
            <a:endParaRPr lang="en-US" sz="899" dirty="0"/>
          </a:p>
        </p:txBody>
      </p:sp>
      <p:sp>
        <p:nvSpPr>
          <p:cNvPr id="27" name="Text 24"/>
          <p:cNvSpPr/>
          <p:nvPr/>
        </p:nvSpPr>
        <p:spPr>
          <a:xfrm>
            <a:off x="6429375" y="3748014"/>
            <a:ext cx="119423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get_severity_level(): int</a:t>
            </a:r>
            <a:endParaRPr lang="en-US" sz="899" dirty="0"/>
          </a:p>
        </p:txBody>
      </p:sp>
      <p:sp>
        <p:nvSpPr>
          <p:cNvPr id="28" name="Text 25"/>
          <p:cNvSpPr/>
          <p:nvPr/>
        </p:nvSpPr>
        <p:spPr>
          <a:xfrm>
            <a:off x="6429375" y="3940411"/>
            <a:ext cx="687689"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__str__(): str</a:t>
            </a:r>
            <a:endParaRPr lang="en-US" sz="899" dirty="0"/>
          </a:p>
        </p:txBody>
      </p:sp>
      <p:sp>
        <p:nvSpPr>
          <p:cNvPr id="29" name="Shape 26"/>
          <p:cNvSpPr/>
          <p:nvPr/>
        </p:nvSpPr>
        <p:spPr>
          <a:xfrm>
            <a:off x="952501" y="4532859"/>
            <a:ext cx="5000625" cy="2307840"/>
          </a:xfrm>
          <a:prstGeom prst="rect">
            <a:avLst/>
          </a:prstGeom>
          <a:solidFill>
            <a:srgbClr val="FFFFFF"/>
          </a:solidFill>
          <a:ln w="9144">
            <a:solidFill>
              <a:srgbClr val="1A1A2E"/>
            </a:solidFill>
            <a:prstDash val="solid"/>
          </a:ln>
        </p:spPr>
        <p:txBody>
          <a:bodyPr/>
          <a:lstStyle/>
          <a:p>
            <a:endParaRPr lang="en-US" sz="2400"/>
          </a:p>
        </p:txBody>
      </p:sp>
      <p:sp>
        <p:nvSpPr>
          <p:cNvPr id="30" name="Shape 27"/>
          <p:cNvSpPr/>
          <p:nvPr/>
        </p:nvSpPr>
        <p:spPr>
          <a:xfrm>
            <a:off x="952501" y="4532859"/>
            <a:ext cx="5000625" cy="357188"/>
          </a:xfrm>
          <a:prstGeom prst="rect">
            <a:avLst/>
          </a:prstGeom>
          <a:solidFill>
            <a:srgbClr val="E8EEF5"/>
          </a:solidFill>
          <a:ln/>
        </p:spPr>
        <p:txBody>
          <a:bodyPr/>
          <a:lstStyle/>
          <a:p>
            <a:endParaRPr lang="en-US" sz="2400"/>
          </a:p>
        </p:txBody>
      </p:sp>
      <p:sp>
        <p:nvSpPr>
          <p:cNvPr id="31" name="Shape 28"/>
          <p:cNvSpPr/>
          <p:nvPr/>
        </p:nvSpPr>
        <p:spPr>
          <a:xfrm>
            <a:off x="952501" y="4880522"/>
            <a:ext cx="5000625" cy="9525"/>
          </a:xfrm>
          <a:prstGeom prst="rect">
            <a:avLst/>
          </a:prstGeom>
          <a:solidFill>
            <a:srgbClr val="1A1A2E"/>
          </a:solidFill>
          <a:ln/>
        </p:spPr>
        <p:txBody>
          <a:bodyPr/>
          <a:lstStyle/>
          <a:p>
            <a:endParaRPr lang="en-US" sz="2400"/>
          </a:p>
        </p:txBody>
      </p:sp>
      <p:sp>
        <p:nvSpPr>
          <p:cNvPr id="32" name="Text 29"/>
          <p:cNvSpPr/>
          <p:nvPr/>
        </p:nvSpPr>
        <p:spPr>
          <a:xfrm>
            <a:off x="3207554" y="4647160"/>
            <a:ext cx="490519" cy="193771"/>
          </a:xfrm>
          <a:prstGeom prst="rect">
            <a:avLst/>
          </a:prstGeom>
          <a:noFill/>
          <a:ln/>
        </p:spPr>
        <p:txBody>
          <a:bodyPr wrap="none" lIns="0" tIns="0" rIns="0" bIns="0" rtlCol="0" anchor="t">
            <a:spAutoFit/>
          </a:bodyPr>
          <a:lstStyle/>
          <a:p>
            <a:pPr algn="ctr">
              <a:lnSpc>
                <a:spcPts val="1600"/>
              </a:lnSpc>
            </a:pPr>
            <a:r>
              <a:rPr lang="en-US" sz="1180" b="1" dirty="0">
                <a:solidFill>
                  <a:srgbClr val="1A1A2E"/>
                </a:solidFill>
              </a:rPr>
              <a:t>Dataset</a:t>
            </a:r>
            <a:endParaRPr lang="en-US" sz="1180" dirty="0"/>
          </a:p>
        </p:txBody>
      </p:sp>
      <p:sp>
        <p:nvSpPr>
          <p:cNvPr id="33" name="Text 30"/>
          <p:cNvSpPr/>
          <p:nvPr/>
        </p:nvSpPr>
        <p:spPr>
          <a:xfrm>
            <a:off x="1143000" y="4975771"/>
            <a:ext cx="331822"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id: int</a:t>
            </a:r>
            <a:endParaRPr lang="en-US" sz="899" dirty="0"/>
          </a:p>
        </p:txBody>
      </p:sp>
      <p:sp>
        <p:nvSpPr>
          <p:cNvPr id="34" name="Text 31"/>
          <p:cNvSpPr/>
          <p:nvPr/>
        </p:nvSpPr>
        <p:spPr>
          <a:xfrm>
            <a:off x="1143000" y="5168169"/>
            <a:ext cx="504946"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name: str</a:t>
            </a:r>
            <a:endParaRPr lang="en-US" sz="899" dirty="0"/>
          </a:p>
        </p:txBody>
      </p:sp>
      <p:sp>
        <p:nvSpPr>
          <p:cNvPr id="35" name="Text 32"/>
          <p:cNvSpPr/>
          <p:nvPr/>
        </p:nvSpPr>
        <p:spPr>
          <a:xfrm>
            <a:off x="1143000" y="5360566"/>
            <a:ext cx="418384"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size: int</a:t>
            </a:r>
            <a:endParaRPr lang="en-US" sz="899" dirty="0"/>
          </a:p>
        </p:txBody>
      </p:sp>
      <p:sp>
        <p:nvSpPr>
          <p:cNvPr id="36" name="Text 33"/>
          <p:cNvSpPr/>
          <p:nvPr/>
        </p:nvSpPr>
        <p:spPr>
          <a:xfrm>
            <a:off x="1143001" y="5552965"/>
            <a:ext cx="471283"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rows: int</a:t>
            </a:r>
            <a:endParaRPr lang="en-US" sz="899" dirty="0"/>
          </a:p>
        </p:txBody>
      </p:sp>
      <p:sp>
        <p:nvSpPr>
          <p:cNvPr id="37" name="Text 34"/>
          <p:cNvSpPr/>
          <p:nvPr/>
        </p:nvSpPr>
        <p:spPr>
          <a:xfrm>
            <a:off x="1143001" y="5745362"/>
            <a:ext cx="553037"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source: str</a:t>
            </a:r>
            <a:endParaRPr lang="en-US" sz="899" dirty="0"/>
          </a:p>
        </p:txBody>
      </p:sp>
      <p:sp>
        <p:nvSpPr>
          <p:cNvPr id="38" name="Text 35"/>
          <p:cNvSpPr/>
          <p:nvPr/>
        </p:nvSpPr>
        <p:spPr>
          <a:xfrm>
            <a:off x="1143001" y="6042534"/>
            <a:ext cx="1824217"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__init__(id, name, size, rows, source)</a:t>
            </a:r>
            <a:endParaRPr lang="en-US" sz="899" dirty="0"/>
          </a:p>
        </p:txBody>
      </p:sp>
      <p:sp>
        <p:nvSpPr>
          <p:cNvPr id="39" name="Text 36"/>
          <p:cNvSpPr/>
          <p:nvPr/>
        </p:nvSpPr>
        <p:spPr>
          <a:xfrm>
            <a:off x="1143000" y="6234931"/>
            <a:ext cx="1285608"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calculate_size_mb(): float</a:t>
            </a:r>
            <a:endParaRPr lang="en-US" sz="899" dirty="0"/>
          </a:p>
        </p:txBody>
      </p:sp>
      <p:sp>
        <p:nvSpPr>
          <p:cNvPr id="40" name="Text 37"/>
          <p:cNvSpPr/>
          <p:nvPr/>
        </p:nvSpPr>
        <p:spPr>
          <a:xfrm>
            <a:off x="1143001" y="6427329"/>
            <a:ext cx="854401"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get_source(): str</a:t>
            </a:r>
            <a:endParaRPr lang="en-US" sz="899" dirty="0"/>
          </a:p>
        </p:txBody>
      </p:sp>
      <p:sp>
        <p:nvSpPr>
          <p:cNvPr id="41" name="Text 38"/>
          <p:cNvSpPr/>
          <p:nvPr/>
        </p:nvSpPr>
        <p:spPr>
          <a:xfrm>
            <a:off x="1143001" y="6619727"/>
            <a:ext cx="687689"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__str__(): str</a:t>
            </a:r>
            <a:endParaRPr lang="en-US" sz="899" dirty="0"/>
          </a:p>
        </p:txBody>
      </p:sp>
      <p:sp>
        <p:nvSpPr>
          <p:cNvPr id="42" name="Shape 39"/>
          <p:cNvSpPr/>
          <p:nvPr/>
        </p:nvSpPr>
        <p:spPr>
          <a:xfrm>
            <a:off x="6238876" y="4532859"/>
            <a:ext cx="5000625" cy="2307840"/>
          </a:xfrm>
          <a:prstGeom prst="rect">
            <a:avLst/>
          </a:prstGeom>
          <a:solidFill>
            <a:srgbClr val="FFFFFF"/>
          </a:solidFill>
          <a:ln w="9144">
            <a:solidFill>
              <a:srgbClr val="1A1A2E"/>
            </a:solidFill>
            <a:prstDash val="solid"/>
          </a:ln>
        </p:spPr>
        <p:txBody>
          <a:bodyPr/>
          <a:lstStyle/>
          <a:p>
            <a:endParaRPr lang="en-US" sz="2400"/>
          </a:p>
        </p:txBody>
      </p:sp>
      <p:sp>
        <p:nvSpPr>
          <p:cNvPr id="43" name="Shape 40"/>
          <p:cNvSpPr/>
          <p:nvPr/>
        </p:nvSpPr>
        <p:spPr>
          <a:xfrm>
            <a:off x="6238876" y="4532859"/>
            <a:ext cx="5000625" cy="357188"/>
          </a:xfrm>
          <a:prstGeom prst="rect">
            <a:avLst/>
          </a:prstGeom>
          <a:solidFill>
            <a:srgbClr val="E8EEF5"/>
          </a:solidFill>
          <a:ln/>
        </p:spPr>
        <p:txBody>
          <a:bodyPr/>
          <a:lstStyle/>
          <a:p>
            <a:endParaRPr lang="en-US" sz="2400"/>
          </a:p>
        </p:txBody>
      </p:sp>
      <p:sp>
        <p:nvSpPr>
          <p:cNvPr id="44" name="Shape 41"/>
          <p:cNvSpPr/>
          <p:nvPr/>
        </p:nvSpPr>
        <p:spPr>
          <a:xfrm>
            <a:off x="6238876" y="4880522"/>
            <a:ext cx="5000625" cy="9525"/>
          </a:xfrm>
          <a:prstGeom prst="rect">
            <a:avLst/>
          </a:prstGeom>
          <a:solidFill>
            <a:srgbClr val="1A1A2E"/>
          </a:solidFill>
          <a:ln/>
        </p:spPr>
        <p:txBody>
          <a:bodyPr/>
          <a:lstStyle/>
          <a:p>
            <a:endParaRPr lang="en-US" sz="2400"/>
          </a:p>
        </p:txBody>
      </p:sp>
      <p:sp>
        <p:nvSpPr>
          <p:cNvPr id="45" name="Text 42"/>
          <p:cNvSpPr/>
          <p:nvPr/>
        </p:nvSpPr>
        <p:spPr>
          <a:xfrm>
            <a:off x="8493127" y="4647160"/>
            <a:ext cx="492121" cy="193771"/>
          </a:xfrm>
          <a:prstGeom prst="rect">
            <a:avLst/>
          </a:prstGeom>
          <a:noFill/>
          <a:ln/>
        </p:spPr>
        <p:txBody>
          <a:bodyPr wrap="none" lIns="0" tIns="0" rIns="0" bIns="0" rtlCol="0" anchor="t">
            <a:spAutoFit/>
          </a:bodyPr>
          <a:lstStyle/>
          <a:p>
            <a:pPr algn="ctr">
              <a:lnSpc>
                <a:spcPts val="1600"/>
              </a:lnSpc>
            </a:pPr>
            <a:r>
              <a:rPr lang="en-US" sz="1180" b="1" dirty="0">
                <a:solidFill>
                  <a:srgbClr val="1A1A2E"/>
                </a:solidFill>
              </a:rPr>
              <a:t>ITTicket</a:t>
            </a:r>
            <a:endParaRPr lang="en-US" sz="1180" dirty="0"/>
          </a:p>
        </p:txBody>
      </p:sp>
      <p:sp>
        <p:nvSpPr>
          <p:cNvPr id="46" name="Text 43"/>
          <p:cNvSpPr/>
          <p:nvPr/>
        </p:nvSpPr>
        <p:spPr>
          <a:xfrm>
            <a:off x="6429375" y="4975771"/>
            <a:ext cx="331822"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id: int</a:t>
            </a:r>
            <a:endParaRPr lang="en-US" sz="899" dirty="0"/>
          </a:p>
        </p:txBody>
      </p:sp>
      <p:sp>
        <p:nvSpPr>
          <p:cNvPr id="47" name="Text 44"/>
          <p:cNvSpPr/>
          <p:nvPr/>
        </p:nvSpPr>
        <p:spPr>
          <a:xfrm>
            <a:off x="6429375" y="5168169"/>
            <a:ext cx="429605"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title: str</a:t>
            </a:r>
            <a:endParaRPr lang="en-US" sz="899" dirty="0"/>
          </a:p>
        </p:txBody>
      </p:sp>
      <p:sp>
        <p:nvSpPr>
          <p:cNvPr id="48" name="Text 45"/>
          <p:cNvSpPr/>
          <p:nvPr/>
        </p:nvSpPr>
        <p:spPr>
          <a:xfrm>
            <a:off x="6429375" y="5360566"/>
            <a:ext cx="588303"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priority: str</a:t>
            </a:r>
            <a:endParaRPr lang="en-US" sz="899" dirty="0"/>
          </a:p>
        </p:txBody>
      </p:sp>
      <p:sp>
        <p:nvSpPr>
          <p:cNvPr id="49" name="Text 46"/>
          <p:cNvSpPr/>
          <p:nvPr/>
        </p:nvSpPr>
        <p:spPr>
          <a:xfrm>
            <a:off x="6429375" y="5552965"/>
            <a:ext cx="522579"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status: str</a:t>
            </a:r>
            <a:endParaRPr lang="en-US" sz="899" dirty="0"/>
          </a:p>
        </p:txBody>
      </p:sp>
      <p:sp>
        <p:nvSpPr>
          <p:cNvPr id="50" name="Text 47"/>
          <p:cNvSpPr/>
          <p:nvPr/>
        </p:nvSpPr>
        <p:spPr>
          <a:xfrm>
            <a:off x="6429375" y="5745362"/>
            <a:ext cx="803105"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assigned_to: str</a:t>
            </a:r>
            <a:endParaRPr lang="en-US" sz="899" dirty="0"/>
          </a:p>
        </p:txBody>
      </p:sp>
      <p:sp>
        <p:nvSpPr>
          <p:cNvPr id="51" name="Text 48"/>
          <p:cNvSpPr/>
          <p:nvPr/>
        </p:nvSpPr>
        <p:spPr>
          <a:xfrm>
            <a:off x="6429375" y="6042534"/>
            <a:ext cx="2069477"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__init__(id, title, priority, status, assigned)</a:t>
            </a:r>
            <a:endParaRPr lang="en-US" sz="899" dirty="0"/>
          </a:p>
        </p:txBody>
      </p:sp>
      <p:sp>
        <p:nvSpPr>
          <p:cNvPr id="52" name="Text 49"/>
          <p:cNvSpPr/>
          <p:nvPr/>
        </p:nvSpPr>
        <p:spPr>
          <a:xfrm>
            <a:off x="6429375" y="6234931"/>
            <a:ext cx="1062791"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assign_to(staff): void</a:t>
            </a:r>
            <a:endParaRPr lang="en-US" sz="899" dirty="0"/>
          </a:p>
        </p:txBody>
      </p:sp>
      <p:sp>
        <p:nvSpPr>
          <p:cNvPr id="53" name="Text 50"/>
          <p:cNvSpPr/>
          <p:nvPr/>
        </p:nvSpPr>
        <p:spPr>
          <a:xfrm>
            <a:off x="6429376" y="6427329"/>
            <a:ext cx="966611"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close_ticket(): void</a:t>
            </a:r>
            <a:endParaRPr lang="en-US" sz="899" dirty="0"/>
          </a:p>
        </p:txBody>
      </p:sp>
      <p:sp>
        <p:nvSpPr>
          <p:cNvPr id="54" name="Text 51"/>
          <p:cNvSpPr/>
          <p:nvPr/>
        </p:nvSpPr>
        <p:spPr>
          <a:xfrm>
            <a:off x="6429375" y="6619727"/>
            <a:ext cx="687689" cy="155427"/>
          </a:xfrm>
          <a:prstGeom prst="rect">
            <a:avLst/>
          </a:prstGeom>
          <a:noFill/>
          <a:ln/>
        </p:spPr>
        <p:txBody>
          <a:bodyPr wrap="none" lIns="0" tIns="0" rIns="0" bIns="0" rtlCol="0" anchor="t">
            <a:spAutoFit/>
          </a:bodyPr>
          <a:lstStyle/>
          <a:p>
            <a:pPr>
              <a:lnSpc>
                <a:spcPts val="1333"/>
              </a:lnSpc>
            </a:pPr>
            <a:r>
              <a:rPr lang="en-US" sz="899" dirty="0">
                <a:solidFill>
                  <a:srgbClr val="0066CC"/>
                </a:solidFill>
              </a:rPr>
              <a:t>+</a:t>
            </a:r>
            <a:r>
              <a:rPr lang="en-US" sz="899" dirty="0">
                <a:solidFill>
                  <a:srgbClr val="333333"/>
                </a:solidFill>
              </a:rPr>
              <a:t> __str__(): str</a:t>
            </a:r>
            <a:endParaRPr lang="en-US" sz="899"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952501" y="762000"/>
            <a:ext cx="1296573" cy="146258"/>
          </a:xfrm>
          <a:prstGeom prst="rect">
            <a:avLst/>
          </a:prstGeom>
          <a:noFill/>
          <a:ln/>
        </p:spPr>
        <p:txBody>
          <a:bodyPr wrap="none" lIns="0" tIns="0" rIns="0" bIns="0" rtlCol="0" anchor="t">
            <a:spAutoFit/>
          </a:bodyPr>
          <a:lstStyle/>
          <a:p>
            <a:pPr>
              <a:lnSpc>
                <a:spcPts val="1200"/>
              </a:lnSpc>
            </a:pPr>
            <a:r>
              <a:rPr lang="en-US" sz="911" b="1" kern="0" spc="1" dirty="0">
                <a:solidFill>
                  <a:srgbClr val="0066CC"/>
                </a:solidFill>
              </a:rPr>
              <a:t>Final Project Structure</a:t>
            </a:r>
            <a:endParaRPr lang="en-US" sz="911" dirty="0"/>
          </a:p>
        </p:txBody>
      </p:sp>
      <p:sp>
        <p:nvSpPr>
          <p:cNvPr id="4" name="Text 1"/>
          <p:cNvSpPr/>
          <p:nvPr/>
        </p:nvSpPr>
        <p:spPr>
          <a:xfrm>
            <a:off x="952501" y="1057275"/>
            <a:ext cx="3933321" cy="370486"/>
          </a:xfrm>
          <a:prstGeom prst="rect">
            <a:avLst/>
          </a:prstGeom>
          <a:noFill/>
          <a:ln/>
        </p:spPr>
        <p:txBody>
          <a:bodyPr wrap="none" lIns="0" tIns="0" rIns="0" bIns="0" rtlCol="0" anchor="t">
            <a:spAutoFit/>
          </a:bodyPr>
          <a:lstStyle/>
          <a:p>
            <a:pPr>
              <a:lnSpc>
                <a:spcPts val="3067"/>
              </a:lnSpc>
            </a:pPr>
            <a:r>
              <a:rPr lang="en-US" sz="2136" b="1" dirty="0">
                <a:solidFill>
                  <a:srgbClr val="1A1A2E"/>
                </a:solidFill>
              </a:rPr>
              <a:t>Project Structure After Refactoring</a:t>
            </a:r>
            <a:endParaRPr lang="en-US" sz="2136" dirty="0"/>
          </a:p>
        </p:txBody>
      </p:sp>
      <p:sp>
        <p:nvSpPr>
          <p:cNvPr id="5" name="Shape 2"/>
          <p:cNvSpPr/>
          <p:nvPr/>
        </p:nvSpPr>
        <p:spPr>
          <a:xfrm>
            <a:off x="952500" y="1796394"/>
            <a:ext cx="4953000" cy="5013759"/>
          </a:xfrm>
          <a:prstGeom prst="rect">
            <a:avLst/>
          </a:prstGeom>
          <a:solidFill>
            <a:srgbClr val="FFFFFF"/>
          </a:solidFill>
          <a:ln/>
        </p:spPr>
        <p:txBody>
          <a:bodyPr/>
          <a:lstStyle/>
          <a:p>
            <a:endParaRPr lang="en-US" sz="2400"/>
          </a:p>
        </p:txBody>
      </p:sp>
      <p:sp>
        <p:nvSpPr>
          <p:cNvPr id="6" name="Text 3"/>
          <p:cNvSpPr/>
          <p:nvPr/>
        </p:nvSpPr>
        <p:spPr>
          <a:xfrm>
            <a:off x="1181101" y="1872593"/>
            <a:ext cx="1034899" cy="146258"/>
          </a:xfrm>
          <a:prstGeom prst="rect">
            <a:avLst/>
          </a:prstGeom>
          <a:noFill/>
          <a:ln/>
        </p:spPr>
        <p:txBody>
          <a:bodyPr wrap="none" lIns="0" tIns="0" rIns="0" bIns="0" rtlCol="0" anchor="t">
            <a:spAutoFit/>
          </a:bodyPr>
          <a:lstStyle/>
          <a:p>
            <a:pPr>
              <a:lnSpc>
                <a:spcPts val="1200"/>
              </a:lnSpc>
            </a:pPr>
            <a:r>
              <a:rPr lang="en-US" sz="911" b="1" kern="0" spc="1" dirty="0">
                <a:solidFill>
                  <a:srgbClr val="0066CC"/>
                </a:solidFill>
              </a:rPr>
              <a:t>New Folder Structure</a:t>
            </a:r>
            <a:endParaRPr lang="en-US" sz="911" dirty="0"/>
          </a:p>
        </p:txBody>
      </p:sp>
      <p:sp>
        <p:nvSpPr>
          <p:cNvPr id="7" name="Text 4"/>
          <p:cNvSpPr/>
          <p:nvPr/>
        </p:nvSpPr>
        <p:spPr>
          <a:xfrm>
            <a:off x="1181100" y="2129769"/>
            <a:ext cx="1261564" cy="155427"/>
          </a:xfrm>
          <a:prstGeom prst="rect">
            <a:avLst/>
          </a:prstGeom>
          <a:noFill/>
          <a:ln/>
        </p:spPr>
        <p:txBody>
          <a:bodyPr wrap="none" lIns="0" tIns="0" rIns="0" bIns="0" rtlCol="0" anchor="t">
            <a:spAutoFit/>
          </a:bodyPr>
          <a:lstStyle/>
          <a:p>
            <a:pPr>
              <a:lnSpc>
                <a:spcPts val="1333"/>
              </a:lnSpc>
            </a:pPr>
            <a:r>
              <a:rPr lang="en-US" sz="845" b="1" dirty="0">
                <a:solidFill>
                  <a:srgbClr val="0066CC"/>
                </a:solidFill>
              </a:rPr>
              <a:t>📁 multi_domain_platform/</a:t>
            </a:r>
            <a:endParaRPr lang="en-US" sz="845" dirty="0"/>
          </a:p>
        </p:txBody>
      </p:sp>
      <p:sp>
        <p:nvSpPr>
          <p:cNvPr id="8" name="Text 5"/>
          <p:cNvSpPr/>
          <p:nvPr/>
        </p:nvSpPr>
        <p:spPr>
          <a:xfrm>
            <a:off x="1371601" y="2303115"/>
            <a:ext cx="509755" cy="155427"/>
          </a:xfrm>
          <a:prstGeom prst="rect">
            <a:avLst/>
          </a:prstGeom>
          <a:noFill/>
          <a:ln/>
        </p:spPr>
        <p:txBody>
          <a:bodyPr wrap="none" lIns="0" tIns="0" rIns="0" bIns="0" rtlCol="0" anchor="t">
            <a:spAutoFit/>
          </a:bodyPr>
          <a:lstStyle/>
          <a:p>
            <a:pPr>
              <a:lnSpc>
                <a:spcPts val="1333"/>
              </a:lnSpc>
            </a:pPr>
            <a:r>
              <a:rPr lang="en-US" sz="845" b="1" dirty="0">
                <a:solidFill>
                  <a:srgbClr val="0066CC"/>
                </a:solidFill>
              </a:rPr>
              <a:t>📁 models/</a:t>
            </a:r>
            <a:endParaRPr lang="en-US" sz="845" dirty="0"/>
          </a:p>
        </p:txBody>
      </p:sp>
      <p:sp>
        <p:nvSpPr>
          <p:cNvPr id="9" name="Text 6"/>
          <p:cNvSpPr/>
          <p:nvPr/>
        </p:nvSpPr>
        <p:spPr>
          <a:xfrm>
            <a:off x="1562101" y="2476463"/>
            <a:ext cx="668453"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__init__.py</a:t>
            </a:r>
            <a:endParaRPr lang="en-US" sz="899" dirty="0"/>
          </a:p>
        </p:txBody>
      </p:sp>
      <p:sp>
        <p:nvSpPr>
          <p:cNvPr id="10" name="Text 7"/>
          <p:cNvSpPr/>
          <p:nvPr/>
        </p:nvSpPr>
        <p:spPr>
          <a:xfrm>
            <a:off x="1562101" y="2649811"/>
            <a:ext cx="487313"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user.py</a:t>
            </a:r>
            <a:endParaRPr lang="en-US" sz="899" dirty="0"/>
          </a:p>
        </p:txBody>
      </p:sp>
      <p:sp>
        <p:nvSpPr>
          <p:cNvPr id="11" name="Text 8"/>
          <p:cNvSpPr/>
          <p:nvPr/>
        </p:nvSpPr>
        <p:spPr>
          <a:xfrm>
            <a:off x="1562100" y="2823158"/>
            <a:ext cx="1090042"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security_incident.py</a:t>
            </a:r>
            <a:endParaRPr lang="en-US" sz="899" dirty="0"/>
          </a:p>
        </p:txBody>
      </p:sp>
      <p:sp>
        <p:nvSpPr>
          <p:cNvPr id="12" name="Text 9"/>
          <p:cNvSpPr/>
          <p:nvPr/>
        </p:nvSpPr>
        <p:spPr>
          <a:xfrm>
            <a:off x="1562101" y="2996506"/>
            <a:ext cx="633187"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dataset.py</a:t>
            </a:r>
            <a:endParaRPr lang="en-US" sz="899" dirty="0"/>
          </a:p>
        </p:txBody>
      </p:sp>
      <p:sp>
        <p:nvSpPr>
          <p:cNvPr id="13" name="Text 10"/>
          <p:cNvSpPr/>
          <p:nvPr/>
        </p:nvSpPr>
        <p:spPr>
          <a:xfrm>
            <a:off x="1562101" y="3169854"/>
            <a:ext cx="670055"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it_ticket.py</a:t>
            </a:r>
            <a:endParaRPr lang="en-US" sz="899" dirty="0"/>
          </a:p>
        </p:txBody>
      </p:sp>
      <p:sp>
        <p:nvSpPr>
          <p:cNvPr id="14" name="Text 11"/>
          <p:cNvSpPr/>
          <p:nvPr/>
        </p:nvSpPr>
        <p:spPr>
          <a:xfrm>
            <a:off x="1371601" y="3343201"/>
            <a:ext cx="538609" cy="155427"/>
          </a:xfrm>
          <a:prstGeom prst="rect">
            <a:avLst/>
          </a:prstGeom>
          <a:noFill/>
          <a:ln/>
        </p:spPr>
        <p:txBody>
          <a:bodyPr wrap="none" lIns="0" tIns="0" rIns="0" bIns="0" rtlCol="0" anchor="t">
            <a:spAutoFit/>
          </a:bodyPr>
          <a:lstStyle/>
          <a:p>
            <a:pPr>
              <a:lnSpc>
                <a:spcPts val="1333"/>
              </a:lnSpc>
            </a:pPr>
            <a:r>
              <a:rPr lang="en-US" sz="845" b="1" dirty="0">
                <a:solidFill>
                  <a:srgbClr val="0066CC"/>
                </a:solidFill>
              </a:rPr>
              <a:t>📁 services/</a:t>
            </a:r>
            <a:endParaRPr lang="en-US" sz="845" dirty="0"/>
          </a:p>
        </p:txBody>
      </p:sp>
      <p:sp>
        <p:nvSpPr>
          <p:cNvPr id="15" name="Text 12"/>
          <p:cNvSpPr/>
          <p:nvPr/>
        </p:nvSpPr>
        <p:spPr>
          <a:xfrm>
            <a:off x="1562101" y="3516549"/>
            <a:ext cx="668453"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__init__.py</a:t>
            </a:r>
            <a:endParaRPr lang="en-US" sz="899" dirty="0"/>
          </a:p>
        </p:txBody>
      </p:sp>
      <p:sp>
        <p:nvSpPr>
          <p:cNvPr id="16" name="Text 13"/>
          <p:cNvSpPr/>
          <p:nvPr/>
        </p:nvSpPr>
        <p:spPr>
          <a:xfrm>
            <a:off x="1562100" y="3689897"/>
            <a:ext cx="1181414"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database_manager.py</a:t>
            </a:r>
            <a:endParaRPr lang="en-US" sz="899" dirty="0"/>
          </a:p>
        </p:txBody>
      </p:sp>
      <p:sp>
        <p:nvSpPr>
          <p:cNvPr id="17" name="Text 14"/>
          <p:cNvSpPr/>
          <p:nvPr/>
        </p:nvSpPr>
        <p:spPr>
          <a:xfrm>
            <a:off x="1562101" y="3863243"/>
            <a:ext cx="969817"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auth_manager.py</a:t>
            </a:r>
            <a:endParaRPr lang="en-US" sz="899" dirty="0"/>
          </a:p>
        </p:txBody>
      </p:sp>
      <p:sp>
        <p:nvSpPr>
          <p:cNvPr id="18" name="Text 15"/>
          <p:cNvSpPr/>
          <p:nvPr/>
        </p:nvSpPr>
        <p:spPr>
          <a:xfrm>
            <a:off x="1562101" y="4036591"/>
            <a:ext cx="831959"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ai_assistant.py</a:t>
            </a:r>
            <a:endParaRPr lang="en-US" sz="899" dirty="0"/>
          </a:p>
        </p:txBody>
      </p:sp>
      <p:sp>
        <p:nvSpPr>
          <p:cNvPr id="19" name="Text 16"/>
          <p:cNvSpPr/>
          <p:nvPr/>
        </p:nvSpPr>
        <p:spPr>
          <a:xfrm>
            <a:off x="1371601" y="4209939"/>
            <a:ext cx="589905" cy="155427"/>
          </a:xfrm>
          <a:prstGeom prst="rect">
            <a:avLst/>
          </a:prstGeom>
          <a:noFill/>
          <a:ln/>
        </p:spPr>
        <p:txBody>
          <a:bodyPr wrap="none" lIns="0" tIns="0" rIns="0" bIns="0" rtlCol="0" anchor="t">
            <a:spAutoFit/>
          </a:bodyPr>
          <a:lstStyle/>
          <a:p>
            <a:pPr>
              <a:lnSpc>
                <a:spcPts val="1333"/>
              </a:lnSpc>
            </a:pPr>
            <a:r>
              <a:rPr lang="en-US" sz="845" b="1" dirty="0">
                <a:solidFill>
                  <a:srgbClr val="0066CC"/>
                </a:solidFill>
              </a:rPr>
              <a:t>📁 database/</a:t>
            </a:r>
            <a:endParaRPr lang="en-US" sz="845" dirty="0"/>
          </a:p>
        </p:txBody>
      </p:sp>
      <p:sp>
        <p:nvSpPr>
          <p:cNvPr id="20" name="Text 17"/>
          <p:cNvSpPr/>
          <p:nvPr/>
        </p:nvSpPr>
        <p:spPr>
          <a:xfrm>
            <a:off x="1562100" y="4383286"/>
            <a:ext cx="405560"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db.py</a:t>
            </a:r>
            <a:endParaRPr lang="en-US" sz="899" dirty="0"/>
          </a:p>
        </p:txBody>
      </p:sp>
      <p:sp>
        <p:nvSpPr>
          <p:cNvPr id="21" name="Text 18"/>
          <p:cNvSpPr/>
          <p:nvPr/>
        </p:nvSpPr>
        <p:spPr>
          <a:xfrm>
            <a:off x="1562101" y="4556634"/>
            <a:ext cx="700513"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platform.db</a:t>
            </a:r>
            <a:endParaRPr lang="en-US" sz="899" dirty="0"/>
          </a:p>
        </p:txBody>
      </p:sp>
      <p:sp>
        <p:nvSpPr>
          <p:cNvPr id="22" name="Text 19"/>
          <p:cNvSpPr/>
          <p:nvPr/>
        </p:nvSpPr>
        <p:spPr>
          <a:xfrm>
            <a:off x="1371600" y="4729982"/>
            <a:ext cx="440826" cy="155427"/>
          </a:xfrm>
          <a:prstGeom prst="rect">
            <a:avLst/>
          </a:prstGeom>
          <a:noFill/>
          <a:ln/>
        </p:spPr>
        <p:txBody>
          <a:bodyPr wrap="none" lIns="0" tIns="0" rIns="0" bIns="0" rtlCol="0" anchor="t">
            <a:spAutoFit/>
          </a:bodyPr>
          <a:lstStyle/>
          <a:p>
            <a:pPr>
              <a:lnSpc>
                <a:spcPts val="1333"/>
              </a:lnSpc>
            </a:pPr>
            <a:r>
              <a:rPr lang="en-US" sz="845" b="1" dirty="0">
                <a:solidFill>
                  <a:srgbClr val="0066CC"/>
                </a:solidFill>
              </a:rPr>
              <a:t>📁 pages/</a:t>
            </a:r>
            <a:endParaRPr lang="en-US" sz="845" dirty="0"/>
          </a:p>
        </p:txBody>
      </p:sp>
      <p:sp>
        <p:nvSpPr>
          <p:cNvPr id="23" name="Text 20"/>
          <p:cNvSpPr/>
          <p:nvPr/>
        </p:nvSpPr>
        <p:spPr>
          <a:xfrm>
            <a:off x="1562100" y="4903329"/>
            <a:ext cx="823944"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1_🔐_Login.py</a:t>
            </a:r>
            <a:endParaRPr lang="en-US" sz="899" dirty="0"/>
          </a:p>
        </p:txBody>
      </p:sp>
      <p:sp>
        <p:nvSpPr>
          <p:cNvPr id="24" name="Text 21"/>
          <p:cNvSpPr/>
          <p:nvPr/>
        </p:nvSpPr>
        <p:spPr>
          <a:xfrm>
            <a:off x="1562100" y="5076677"/>
            <a:ext cx="1213474"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2_🛡️_Cybersecurity.py</a:t>
            </a:r>
            <a:endParaRPr lang="en-US" sz="899" dirty="0"/>
          </a:p>
        </p:txBody>
      </p:sp>
      <p:sp>
        <p:nvSpPr>
          <p:cNvPr id="25" name="Text 22"/>
          <p:cNvSpPr/>
          <p:nvPr/>
        </p:nvSpPr>
        <p:spPr>
          <a:xfrm>
            <a:off x="1562100" y="5250025"/>
            <a:ext cx="1200650"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3_📊_Data_Science.py</a:t>
            </a:r>
            <a:endParaRPr lang="en-US" sz="899" dirty="0"/>
          </a:p>
        </p:txBody>
      </p:sp>
      <p:sp>
        <p:nvSpPr>
          <p:cNvPr id="26" name="Text 23"/>
          <p:cNvSpPr/>
          <p:nvPr/>
        </p:nvSpPr>
        <p:spPr>
          <a:xfrm>
            <a:off x="1562100" y="5423371"/>
            <a:ext cx="1235916"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4_💻_IT_Operations.py</a:t>
            </a:r>
            <a:endParaRPr lang="en-US" sz="899" dirty="0"/>
          </a:p>
        </p:txBody>
      </p:sp>
      <p:sp>
        <p:nvSpPr>
          <p:cNvPr id="27" name="Text 24"/>
          <p:cNvSpPr/>
          <p:nvPr/>
        </p:nvSpPr>
        <p:spPr>
          <a:xfrm>
            <a:off x="1562100" y="5596719"/>
            <a:ext cx="1147750"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5_🤖_AI_Assistant.py</a:t>
            </a:r>
            <a:endParaRPr lang="en-US" sz="899" dirty="0"/>
          </a:p>
        </p:txBody>
      </p:sp>
      <p:sp>
        <p:nvSpPr>
          <p:cNvPr id="28" name="Text 25"/>
          <p:cNvSpPr/>
          <p:nvPr/>
        </p:nvSpPr>
        <p:spPr>
          <a:xfrm>
            <a:off x="1371601" y="5770067"/>
            <a:ext cx="615553" cy="155427"/>
          </a:xfrm>
          <a:prstGeom prst="rect">
            <a:avLst/>
          </a:prstGeom>
          <a:noFill/>
          <a:ln/>
        </p:spPr>
        <p:txBody>
          <a:bodyPr wrap="none" lIns="0" tIns="0" rIns="0" bIns="0" rtlCol="0" anchor="t">
            <a:spAutoFit/>
          </a:bodyPr>
          <a:lstStyle/>
          <a:p>
            <a:pPr>
              <a:lnSpc>
                <a:spcPts val="1333"/>
              </a:lnSpc>
            </a:pPr>
            <a:r>
              <a:rPr lang="en-US" sz="845" b="1" dirty="0">
                <a:solidFill>
                  <a:srgbClr val="0066CC"/>
                </a:solidFill>
              </a:rPr>
              <a:t>📁 .streamlit/</a:t>
            </a:r>
            <a:endParaRPr lang="en-US" sz="845" dirty="0"/>
          </a:p>
        </p:txBody>
      </p:sp>
      <p:sp>
        <p:nvSpPr>
          <p:cNvPr id="29" name="Text 26"/>
          <p:cNvSpPr/>
          <p:nvPr/>
        </p:nvSpPr>
        <p:spPr>
          <a:xfrm>
            <a:off x="1562101" y="5943414"/>
            <a:ext cx="719749"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secrets.toml</a:t>
            </a:r>
            <a:endParaRPr lang="en-US" sz="899" dirty="0"/>
          </a:p>
        </p:txBody>
      </p:sp>
      <p:sp>
        <p:nvSpPr>
          <p:cNvPr id="30" name="Text 27"/>
          <p:cNvSpPr/>
          <p:nvPr/>
        </p:nvSpPr>
        <p:spPr>
          <a:xfrm>
            <a:off x="1371601" y="6116762"/>
            <a:ext cx="565861"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Home.py</a:t>
            </a:r>
            <a:endParaRPr lang="en-US" sz="899" dirty="0"/>
          </a:p>
        </p:txBody>
      </p:sp>
      <p:sp>
        <p:nvSpPr>
          <p:cNvPr id="31" name="Text 28"/>
          <p:cNvSpPr/>
          <p:nvPr/>
        </p:nvSpPr>
        <p:spPr>
          <a:xfrm>
            <a:off x="1371601" y="6290110"/>
            <a:ext cx="934551"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requirements.txt</a:t>
            </a:r>
            <a:endParaRPr lang="en-US" sz="899" dirty="0"/>
          </a:p>
        </p:txBody>
      </p:sp>
      <p:sp>
        <p:nvSpPr>
          <p:cNvPr id="32" name="Text 29"/>
          <p:cNvSpPr/>
          <p:nvPr/>
        </p:nvSpPr>
        <p:spPr>
          <a:xfrm>
            <a:off x="1371601" y="6463457"/>
            <a:ext cx="732573"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README.md</a:t>
            </a:r>
            <a:endParaRPr lang="en-US" sz="899" dirty="0"/>
          </a:p>
        </p:txBody>
      </p:sp>
      <p:sp>
        <p:nvSpPr>
          <p:cNvPr id="33" name="Text 30"/>
          <p:cNvSpPr/>
          <p:nvPr/>
        </p:nvSpPr>
        <p:spPr>
          <a:xfrm>
            <a:off x="1371601" y="6636805"/>
            <a:ext cx="591509" cy="157415"/>
          </a:xfrm>
          <a:prstGeom prst="rect">
            <a:avLst/>
          </a:prstGeom>
          <a:noFill/>
          <a:ln/>
        </p:spPr>
        <p:txBody>
          <a:bodyPr wrap="none" lIns="0" tIns="0" rIns="0" bIns="0" rtlCol="0" anchor="t">
            <a:spAutoFit/>
          </a:bodyPr>
          <a:lstStyle/>
          <a:p>
            <a:pPr>
              <a:lnSpc>
                <a:spcPts val="1333"/>
              </a:lnSpc>
            </a:pPr>
            <a:r>
              <a:rPr lang="en-US" sz="899" dirty="0">
                <a:solidFill>
                  <a:srgbClr val="333333"/>
                </a:solidFill>
              </a:rPr>
              <a:t>📄 .gitignore</a:t>
            </a:r>
            <a:endParaRPr lang="en-US" sz="899" dirty="0"/>
          </a:p>
        </p:txBody>
      </p:sp>
      <p:sp>
        <p:nvSpPr>
          <p:cNvPr id="34" name="Shape 31"/>
          <p:cNvSpPr/>
          <p:nvPr/>
        </p:nvSpPr>
        <p:spPr>
          <a:xfrm>
            <a:off x="6286500" y="1796393"/>
            <a:ext cx="4953000" cy="713408"/>
          </a:xfrm>
          <a:prstGeom prst="rect">
            <a:avLst/>
          </a:prstGeom>
          <a:solidFill>
            <a:srgbClr val="FFFFFF"/>
          </a:solidFill>
          <a:ln/>
        </p:spPr>
        <p:txBody>
          <a:bodyPr/>
          <a:lstStyle/>
          <a:p>
            <a:endParaRPr lang="en-US" sz="2400"/>
          </a:p>
        </p:txBody>
      </p:sp>
      <p:sp>
        <p:nvSpPr>
          <p:cNvPr id="35" name="Text 32"/>
          <p:cNvSpPr/>
          <p:nvPr/>
        </p:nvSpPr>
        <p:spPr>
          <a:xfrm>
            <a:off x="6477001" y="1891643"/>
            <a:ext cx="591509" cy="160300"/>
          </a:xfrm>
          <a:prstGeom prst="rect">
            <a:avLst/>
          </a:prstGeom>
          <a:noFill/>
          <a:ln/>
        </p:spPr>
        <p:txBody>
          <a:bodyPr wrap="none" lIns="0" tIns="0" rIns="0" bIns="0" rtlCol="0" anchor="t">
            <a:spAutoFit/>
          </a:bodyPr>
          <a:lstStyle/>
          <a:p>
            <a:pPr>
              <a:lnSpc>
                <a:spcPts val="1333"/>
              </a:lnSpc>
            </a:pPr>
            <a:r>
              <a:rPr lang="en-US" sz="979" b="1" dirty="0">
                <a:solidFill>
                  <a:srgbClr val="1A1A2E"/>
                </a:solidFill>
              </a:rPr>
              <a:t>📁 models/</a:t>
            </a:r>
            <a:endParaRPr lang="en-US" sz="979" dirty="0"/>
          </a:p>
        </p:txBody>
      </p:sp>
      <p:sp>
        <p:nvSpPr>
          <p:cNvPr id="36" name="Text 33"/>
          <p:cNvSpPr/>
          <p:nvPr/>
        </p:nvSpPr>
        <p:spPr>
          <a:xfrm>
            <a:off x="6477000" y="2163106"/>
            <a:ext cx="4572000" cy="322139"/>
          </a:xfrm>
          <a:prstGeom prst="rect">
            <a:avLst/>
          </a:prstGeom>
          <a:noFill/>
          <a:ln/>
        </p:spPr>
        <p:txBody>
          <a:bodyPr wrap="square" lIns="0" tIns="0" rIns="0" bIns="0" rtlCol="0" anchor="t">
            <a:spAutoFit/>
          </a:bodyPr>
          <a:lstStyle/>
          <a:p>
            <a:pPr>
              <a:lnSpc>
                <a:spcPts val="1333"/>
              </a:lnSpc>
            </a:pPr>
            <a:r>
              <a:rPr lang="en-US" sz="899" dirty="0">
                <a:solidFill>
                  <a:srgbClr val="333333"/>
                </a:solidFill>
              </a:rPr>
              <a:t>Contains all entity classes representing domain objects. Each file defines a class with attributes, constructor, and methods for data manipulation.</a:t>
            </a:r>
            <a:endParaRPr lang="en-US" sz="899" dirty="0"/>
          </a:p>
        </p:txBody>
      </p:sp>
      <p:sp>
        <p:nvSpPr>
          <p:cNvPr id="37" name="Shape 34"/>
          <p:cNvSpPr/>
          <p:nvPr/>
        </p:nvSpPr>
        <p:spPr>
          <a:xfrm>
            <a:off x="6286500" y="2624100"/>
            <a:ext cx="4953000" cy="886755"/>
          </a:xfrm>
          <a:prstGeom prst="rect">
            <a:avLst/>
          </a:prstGeom>
          <a:solidFill>
            <a:srgbClr val="FFFFFF"/>
          </a:solidFill>
          <a:ln/>
        </p:spPr>
        <p:txBody>
          <a:bodyPr/>
          <a:lstStyle/>
          <a:p>
            <a:endParaRPr lang="en-US" sz="2400"/>
          </a:p>
        </p:txBody>
      </p:sp>
      <p:sp>
        <p:nvSpPr>
          <p:cNvPr id="38" name="Text 35"/>
          <p:cNvSpPr/>
          <p:nvPr/>
        </p:nvSpPr>
        <p:spPr>
          <a:xfrm>
            <a:off x="6477001" y="2719351"/>
            <a:ext cx="623569" cy="160300"/>
          </a:xfrm>
          <a:prstGeom prst="rect">
            <a:avLst/>
          </a:prstGeom>
          <a:noFill/>
          <a:ln/>
        </p:spPr>
        <p:txBody>
          <a:bodyPr wrap="none" lIns="0" tIns="0" rIns="0" bIns="0" rtlCol="0" anchor="t">
            <a:spAutoFit/>
          </a:bodyPr>
          <a:lstStyle/>
          <a:p>
            <a:pPr>
              <a:lnSpc>
                <a:spcPts val="1333"/>
              </a:lnSpc>
            </a:pPr>
            <a:r>
              <a:rPr lang="en-US" sz="979" b="1" dirty="0">
                <a:solidFill>
                  <a:srgbClr val="1A1A2E"/>
                </a:solidFill>
              </a:rPr>
              <a:t>📁 services/</a:t>
            </a:r>
            <a:endParaRPr lang="en-US" sz="979" dirty="0"/>
          </a:p>
        </p:txBody>
      </p:sp>
      <p:sp>
        <p:nvSpPr>
          <p:cNvPr id="39" name="Text 36"/>
          <p:cNvSpPr/>
          <p:nvPr/>
        </p:nvSpPr>
        <p:spPr>
          <a:xfrm>
            <a:off x="6477000" y="2990813"/>
            <a:ext cx="4572000" cy="322139"/>
          </a:xfrm>
          <a:prstGeom prst="rect">
            <a:avLst/>
          </a:prstGeom>
          <a:noFill/>
          <a:ln/>
        </p:spPr>
        <p:txBody>
          <a:bodyPr wrap="square" lIns="0" tIns="0" rIns="0" bIns="0" rtlCol="0" anchor="t">
            <a:spAutoFit/>
          </a:bodyPr>
          <a:lstStyle/>
          <a:p>
            <a:pPr>
              <a:lnSpc>
                <a:spcPts val="1333"/>
              </a:lnSpc>
            </a:pPr>
            <a:r>
              <a:rPr lang="en-US" sz="899" dirty="0">
                <a:solidFill>
                  <a:srgbClr val="333333"/>
                </a:solidFill>
              </a:rPr>
              <a:t>Houses service classes that provide business logic and coordinate operations. These classes use composition to work with DatabaseManager and entity objects.</a:t>
            </a:r>
            <a:endParaRPr lang="en-US" sz="899" dirty="0"/>
          </a:p>
        </p:txBody>
      </p:sp>
      <p:sp>
        <p:nvSpPr>
          <p:cNvPr id="40" name="Shape 37"/>
          <p:cNvSpPr/>
          <p:nvPr/>
        </p:nvSpPr>
        <p:spPr>
          <a:xfrm>
            <a:off x="6286500" y="3625156"/>
            <a:ext cx="4953000" cy="713408"/>
          </a:xfrm>
          <a:prstGeom prst="rect">
            <a:avLst/>
          </a:prstGeom>
          <a:solidFill>
            <a:srgbClr val="FFFFFF"/>
          </a:solidFill>
          <a:ln/>
        </p:spPr>
        <p:txBody>
          <a:bodyPr/>
          <a:lstStyle/>
          <a:p>
            <a:endParaRPr lang="en-US" sz="2400"/>
          </a:p>
        </p:txBody>
      </p:sp>
      <p:sp>
        <p:nvSpPr>
          <p:cNvPr id="41" name="Text 38"/>
          <p:cNvSpPr/>
          <p:nvPr/>
        </p:nvSpPr>
        <p:spPr>
          <a:xfrm>
            <a:off x="6477001" y="3720406"/>
            <a:ext cx="689291" cy="160300"/>
          </a:xfrm>
          <a:prstGeom prst="rect">
            <a:avLst/>
          </a:prstGeom>
          <a:noFill/>
          <a:ln/>
        </p:spPr>
        <p:txBody>
          <a:bodyPr wrap="none" lIns="0" tIns="0" rIns="0" bIns="0" rtlCol="0" anchor="t">
            <a:spAutoFit/>
          </a:bodyPr>
          <a:lstStyle/>
          <a:p>
            <a:pPr>
              <a:lnSpc>
                <a:spcPts val="1333"/>
              </a:lnSpc>
            </a:pPr>
            <a:r>
              <a:rPr lang="en-US" sz="979" b="1" dirty="0">
                <a:solidFill>
                  <a:srgbClr val="1A1A2E"/>
                </a:solidFill>
              </a:rPr>
              <a:t>📁 database/</a:t>
            </a:r>
            <a:endParaRPr lang="en-US" sz="979" dirty="0"/>
          </a:p>
        </p:txBody>
      </p:sp>
      <p:sp>
        <p:nvSpPr>
          <p:cNvPr id="42" name="Text 39"/>
          <p:cNvSpPr/>
          <p:nvPr/>
        </p:nvSpPr>
        <p:spPr>
          <a:xfrm>
            <a:off x="6477000" y="3991869"/>
            <a:ext cx="4572000" cy="322139"/>
          </a:xfrm>
          <a:prstGeom prst="rect">
            <a:avLst/>
          </a:prstGeom>
          <a:noFill/>
          <a:ln/>
        </p:spPr>
        <p:txBody>
          <a:bodyPr wrap="square" lIns="0" tIns="0" rIns="0" bIns="0" rtlCol="0" anchor="t">
            <a:spAutoFit/>
          </a:bodyPr>
          <a:lstStyle/>
          <a:p>
            <a:pPr>
              <a:lnSpc>
                <a:spcPts val="1333"/>
              </a:lnSpc>
            </a:pPr>
            <a:r>
              <a:rPr lang="en-US" sz="899" dirty="0">
                <a:solidFill>
                  <a:srgbClr val="333333"/>
                </a:solidFill>
              </a:rPr>
              <a:t>Contains database connection utilities and the SQLite database file. Keeps data persistence layer separate from business logic.</a:t>
            </a:r>
            <a:endParaRPr lang="en-US" sz="899" dirty="0"/>
          </a:p>
        </p:txBody>
      </p:sp>
      <p:sp>
        <p:nvSpPr>
          <p:cNvPr id="43" name="Shape 40"/>
          <p:cNvSpPr/>
          <p:nvPr/>
        </p:nvSpPr>
        <p:spPr>
          <a:xfrm>
            <a:off x="6286500" y="4452863"/>
            <a:ext cx="4953000" cy="713408"/>
          </a:xfrm>
          <a:prstGeom prst="rect">
            <a:avLst/>
          </a:prstGeom>
          <a:solidFill>
            <a:srgbClr val="FFFFFF"/>
          </a:solidFill>
          <a:ln/>
        </p:spPr>
        <p:txBody>
          <a:bodyPr/>
          <a:lstStyle/>
          <a:p>
            <a:endParaRPr lang="en-US" sz="2400"/>
          </a:p>
        </p:txBody>
      </p:sp>
      <p:sp>
        <p:nvSpPr>
          <p:cNvPr id="44" name="Text 41"/>
          <p:cNvSpPr/>
          <p:nvPr/>
        </p:nvSpPr>
        <p:spPr>
          <a:xfrm>
            <a:off x="6477001" y="4548114"/>
            <a:ext cx="512961" cy="160300"/>
          </a:xfrm>
          <a:prstGeom prst="rect">
            <a:avLst/>
          </a:prstGeom>
          <a:noFill/>
          <a:ln/>
        </p:spPr>
        <p:txBody>
          <a:bodyPr wrap="none" lIns="0" tIns="0" rIns="0" bIns="0" rtlCol="0" anchor="t">
            <a:spAutoFit/>
          </a:bodyPr>
          <a:lstStyle/>
          <a:p>
            <a:pPr>
              <a:lnSpc>
                <a:spcPts val="1333"/>
              </a:lnSpc>
            </a:pPr>
            <a:r>
              <a:rPr lang="en-US" sz="979" b="1" dirty="0">
                <a:solidFill>
                  <a:srgbClr val="1A1A2E"/>
                </a:solidFill>
              </a:rPr>
              <a:t>📁 pages/</a:t>
            </a:r>
            <a:endParaRPr lang="en-US" sz="979" dirty="0"/>
          </a:p>
        </p:txBody>
      </p:sp>
      <p:sp>
        <p:nvSpPr>
          <p:cNvPr id="45" name="Text 42"/>
          <p:cNvSpPr/>
          <p:nvPr/>
        </p:nvSpPr>
        <p:spPr>
          <a:xfrm>
            <a:off x="6477000" y="4819577"/>
            <a:ext cx="4572000" cy="322139"/>
          </a:xfrm>
          <a:prstGeom prst="rect">
            <a:avLst/>
          </a:prstGeom>
          <a:noFill/>
          <a:ln/>
        </p:spPr>
        <p:txBody>
          <a:bodyPr wrap="square" lIns="0" tIns="0" rIns="0" bIns="0" rtlCol="0" anchor="t">
            <a:spAutoFit/>
          </a:bodyPr>
          <a:lstStyle/>
          <a:p>
            <a:pPr>
              <a:lnSpc>
                <a:spcPts val="1333"/>
              </a:lnSpc>
            </a:pPr>
            <a:r>
              <a:rPr lang="en-US" sz="899" dirty="0">
                <a:solidFill>
                  <a:srgbClr val="333333"/>
                </a:solidFill>
              </a:rPr>
              <a:t>Streamlit multi-page application pages. Each page imports and uses service classes and entity objects for clean, readable code.</a:t>
            </a:r>
            <a:endParaRPr lang="en-US" sz="899" dirty="0"/>
          </a:p>
        </p:txBody>
      </p:sp>
      <p:sp>
        <p:nvSpPr>
          <p:cNvPr id="46" name="Shape 43"/>
          <p:cNvSpPr/>
          <p:nvPr/>
        </p:nvSpPr>
        <p:spPr>
          <a:xfrm>
            <a:off x="6286500" y="5280571"/>
            <a:ext cx="4953000" cy="1321556"/>
          </a:xfrm>
          <a:prstGeom prst="rect">
            <a:avLst/>
          </a:prstGeom>
          <a:solidFill>
            <a:srgbClr val="E8EEF5"/>
          </a:solidFill>
          <a:ln/>
        </p:spPr>
        <p:txBody>
          <a:bodyPr/>
          <a:lstStyle/>
          <a:p>
            <a:endParaRPr lang="en-US" sz="2400"/>
          </a:p>
        </p:txBody>
      </p:sp>
      <p:sp>
        <p:nvSpPr>
          <p:cNvPr id="47" name="Text 44"/>
          <p:cNvSpPr/>
          <p:nvPr/>
        </p:nvSpPr>
        <p:spPr>
          <a:xfrm>
            <a:off x="6477000" y="5375821"/>
            <a:ext cx="557653" cy="144014"/>
          </a:xfrm>
          <a:prstGeom prst="rect">
            <a:avLst/>
          </a:prstGeom>
          <a:noFill/>
          <a:ln/>
        </p:spPr>
        <p:txBody>
          <a:bodyPr wrap="none" lIns="0" tIns="0" rIns="0" bIns="0" rtlCol="0" anchor="t">
            <a:spAutoFit/>
          </a:bodyPr>
          <a:lstStyle/>
          <a:p>
            <a:pPr>
              <a:lnSpc>
                <a:spcPts val="1200"/>
              </a:lnSpc>
            </a:pPr>
            <a:r>
              <a:rPr lang="en-US" sz="845" b="1" kern="0" spc="1" dirty="0">
                <a:solidFill>
                  <a:srgbClr val="0066CC"/>
                </a:solidFill>
              </a:rPr>
              <a:t>Key Benefits</a:t>
            </a:r>
            <a:endParaRPr lang="en-US" sz="845" dirty="0"/>
          </a:p>
        </p:txBody>
      </p:sp>
      <p:sp>
        <p:nvSpPr>
          <p:cNvPr id="48" name="Text 45"/>
          <p:cNvSpPr/>
          <p:nvPr/>
        </p:nvSpPr>
        <p:spPr>
          <a:xfrm>
            <a:off x="6477000" y="5640141"/>
            <a:ext cx="1444306" cy="154529"/>
          </a:xfrm>
          <a:prstGeom prst="rect">
            <a:avLst/>
          </a:prstGeom>
          <a:noFill/>
          <a:ln/>
        </p:spPr>
        <p:txBody>
          <a:bodyPr wrap="none" lIns="0" tIns="0" rIns="0" bIns="0" rtlCol="0" anchor="t">
            <a:spAutoFit/>
          </a:bodyPr>
          <a:lstStyle/>
          <a:p>
            <a:pPr>
              <a:lnSpc>
                <a:spcPts val="1333"/>
              </a:lnSpc>
            </a:pPr>
            <a:r>
              <a:rPr lang="en-US" sz="899" dirty="0">
                <a:solidFill>
                  <a:srgbClr val="333333"/>
                </a:solidFill>
              </a:rPr>
              <a:t>✓ Clear separation of concerns</a:t>
            </a:r>
            <a:endParaRPr lang="en-US" sz="899" dirty="0"/>
          </a:p>
        </p:txBody>
      </p:sp>
      <p:sp>
        <p:nvSpPr>
          <p:cNvPr id="49" name="Text 46"/>
          <p:cNvSpPr/>
          <p:nvPr/>
        </p:nvSpPr>
        <p:spPr>
          <a:xfrm>
            <a:off x="6477001" y="5832538"/>
            <a:ext cx="1638269" cy="154529"/>
          </a:xfrm>
          <a:prstGeom prst="rect">
            <a:avLst/>
          </a:prstGeom>
          <a:noFill/>
          <a:ln/>
        </p:spPr>
        <p:txBody>
          <a:bodyPr wrap="none" lIns="0" tIns="0" rIns="0" bIns="0" rtlCol="0" anchor="t">
            <a:spAutoFit/>
          </a:bodyPr>
          <a:lstStyle/>
          <a:p>
            <a:pPr>
              <a:lnSpc>
                <a:spcPts val="1333"/>
              </a:lnSpc>
            </a:pPr>
            <a:r>
              <a:rPr lang="en-US" sz="899" dirty="0">
                <a:solidFill>
                  <a:srgbClr val="333333"/>
                </a:solidFill>
              </a:rPr>
              <a:t>✓ Easy to navigate and understand</a:t>
            </a:r>
            <a:endParaRPr lang="en-US" sz="899" dirty="0"/>
          </a:p>
        </p:txBody>
      </p:sp>
      <p:sp>
        <p:nvSpPr>
          <p:cNvPr id="50" name="Text 47"/>
          <p:cNvSpPr/>
          <p:nvPr/>
        </p:nvSpPr>
        <p:spPr>
          <a:xfrm>
            <a:off x="6477000" y="6024935"/>
            <a:ext cx="1093248" cy="154529"/>
          </a:xfrm>
          <a:prstGeom prst="rect">
            <a:avLst/>
          </a:prstGeom>
          <a:noFill/>
          <a:ln/>
        </p:spPr>
        <p:txBody>
          <a:bodyPr wrap="none" lIns="0" tIns="0" rIns="0" bIns="0" rtlCol="0" anchor="t">
            <a:spAutoFit/>
          </a:bodyPr>
          <a:lstStyle/>
          <a:p>
            <a:pPr>
              <a:lnSpc>
                <a:spcPts val="1333"/>
              </a:lnSpc>
            </a:pPr>
            <a:r>
              <a:rPr lang="en-US" sz="899" dirty="0">
                <a:solidFill>
                  <a:srgbClr val="333333"/>
                </a:solidFill>
              </a:rPr>
              <a:t>✓ Scalable architecture</a:t>
            </a:r>
            <a:endParaRPr lang="en-US" sz="899" dirty="0"/>
          </a:p>
        </p:txBody>
      </p:sp>
      <p:sp>
        <p:nvSpPr>
          <p:cNvPr id="51" name="Text 48"/>
          <p:cNvSpPr/>
          <p:nvPr/>
        </p:nvSpPr>
        <p:spPr>
          <a:xfrm>
            <a:off x="6477000" y="6217333"/>
            <a:ext cx="1149354" cy="154529"/>
          </a:xfrm>
          <a:prstGeom prst="rect">
            <a:avLst/>
          </a:prstGeom>
          <a:noFill/>
          <a:ln/>
        </p:spPr>
        <p:txBody>
          <a:bodyPr wrap="none" lIns="0" tIns="0" rIns="0" bIns="0" rtlCol="0" anchor="t">
            <a:spAutoFit/>
          </a:bodyPr>
          <a:lstStyle/>
          <a:p>
            <a:pPr>
              <a:lnSpc>
                <a:spcPts val="1333"/>
              </a:lnSpc>
            </a:pPr>
            <a:r>
              <a:rPr lang="en-US" sz="899" dirty="0">
                <a:solidFill>
                  <a:srgbClr val="333333"/>
                </a:solidFill>
              </a:rPr>
              <a:t>✓ Reusable components</a:t>
            </a:r>
            <a:endParaRPr lang="en-US" sz="899" dirty="0"/>
          </a:p>
        </p:txBody>
      </p:sp>
      <p:sp>
        <p:nvSpPr>
          <p:cNvPr id="52" name="Text 49"/>
          <p:cNvSpPr/>
          <p:nvPr/>
        </p:nvSpPr>
        <p:spPr>
          <a:xfrm>
            <a:off x="6477000" y="6409730"/>
            <a:ext cx="939360" cy="154529"/>
          </a:xfrm>
          <a:prstGeom prst="rect">
            <a:avLst/>
          </a:prstGeom>
          <a:noFill/>
          <a:ln/>
        </p:spPr>
        <p:txBody>
          <a:bodyPr wrap="none" lIns="0" tIns="0" rIns="0" bIns="0" rtlCol="0" anchor="t">
            <a:spAutoFit/>
          </a:bodyPr>
          <a:lstStyle/>
          <a:p>
            <a:pPr>
              <a:lnSpc>
                <a:spcPts val="1333"/>
              </a:lnSpc>
            </a:pPr>
            <a:r>
              <a:rPr lang="en-US" sz="899" dirty="0">
                <a:solidFill>
                  <a:srgbClr val="333333"/>
                </a:solidFill>
              </a:rPr>
              <a:t>✓ Testable modules</a:t>
            </a:r>
            <a:endParaRPr lang="en-US" sz="899"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7172</TotalTime>
  <Words>4086</Words>
  <Application>Microsoft Macintosh PowerPoint</Application>
  <PresentationFormat>Widescreen</PresentationFormat>
  <Paragraphs>569</Paragraphs>
  <Slides>32</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UML Class Diagram Structure UML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Hands-On Activity</vt:lpstr>
      <vt:lpstr>Inheritance Basics</vt:lpstr>
      <vt:lpstr>Inheritance Examples</vt:lpstr>
      <vt:lpstr>Using super() in Subclasses</vt:lpstr>
      <vt:lpstr>Overriding Methods</vt:lpstr>
      <vt:lpstr>The Python Object Class</vt:lpstr>
      <vt:lpstr>Using isinstance()</vt:lpstr>
      <vt:lpstr>Class Association Relationships</vt:lpstr>
      <vt:lpstr>Composition in OOP</vt:lpstr>
      <vt:lpstr>Inheritance vs Composition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Anna Wieclaw</dc:creator>
  <cp:lastModifiedBy>Anna Wieclaw</cp:lastModifiedBy>
  <cp:revision>127</cp:revision>
  <dcterms:created xsi:type="dcterms:W3CDTF">2020-10-04T09:13:27Z</dcterms:created>
  <dcterms:modified xsi:type="dcterms:W3CDTF">2025-11-30T08:27:34Z</dcterms:modified>
</cp:coreProperties>
</file>